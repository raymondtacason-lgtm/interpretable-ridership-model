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7" r:id="rId2"/>
    <p:sldId id="258" r:id="rId3"/>
    <p:sldId id="260" r:id="rId4"/>
    <p:sldId id="261" r:id="rId5"/>
    <p:sldId id="262" r:id="rId6"/>
    <p:sldId id="263" r:id="rId7"/>
    <p:sldId id="264" r:id="rId8"/>
    <p:sldId id="266" r:id="rId9"/>
    <p:sldId id="267" r:id="rId10"/>
    <p:sldId id="268" r:id="rId11"/>
    <p:sldId id="269" r:id="rId12"/>
    <p:sldId id="270" r:id="rId13"/>
    <p:sldId id="272" r:id="rId14"/>
    <p:sldId id="259" r:id="rId15"/>
    <p:sldId id="273" r:id="rId16"/>
    <p:sldId id="274" r:id="rId17"/>
    <p:sldId id="275" r:id="rId18"/>
    <p:sldId id="276" r:id="rId19"/>
    <p:sldId id="27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2949" autoAdjust="0"/>
  </p:normalViewPr>
  <p:slideViewPr>
    <p:cSldViewPr snapToGrid="0">
      <p:cViewPr varScale="1">
        <p:scale>
          <a:sx n="51" d="100"/>
          <a:sy n="51" d="100"/>
        </p:scale>
        <p:origin x="1256" y="44"/>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B7FEF8-E3DB-4734-ACE4-1FD6C6F1D46F}" type="datetimeFigureOut">
              <a:rPr lang="en-PH" smtClean="0"/>
              <a:t>29/04/2026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C1D0CD-56DE-4550-90B3-39B54CD61F73}" type="slidenum">
              <a:rPr lang="en-PH" smtClean="0"/>
              <a:t>‹#›</a:t>
            </a:fld>
            <a:endParaRPr lang="en-PH"/>
          </a:p>
        </p:txBody>
      </p:sp>
    </p:spTree>
    <p:extLst>
      <p:ext uri="{BB962C8B-B14F-4D97-AF65-F5344CB8AC3E}">
        <p14:creationId xmlns:p14="http://schemas.microsoft.com/office/powerpoint/2010/main" val="3301465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focuses on building a predictive workforce demand model for a transportation company. The goal is to optimize staffing levels by forecasting ridership‑driven demand, reducing operational inefficiencies, and improving service reliability. The model integrates historical ridership, weather, station activity, and shift patterns to support data‑driven scheduling.</a:t>
            </a:r>
            <a:endParaRPr lang="en-PH"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28457E-CE4A-4A58-AF6C-C03F6EB3B2CB}" type="slidenum">
              <a:rPr kumimoji="0" lang="en-PH"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PH"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914283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t>Problem and Data Overview</a:t>
            </a:r>
          </a:p>
          <a:p>
            <a:endParaRPr lang="en-US" b="1" dirty="0"/>
          </a:p>
          <a:p>
            <a:r>
              <a:rPr lang="en-US" b="1" dirty="0">
                <a:effectLst/>
              </a:rPr>
              <a:t>Problem Definition</a:t>
            </a:r>
            <a:r>
              <a:rPr lang="en-US" dirty="0">
                <a:effectLst/>
              </a:rPr>
              <a:t> The objective of the project is to forecast station‑level ridership, which serves as a proxy for staffing demand. Accurate ridership prediction enables more efficient workforce allocation, reduces operational mismatches, and supports data‑driven scheduling decisions. The problem is framed as a supervised regression task using historical operational data enriched with external contextual variables.</a:t>
            </a:r>
          </a:p>
          <a:p>
            <a:endParaRPr lang="en-US" dirty="0"/>
          </a:p>
          <a:p>
            <a:r>
              <a:rPr lang="en-US" b="1" dirty="0">
                <a:effectLst/>
              </a:rPr>
              <a:t>Internal Data Description</a:t>
            </a:r>
            <a:r>
              <a:rPr lang="en-US" dirty="0">
                <a:effectLst/>
              </a:rPr>
              <a:t> The internal dataset consists of raw scheduling records containing employee names, assigned stations, shift start and end times, and schedule dates. These fields represent the operational structure of the workforce and provide the temporal and spatial context required for modeling station activity. The dataset contains approximately ~1000 rows and 8 columns.</a:t>
            </a:r>
          </a:p>
          <a:p>
            <a:endParaRPr lang="en-US" dirty="0"/>
          </a:p>
          <a:p>
            <a:r>
              <a:rPr lang="en-US" b="1" dirty="0">
                <a:effectLst/>
              </a:rPr>
              <a:t>External Data Description</a:t>
            </a:r>
            <a:r>
              <a:rPr lang="en-US" dirty="0">
                <a:effectLst/>
              </a:rPr>
              <a:t> External datasets include the Philippine holiday calendar, weather descriptions (e.g., Clear, Rain, Cloudy), and ridership or demand indicators. These variables capture external factors known to influence passenger volume and operational load. The combined dataset covers the period from January 2025 to June 2025.</a:t>
            </a:r>
          </a:p>
          <a:p>
            <a:endParaRPr lang="en-US" dirty="0"/>
          </a:p>
          <a:p>
            <a:r>
              <a:rPr lang="en-US" b="1" dirty="0">
                <a:effectLst/>
              </a:rPr>
              <a:t>Rationale for Data Integration</a:t>
            </a:r>
            <a:r>
              <a:rPr lang="en-US" dirty="0">
                <a:effectLst/>
              </a:rPr>
              <a:t> Temporal patterns (weekday/weekend, holidays), weather conditions, and ridership indicators are all established drivers of station activity. Integrating these external variables with internal scheduling data improves the model’s ability to generalize and capture real‑world operational dynamics. This multi‑source approach provides a more complete representation of the factors influencing station‑level demand.</a:t>
            </a:r>
          </a:p>
          <a:p>
            <a:endParaRPr lang="en-US" dirty="0"/>
          </a:p>
          <a:p>
            <a:r>
              <a:rPr lang="en-US" b="1" dirty="0">
                <a:effectLst/>
              </a:rPr>
              <a:t>Modeling Target</a:t>
            </a:r>
            <a:r>
              <a:rPr lang="en-US" dirty="0">
                <a:effectLst/>
              </a:rPr>
              <a:t> </a:t>
            </a:r>
            <a:r>
              <a:rPr lang="en-US" dirty="0"/>
              <a:t>The target variable for prediction is </a:t>
            </a:r>
            <a:r>
              <a:rPr lang="en-US" b="1" dirty="0"/>
              <a:t>ridership</a:t>
            </a:r>
            <a:r>
              <a:rPr lang="en-US" dirty="0"/>
              <a:t>, defined as the expected passenger count per station per shift. This variable is continuous and is modeled using regression techniques.</a:t>
            </a:r>
          </a:p>
          <a:p>
            <a:endParaRPr lang="en-PH" dirty="0"/>
          </a:p>
        </p:txBody>
      </p:sp>
      <p:sp>
        <p:nvSpPr>
          <p:cNvPr id="4" name="Slide Number Placeholder 3"/>
          <p:cNvSpPr>
            <a:spLocks noGrp="1"/>
          </p:cNvSpPr>
          <p:nvPr>
            <p:ph type="sldNum" sz="quarter" idx="5"/>
          </p:nvPr>
        </p:nvSpPr>
        <p:spPr/>
        <p:txBody>
          <a:bodyPr/>
          <a:lstStyle/>
          <a:p>
            <a:fld id="{BEC1D0CD-56DE-4550-90B3-39B54CD61F73}" type="slidenum">
              <a:rPr lang="en-PH" smtClean="0"/>
              <a:t>2</a:t>
            </a:fld>
            <a:endParaRPr lang="en-PH"/>
          </a:p>
        </p:txBody>
      </p:sp>
    </p:spTree>
    <p:extLst>
      <p:ext uri="{BB962C8B-B14F-4D97-AF65-F5344CB8AC3E}">
        <p14:creationId xmlns:p14="http://schemas.microsoft.com/office/powerpoint/2010/main" val="41124826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effectLst/>
              </a:rPr>
              <a:t>The ridership summary (Step 3b.1) confirms the presence of natural operational variability, which is essential for regression modeling.</a:t>
            </a:r>
            <a:endParaRPr lang="en-US" dirty="0"/>
          </a:p>
          <a:p>
            <a:pPr marL="171450" indent="-171450">
              <a:buFont typeface="Arial" panose="020B0604020202020204" pitchFamily="34" charset="0"/>
              <a:buChar char="•"/>
            </a:pPr>
            <a:r>
              <a:rPr lang="en-US" dirty="0">
                <a:effectLst/>
              </a:rPr>
              <a:t>Balanced station counts (86 each) indicate no need for resampling.</a:t>
            </a:r>
            <a:endParaRPr lang="en-US" dirty="0"/>
          </a:p>
          <a:p>
            <a:pPr marL="171450" indent="-171450">
              <a:buFont typeface="Arial" panose="020B0604020202020204" pitchFamily="34" charset="0"/>
              <a:buChar char="•"/>
            </a:pPr>
            <a:r>
              <a:rPr lang="en-US" dirty="0">
                <a:effectLst/>
              </a:rPr>
              <a:t>Weather distribution supports its use as a categorical predictor.</a:t>
            </a:r>
            <a:endParaRPr lang="en-US" dirty="0"/>
          </a:p>
          <a:p>
            <a:pPr marL="171450" indent="-171450">
              <a:buFont typeface="Arial" panose="020B0604020202020204" pitchFamily="34" charset="0"/>
              <a:buChar char="•"/>
            </a:pPr>
            <a:r>
              <a:rPr lang="en-US" dirty="0">
                <a:effectLst/>
              </a:rPr>
              <a:t>Shift start times align with operational scheduling cycles, validating the creation of </a:t>
            </a:r>
            <a:r>
              <a:rPr lang="en-US" sz="1200" kern="1200" dirty="0" err="1">
                <a:solidFill>
                  <a:schemeClr val="tx1"/>
                </a:solidFill>
                <a:effectLst/>
                <a:latin typeface="+mn-lt"/>
                <a:ea typeface="+mn-ea"/>
                <a:cs typeface="+mn-cs"/>
              </a:rPr>
              <a:t>shift_type</a:t>
            </a:r>
            <a:r>
              <a:rPr lang="en-US" dirty="0">
                <a:effectLst/>
              </a:rPr>
              <a:t>.</a:t>
            </a:r>
            <a:endParaRPr lang="en-US" dirty="0"/>
          </a:p>
          <a:p>
            <a:endParaRPr lang="en-PH" dirty="0"/>
          </a:p>
        </p:txBody>
      </p:sp>
      <p:sp>
        <p:nvSpPr>
          <p:cNvPr id="4" name="Slide Number Placeholder 3"/>
          <p:cNvSpPr>
            <a:spLocks noGrp="1"/>
          </p:cNvSpPr>
          <p:nvPr>
            <p:ph type="sldNum" sz="quarter" idx="5"/>
          </p:nvPr>
        </p:nvSpPr>
        <p:spPr/>
        <p:txBody>
          <a:bodyPr/>
          <a:lstStyle/>
          <a:p>
            <a:fld id="{BEC1D0CD-56DE-4550-90B3-39B54CD61F73}" type="slidenum">
              <a:rPr lang="en-PH" smtClean="0"/>
              <a:t>3</a:t>
            </a:fld>
            <a:endParaRPr lang="en-PH"/>
          </a:p>
        </p:txBody>
      </p:sp>
    </p:spTree>
    <p:extLst>
      <p:ext uri="{BB962C8B-B14F-4D97-AF65-F5344CB8AC3E}">
        <p14:creationId xmlns:p14="http://schemas.microsoft.com/office/powerpoint/2010/main" val="17443038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effectLst/>
              </a:rPr>
              <a:t>Station-level ridership differences justify the engineered feature </a:t>
            </a:r>
            <a:r>
              <a:rPr lang="en-US" sz="1200" kern="1200" dirty="0" err="1">
                <a:solidFill>
                  <a:schemeClr val="tx1"/>
                </a:solidFill>
                <a:effectLst/>
                <a:latin typeface="+mn-lt"/>
                <a:ea typeface="+mn-ea"/>
                <a:cs typeface="+mn-cs"/>
              </a:rPr>
              <a:t>station_mean_ridership</a:t>
            </a:r>
            <a:r>
              <a:rPr lang="en-US" dirty="0">
                <a:effectLst/>
              </a:rPr>
              <a:t>.</a:t>
            </a:r>
            <a:endParaRPr lang="en-US" dirty="0"/>
          </a:p>
          <a:p>
            <a:pPr marL="171450" indent="-171450">
              <a:buFont typeface="Arial" panose="020B0604020202020204" pitchFamily="34" charset="0"/>
              <a:buChar char="•"/>
            </a:pPr>
            <a:r>
              <a:rPr lang="en-US" dirty="0">
                <a:effectLst/>
              </a:rPr>
              <a:t>Weather effects confirm that external operational context is a meaningful predictor.</a:t>
            </a:r>
            <a:endParaRPr lang="en-US" dirty="0"/>
          </a:p>
          <a:p>
            <a:pPr marL="171450" indent="-171450">
              <a:buFont typeface="Arial" panose="020B0604020202020204" pitchFamily="34" charset="0"/>
              <a:buChar char="•"/>
            </a:pPr>
            <a:r>
              <a:rPr lang="en-US" dirty="0">
                <a:effectLst/>
              </a:rPr>
              <a:t>Shift-level differences support the creation of </a:t>
            </a:r>
            <a:r>
              <a:rPr lang="en-US" sz="1200" kern="1200" dirty="0" err="1">
                <a:solidFill>
                  <a:schemeClr val="tx1"/>
                </a:solidFill>
                <a:effectLst/>
                <a:latin typeface="+mn-lt"/>
                <a:ea typeface="+mn-ea"/>
                <a:cs typeface="+mn-cs"/>
              </a:rPr>
              <a:t>shift_type</a:t>
            </a:r>
            <a:r>
              <a:rPr lang="en-US" dirty="0">
                <a:effectLst/>
              </a:rPr>
              <a:t> and validate its predictive relevance.</a:t>
            </a:r>
            <a:endParaRPr lang="en-US" dirty="0"/>
          </a:p>
          <a:p>
            <a:pPr marL="171450" indent="-171450">
              <a:buFont typeface="Arial" panose="020B0604020202020204" pitchFamily="34" charset="0"/>
              <a:buChar char="•"/>
            </a:pPr>
            <a:r>
              <a:rPr lang="en-US" dirty="0">
                <a:effectLst/>
              </a:rPr>
              <a:t>These bivariate patterns demonstrate strong non-linear relationships, which align with the later choice of tree‑based models.</a:t>
            </a:r>
            <a:endParaRPr lang="en-US" dirty="0"/>
          </a:p>
          <a:p>
            <a:endParaRPr lang="en-PH" dirty="0"/>
          </a:p>
        </p:txBody>
      </p:sp>
      <p:sp>
        <p:nvSpPr>
          <p:cNvPr id="4" name="Slide Number Placeholder 3"/>
          <p:cNvSpPr>
            <a:spLocks noGrp="1"/>
          </p:cNvSpPr>
          <p:nvPr>
            <p:ph type="sldNum" sz="quarter" idx="5"/>
          </p:nvPr>
        </p:nvSpPr>
        <p:spPr/>
        <p:txBody>
          <a:bodyPr/>
          <a:lstStyle/>
          <a:p>
            <a:fld id="{BEC1D0CD-56DE-4550-90B3-39B54CD61F73}" type="slidenum">
              <a:rPr lang="en-PH" smtClean="0"/>
              <a:t>4</a:t>
            </a:fld>
            <a:endParaRPr lang="en-PH"/>
          </a:p>
        </p:txBody>
      </p:sp>
    </p:spTree>
    <p:extLst>
      <p:ext uri="{BB962C8B-B14F-4D97-AF65-F5344CB8AC3E}">
        <p14:creationId xmlns:p14="http://schemas.microsoft.com/office/powerpoint/2010/main" val="38851466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 features capture cyclical and seasonal patterns relevant to ridership forecasting.</a:t>
            </a:r>
            <a:endParaRPr lang="en-PH" dirty="0"/>
          </a:p>
        </p:txBody>
      </p:sp>
      <p:sp>
        <p:nvSpPr>
          <p:cNvPr id="4" name="Slide Number Placeholder 3"/>
          <p:cNvSpPr>
            <a:spLocks noGrp="1"/>
          </p:cNvSpPr>
          <p:nvPr>
            <p:ph type="sldNum" sz="quarter" idx="5"/>
          </p:nvPr>
        </p:nvSpPr>
        <p:spPr/>
        <p:txBody>
          <a:bodyPr/>
          <a:lstStyle/>
          <a:p>
            <a:fld id="{BEC1D0CD-56DE-4550-90B3-39B54CD61F73}" type="slidenum">
              <a:rPr lang="en-PH" smtClean="0"/>
              <a:t>5</a:t>
            </a:fld>
            <a:endParaRPr lang="en-PH"/>
          </a:p>
        </p:txBody>
      </p:sp>
    </p:spTree>
    <p:extLst>
      <p:ext uri="{BB962C8B-B14F-4D97-AF65-F5344CB8AC3E}">
        <p14:creationId xmlns:p14="http://schemas.microsoft.com/office/powerpoint/2010/main" val="2357545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 type mapping improves interpretability and avoids treating time strings as raw text.</a:t>
            </a:r>
            <a:endParaRPr lang="en-PH" dirty="0"/>
          </a:p>
        </p:txBody>
      </p:sp>
      <p:sp>
        <p:nvSpPr>
          <p:cNvPr id="4" name="Slide Number Placeholder 3"/>
          <p:cNvSpPr>
            <a:spLocks noGrp="1"/>
          </p:cNvSpPr>
          <p:nvPr>
            <p:ph type="sldNum" sz="quarter" idx="5"/>
          </p:nvPr>
        </p:nvSpPr>
        <p:spPr/>
        <p:txBody>
          <a:bodyPr/>
          <a:lstStyle/>
          <a:p>
            <a:fld id="{BEC1D0CD-56DE-4550-90B3-39B54CD61F73}" type="slidenum">
              <a:rPr lang="en-PH" smtClean="0"/>
              <a:t>6</a:t>
            </a:fld>
            <a:endParaRPr lang="en-PH"/>
          </a:p>
        </p:txBody>
      </p:sp>
    </p:spTree>
    <p:extLst>
      <p:ext uri="{BB962C8B-B14F-4D97-AF65-F5344CB8AC3E}">
        <p14:creationId xmlns:p14="http://schemas.microsoft.com/office/powerpoint/2010/main" val="2554317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err="1">
                <a:solidFill>
                  <a:schemeClr val="tx1"/>
                </a:solidFill>
                <a:latin typeface="+mn-lt"/>
                <a:ea typeface="+mn-ea"/>
                <a:cs typeface="+mn-cs"/>
              </a:rPr>
              <a:t>station_mean_ridership</a:t>
            </a:r>
            <a:r>
              <a:rPr lang="en-US" dirty="0"/>
              <a:t> emerged as the strongest predictor in feature importance analysis, validating its inclusion.</a:t>
            </a:r>
            <a:endParaRPr lang="en-PH" dirty="0"/>
          </a:p>
        </p:txBody>
      </p:sp>
      <p:sp>
        <p:nvSpPr>
          <p:cNvPr id="4" name="Slide Number Placeholder 3"/>
          <p:cNvSpPr>
            <a:spLocks noGrp="1"/>
          </p:cNvSpPr>
          <p:nvPr>
            <p:ph type="sldNum" sz="quarter" idx="5"/>
          </p:nvPr>
        </p:nvSpPr>
        <p:spPr/>
        <p:txBody>
          <a:bodyPr/>
          <a:lstStyle/>
          <a:p>
            <a:fld id="{BEC1D0CD-56DE-4550-90B3-39B54CD61F73}" type="slidenum">
              <a:rPr lang="en-PH" smtClean="0"/>
              <a:t>7</a:t>
            </a:fld>
            <a:endParaRPr lang="en-PH"/>
          </a:p>
        </p:txBody>
      </p:sp>
    </p:spTree>
    <p:extLst>
      <p:ext uri="{BB962C8B-B14F-4D97-AF65-F5344CB8AC3E}">
        <p14:creationId xmlns:p14="http://schemas.microsoft.com/office/powerpoint/2010/main" val="2362716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One‑hot encoding ensures categorical variables are properly represented for tree‑based and linear models.</a:t>
            </a:r>
            <a:endParaRPr lang="en-PH" dirty="0"/>
          </a:p>
        </p:txBody>
      </p:sp>
      <p:sp>
        <p:nvSpPr>
          <p:cNvPr id="4" name="Slide Number Placeholder 3"/>
          <p:cNvSpPr>
            <a:spLocks noGrp="1"/>
          </p:cNvSpPr>
          <p:nvPr>
            <p:ph type="sldNum" sz="quarter" idx="5"/>
          </p:nvPr>
        </p:nvSpPr>
        <p:spPr/>
        <p:txBody>
          <a:bodyPr/>
          <a:lstStyle/>
          <a:p>
            <a:fld id="{BEC1D0CD-56DE-4550-90B3-39B54CD61F73}" type="slidenum">
              <a:rPr lang="en-PH" smtClean="0"/>
              <a:t>8</a:t>
            </a:fld>
            <a:endParaRPr lang="en-PH"/>
          </a:p>
        </p:txBody>
      </p:sp>
    </p:spTree>
    <p:extLst>
      <p:ext uri="{BB962C8B-B14F-4D97-AF65-F5344CB8AC3E}">
        <p14:creationId xmlns:p14="http://schemas.microsoft.com/office/powerpoint/2010/main" val="27117147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stabilizes model training and ensures fair contribution of numeric features.</a:t>
            </a:r>
            <a:endParaRPr lang="en-PH" dirty="0"/>
          </a:p>
        </p:txBody>
      </p:sp>
      <p:sp>
        <p:nvSpPr>
          <p:cNvPr id="4" name="Slide Number Placeholder 3"/>
          <p:cNvSpPr>
            <a:spLocks noGrp="1"/>
          </p:cNvSpPr>
          <p:nvPr>
            <p:ph type="sldNum" sz="quarter" idx="5"/>
          </p:nvPr>
        </p:nvSpPr>
        <p:spPr/>
        <p:txBody>
          <a:bodyPr/>
          <a:lstStyle/>
          <a:p>
            <a:fld id="{BEC1D0CD-56DE-4550-90B3-39B54CD61F73}" type="slidenum">
              <a:rPr lang="en-PH" smtClean="0"/>
              <a:t>9</a:t>
            </a:fld>
            <a:endParaRPr lang="en-PH"/>
          </a:p>
        </p:txBody>
      </p:sp>
    </p:spTree>
    <p:extLst>
      <p:ext uri="{BB962C8B-B14F-4D97-AF65-F5344CB8AC3E}">
        <p14:creationId xmlns:p14="http://schemas.microsoft.com/office/powerpoint/2010/main" val="7232956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PCA reduces dimensionality while retaining most of the variance, improving computational efficiency.</a:t>
            </a:r>
            <a:endParaRPr lang="en-PH" dirty="0"/>
          </a:p>
        </p:txBody>
      </p:sp>
      <p:sp>
        <p:nvSpPr>
          <p:cNvPr id="4" name="Slide Number Placeholder 3"/>
          <p:cNvSpPr>
            <a:spLocks noGrp="1"/>
          </p:cNvSpPr>
          <p:nvPr>
            <p:ph type="sldNum" sz="quarter" idx="5"/>
          </p:nvPr>
        </p:nvSpPr>
        <p:spPr/>
        <p:txBody>
          <a:bodyPr/>
          <a:lstStyle/>
          <a:p>
            <a:fld id="{BEC1D0CD-56DE-4550-90B3-39B54CD61F73}" type="slidenum">
              <a:rPr lang="en-PH" smtClean="0"/>
              <a:t>10</a:t>
            </a:fld>
            <a:endParaRPr lang="en-PH"/>
          </a:p>
        </p:txBody>
      </p:sp>
    </p:spTree>
    <p:extLst>
      <p:ext uri="{BB962C8B-B14F-4D97-AF65-F5344CB8AC3E}">
        <p14:creationId xmlns:p14="http://schemas.microsoft.com/office/powerpoint/2010/main" val="23817636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effectLst/>
              </a:rPr>
              <a:t>The 80/20 split ensures the model is evaluated on unseen data, preventing overfitting.</a:t>
            </a:r>
            <a:endParaRPr lang="en-US" dirty="0"/>
          </a:p>
          <a:p>
            <a:pPr marL="171450" indent="-171450">
              <a:buFont typeface="Arial" panose="020B0604020202020204" pitchFamily="34" charset="0"/>
              <a:buChar char="•"/>
            </a:pPr>
            <a:r>
              <a:rPr lang="en-US" dirty="0">
                <a:effectLst/>
              </a:rPr>
              <a:t>Random Forest was chosen because the EDA revealed strong non-linear relationships between ridership and predictors (station, weather, shift).</a:t>
            </a:r>
            <a:endParaRPr lang="en-US" dirty="0"/>
          </a:p>
          <a:p>
            <a:endParaRPr lang="en-PH" dirty="0"/>
          </a:p>
        </p:txBody>
      </p:sp>
      <p:sp>
        <p:nvSpPr>
          <p:cNvPr id="4" name="Slide Number Placeholder 3"/>
          <p:cNvSpPr>
            <a:spLocks noGrp="1"/>
          </p:cNvSpPr>
          <p:nvPr>
            <p:ph type="sldNum" sz="quarter" idx="5"/>
          </p:nvPr>
        </p:nvSpPr>
        <p:spPr/>
        <p:txBody>
          <a:bodyPr/>
          <a:lstStyle/>
          <a:p>
            <a:fld id="{BEC1D0CD-56DE-4550-90B3-39B54CD61F73}" type="slidenum">
              <a:rPr lang="en-PH" smtClean="0"/>
              <a:t>11</a:t>
            </a:fld>
            <a:endParaRPr lang="en-PH"/>
          </a:p>
        </p:txBody>
      </p:sp>
    </p:spTree>
    <p:extLst>
      <p:ext uri="{BB962C8B-B14F-4D97-AF65-F5344CB8AC3E}">
        <p14:creationId xmlns:p14="http://schemas.microsoft.com/office/powerpoint/2010/main" val="33756755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9C9D-6EE7-F48D-CEA1-40BBE8D22C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AC2712-DCD9-E6B0-0D83-2091F6D2FB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DE66AB-C73E-D8F9-A865-CB8A8C78A9E0}"/>
              </a:ext>
            </a:extLst>
          </p:cNvPr>
          <p:cNvSpPr>
            <a:spLocks noGrp="1"/>
          </p:cNvSpPr>
          <p:nvPr>
            <p:ph type="body" idx="1"/>
          </p:nvPr>
        </p:nvSpPr>
        <p:spPr/>
        <p:txBody>
          <a:bodyPr/>
          <a:lstStyle/>
          <a:p>
            <a:pPr marL="171450" indent="-171450">
              <a:buFont typeface="Arial" panose="020B0604020202020204" pitchFamily="34" charset="0"/>
              <a:buChar char="•"/>
            </a:pPr>
            <a:r>
              <a:rPr lang="en-US" dirty="0">
                <a:effectLst/>
              </a:rPr>
              <a:t>PCA was applied after encoding and scaling to reduce dimensionality and improve computational efficiency.</a:t>
            </a:r>
            <a:endParaRPr lang="en-US" dirty="0"/>
          </a:p>
          <a:p>
            <a:pPr marL="171450" indent="-171450">
              <a:buFont typeface="Arial" panose="020B0604020202020204" pitchFamily="34" charset="0"/>
              <a:buChar char="•"/>
            </a:pPr>
            <a:r>
              <a:rPr lang="en-US" dirty="0">
                <a:effectLst/>
              </a:rPr>
              <a:t>Evaluation metrics (RMSE, MAE, R²) align with the project’s technical success criteria defined in Step 1.</a:t>
            </a:r>
            <a:endParaRPr lang="en-US" dirty="0"/>
          </a:p>
          <a:p>
            <a:pPr marL="171450" indent="-171450">
              <a:buFont typeface="Arial" panose="020B0604020202020204" pitchFamily="34" charset="0"/>
              <a:buChar char="•"/>
            </a:pPr>
            <a:r>
              <a:rPr lang="en-US" dirty="0">
                <a:effectLst/>
              </a:rPr>
              <a:t>Feature importance and SHAP analysis validate the model’s interpretability and confirm the relevance of engineered features such as </a:t>
            </a:r>
            <a:r>
              <a:rPr lang="en-US" sz="1200" kern="1200" dirty="0" err="1">
                <a:solidFill>
                  <a:schemeClr val="tx1"/>
                </a:solidFill>
                <a:effectLst/>
                <a:latin typeface="+mn-lt"/>
                <a:ea typeface="+mn-ea"/>
                <a:cs typeface="+mn-cs"/>
              </a:rPr>
              <a:t>station_mean_ridership</a:t>
            </a:r>
            <a:r>
              <a:rPr lang="en-US" dirty="0">
                <a:effectLst/>
              </a:rPr>
              <a:t> and weather conditions.</a:t>
            </a:r>
            <a:endParaRPr lang="en-US" dirty="0"/>
          </a:p>
          <a:p>
            <a:endParaRPr lang="en-PH" dirty="0"/>
          </a:p>
        </p:txBody>
      </p:sp>
      <p:sp>
        <p:nvSpPr>
          <p:cNvPr id="4" name="Slide Number Placeholder 3">
            <a:extLst>
              <a:ext uri="{FF2B5EF4-FFF2-40B4-BE49-F238E27FC236}">
                <a16:creationId xmlns:a16="http://schemas.microsoft.com/office/drawing/2014/main" id="{0917CBEE-7F82-D074-ABD4-91BF27D3FC2C}"/>
              </a:ext>
            </a:extLst>
          </p:cNvPr>
          <p:cNvSpPr>
            <a:spLocks noGrp="1"/>
          </p:cNvSpPr>
          <p:nvPr>
            <p:ph type="sldNum" sz="quarter" idx="5"/>
          </p:nvPr>
        </p:nvSpPr>
        <p:spPr/>
        <p:txBody>
          <a:bodyPr/>
          <a:lstStyle/>
          <a:p>
            <a:fld id="{BEC1D0CD-56DE-4550-90B3-39B54CD61F73}" type="slidenum">
              <a:rPr lang="en-PH" smtClean="0"/>
              <a:t>12</a:t>
            </a:fld>
            <a:endParaRPr lang="en-PH"/>
          </a:p>
        </p:txBody>
      </p:sp>
    </p:spTree>
    <p:extLst>
      <p:ext uri="{BB962C8B-B14F-4D97-AF65-F5344CB8AC3E}">
        <p14:creationId xmlns:p14="http://schemas.microsoft.com/office/powerpoint/2010/main" val="14815113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effectLst/>
              </a:rPr>
              <a:t>Random Forest was selected as the primary model due to its ability to capture non‑linear relationships revealed during EDA (station, weather, shift).</a:t>
            </a:r>
            <a:endParaRPr lang="en-US" dirty="0"/>
          </a:p>
          <a:p>
            <a:pPr marL="171450" indent="-171450">
              <a:buFont typeface="Arial" panose="020B0604020202020204" pitchFamily="34" charset="0"/>
              <a:buChar char="•"/>
            </a:pPr>
            <a:r>
              <a:rPr lang="en-US" dirty="0">
                <a:effectLst/>
              </a:rPr>
              <a:t>PCA‑based regression was included to evaluate the impact of dimensionality reduction on model performance and computational efficiency.</a:t>
            </a:r>
            <a:endParaRPr lang="en-US" dirty="0"/>
          </a:p>
          <a:p>
            <a:endParaRPr lang="en-PH" dirty="0"/>
          </a:p>
        </p:txBody>
      </p:sp>
      <p:sp>
        <p:nvSpPr>
          <p:cNvPr id="4" name="Slide Number Placeholder 3"/>
          <p:cNvSpPr>
            <a:spLocks noGrp="1"/>
          </p:cNvSpPr>
          <p:nvPr>
            <p:ph type="sldNum" sz="quarter" idx="5"/>
          </p:nvPr>
        </p:nvSpPr>
        <p:spPr/>
        <p:txBody>
          <a:bodyPr/>
          <a:lstStyle/>
          <a:p>
            <a:fld id="{BEC1D0CD-56DE-4550-90B3-39B54CD61F73}" type="slidenum">
              <a:rPr lang="en-PH" smtClean="0"/>
              <a:t>13</a:t>
            </a:fld>
            <a:endParaRPr lang="en-PH"/>
          </a:p>
        </p:txBody>
      </p:sp>
    </p:spTree>
    <p:extLst>
      <p:ext uri="{BB962C8B-B14F-4D97-AF65-F5344CB8AC3E}">
        <p14:creationId xmlns:p14="http://schemas.microsoft.com/office/powerpoint/2010/main" val="1551495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effectLst/>
              </a:rPr>
              <a:t>The evaluation metrics (RMSE, MAE, R²) align with the technical success criteria defined in Step 1 (RMSE &lt; 15, R² &gt; 0.80).</a:t>
            </a:r>
            <a:endParaRPr lang="en-US" dirty="0"/>
          </a:p>
          <a:p>
            <a:pPr marL="171450" indent="-171450">
              <a:buFont typeface="Arial" panose="020B0604020202020204" pitchFamily="34" charset="0"/>
              <a:buChar char="•"/>
            </a:pPr>
            <a:r>
              <a:rPr lang="en-US" dirty="0">
                <a:effectLst/>
              </a:rPr>
              <a:t>Feature importance results confirm the relevance of engineered features such as </a:t>
            </a:r>
            <a:r>
              <a:rPr lang="en-US" sz="1200" kern="1200" dirty="0" err="1">
                <a:solidFill>
                  <a:schemeClr val="tx1"/>
                </a:solidFill>
                <a:effectLst/>
                <a:latin typeface="+mn-lt"/>
                <a:ea typeface="+mn-ea"/>
                <a:cs typeface="+mn-cs"/>
              </a:rPr>
              <a:t>station_mean_ridership</a:t>
            </a:r>
            <a:r>
              <a:rPr lang="en-US" dirty="0">
                <a:effectLst/>
              </a:rPr>
              <a:t>, weather categories, and shift type.</a:t>
            </a:r>
            <a:endParaRPr lang="en-US" dirty="0"/>
          </a:p>
          <a:p>
            <a:pPr marL="171450" indent="-171450">
              <a:buFont typeface="Arial" panose="020B0604020202020204" pitchFamily="34" charset="0"/>
              <a:buChar char="•"/>
            </a:pPr>
            <a:r>
              <a:rPr lang="en-US" dirty="0">
                <a:effectLst/>
              </a:rPr>
              <a:t>The comparison table provides a structured summary of model performance and supports the final model selection.</a:t>
            </a:r>
            <a:endParaRPr lang="en-US" dirty="0"/>
          </a:p>
          <a:p>
            <a:endParaRPr lang="en-PH" dirty="0"/>
          </a:p>
        </p:txBody>
      </p:sp>
      <p:sp>
        <p:nvSpPr>
          <p:cNvPr id="4" name="Slide Number Placeholder 3"/>
          <p:cNvSpPr>
            <a:spLocks noGrp="1"/>
          </p:cNvSpPr>
          <p:nvPr>
            <p:ph type="sldNum" sz="quarter" idx="5"/>
          </p:nvPr>
        </p:nvSpPr>
        <p:spPr/>
        <p:txBody>
          <a:bodyPr/>
          <a:lstStyle/>
          <a:p>
            <a:fld id="{BEC1D0CD-56DE-4550-90B3-39B54CD61F73}" type="slidenum">
              <a:rPr lang="en-PH" smtClean="0"/>
              <a:t>14</a:t>
            </a:fld>
            <a:endParaRPr lang="en-PH"/>
          </a:p>
        </p:txBody>
      </p:sp>
    </p:spTree>
    <p:extLst>
      <p:ext uri="{BB962C8B-B14F-4D97-AF65-F5344CB8AC3E}">
        <p14:creationId xmlns:p14="http://schemas.microsoft.com/office/powerpoint/2010/main" val="560063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effectLst/>
              </a:rPr>
              <a:t>The Random Forest feature importance output confirms that engineered features such as </a:t>
            </a:r>
            <a:r>
              <a:rPr lang="en-US" sz="1200" kern="1200" dirty="0" err="1">
                <a:solidFill>
                  <a:schemeClr val="tx1"/>
                </a:solidFill>
                <a:effectLst/>
                <a:latin typeface="+mn-lt"/>
                <a:ea typeface="+mn-ea"/>
                <a:cs typeface="+mn-cs"/>
              </a:rPr>
              <a:t>station_mean_ridership</a:t>
            </a:r>
            <a:r>
              <a:rPr lang="en-US" dirty="0">
                <a:effectLst/>
              </a:rPr>
              <a:t> significantly enhance predictive performance.</a:t>
            </a:r>
            <a:endParaRPr lang="en-US" dirty="0"/>
          </a:p>
          <a:p>
            <a:pPr marL="171450" indent="-171450">
              <a:buFont typeface="Arial" panose="020B0604020202020204" pitchFamily="34" charset="0"/>
              <a:buChar char="•"/>
            </a:pPr>
            <a:r>
              <a:rPr lang="en-US" dirty="0">
                <a:effectLst/>
              </a:rPr>
              <a:t>Station identifiers (especially STN05) show strong influence, consistent with earlier EDA findings showing high ridership at specific stations.</a:t>
            </a:r>
            <a:endParaRPr lang="en-US" dirty="0"/>
          </a:p>
          <a:p>
            <a:pPr marL="171450" indent="-171450">
              <a:buFont typeface="Arial" panose="020B0604020202020204" pitchFamily="34" charset="0"/>
              <a:buChar char="•"/>
            </a:pPr>
            <a:r>
              <a:rPr lang="en-US" dirty="0">
                <a:effectLst/>
              </a:rPr>
              <a:t>Weather features (Rain, Storm) contribute meaningfully, validating the inclusion of external operational context.</a:t>
            </a:r>
            <a:endParaRPr lang="en-US" dirty="0"/>
          </a:p>
          <a:p>
            <a:endParaRPr lang="en-PH" dirty="0"/>
          </a:p>
        </p:txBody>
      </p:sp>
      <p:sp>
        <p:nvSpPr>
          <p:cNvPr id="4" name="Slide Number Placeholder 3"/>
          <p:cNvSpPr>
            <a:spLocks noGrp="1"/>
          </p:cNvSpPr>
          <p:nvPr>
            <p:ph type="sldNum" sz="quarter" idx="5"/>
          </p:nvPr>
        </p:nvSpPr>
        <p:spPr/>
        <p:txBody>
          <a:bodyPr/>
          <a:lstStyle/>
          <a:p>
            <a:fld id="{BEC1D0CD-56DE-4550-90B3-39B54CD61F73}" type="slidenum">
              <a:rPr lang="en-PH" smtClean="0"/>
              <a:t>15</a:t>
            </a:fld>
            <a:endParaRPr lang="en-PH"/>
          </a:p>
        </p:txBody>
      </p:sp>
    </p:spTree>
    <p:extLst>
      <p:ext uri="{BB962C8B-B14F-4D97-AF65-F5344CB8AC3E}">
        <p14:creationId xmlns:p14="http://schemas.microsoft.com/office/powerpoint/2010/main" val="3384273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effectLst/>
              </a:rPr>
              <a:t>The combination of feature importance and SHAP ensures the model is not a “black box” and supports transparent decision-making.</a:t>
            </a:r>
            <a:endParaRPr lang="en-US" dirty="0"/>
          </a:p>
          <a:p>
            <a:endParaRPr lang="en-PH" dirty="0"/>
          </a:p>
        </p:txBody>
      </p:sp>
      <p:sp>
        <p:nvSpPr>
          <p:cNvPr id="4" name="Slide Number Placeholder 3"/>
          <p:cNvSpPr>
            <a:spLocks noGrp="1"/>
          </p:cNvSpPr>
          <p:nvPr>
            <p:ph type="sldNum" sz="quarter" idx="5"/>
          </p:nvPr>
        </p:nvSpPr>
        <p:spPr/>
        <p:txBody>
          <a:bodyPr/>
          <a:lstStyle/>
          <a:p>
            <a:fld id="{BEC1D0CD-56DE-4550-90B3-39B54CD61F73}" type="slidenum">
              <a:rPr lang="en-PH" smtClean="0"/>
              <a:t>17</a:t>
            </a:fld>
            <a:endParaRPr lang="en-PH"/>
          </a:p>
        </p:txBody>
      </p:sp>
    </p:spTree>
    <p:extLst>
      <p:ext uri="{BB962C8B-B14F-4D97-AF65-F5344CB8AC3E}">
        <p14:creationId xmlns:p14="http://schemas.microsoft.com/office/powerpoint/2010/main" val="35935381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limitations reflect real constraints observed during data cleaning and EDA (e.g., missing holiday data, limited date range).</a:t>
            </a:r>
            <a:endParaRPr lang="en-PH" dirty="0"/>
          </a:p>
        </p:txBody>
      </p:sp>
      <p:sp>
        <p:nvSpPr>
          <p:cNvPr id="4" name="Slide Number Placeholder 3"/>
          <p:cNvSpPr>
            <a:spLocks noGrp="1"/>
          </p:cNvSpPr>
          <p:nvPr>
            <p:ph type="sldNum" sz="quarter" idx="5"/>
          </p:nvPr>
        </p:nvSpPr>
        <p:spPr/>
        <p:txBody>
          <a:bodyPr/>
          <a:lstStyle/>
          <a:p>
            <a:fld id="{BEC1D0CD-56DE-4550-90B3-39B54CD61F73}" type="slidenum">
              <a:rPr lang="en-PH" smtClean="0"/>
              <a:t>18</a:t>
            </a:fld>
            <a:endParaRPr lang="en-PH"/>
          </a:p>
        </p:txBody>
      </p:sp>
    </p:spTree>
    <p:extLst>
      <p:ext uri="{BB962C8B-B14F-4D97-AF65-F5344CB8AC3E}">
        <p14:creationId xmlns:p14="http://schemas.microsoft.com/office/powerpoint/2010/main" val="39662124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items are aligned with industry best practices for operational forecasting systems.</a:t>
            </a:r>
            <a:endParaRPr lang="en-PH" dirty="0"/>
          </a:p>
        </p:txBody>
      </p:sp>
      <p:sp>
        <p:nvSpPr>
          <p:cNvPr id="4" name="Slide Number Placeholder 3"/>
          <p:cNvSpPr>
            <a:spLocks noGrp="1"/>
          </p:cNvSpPr>
          <p:nvPr>
            <p:ph type="sldNum" sz="quarter" idx="5"/>
          </p:nvPr>
        </p:nvSpPr>
        <p:spPr/>
        <p:txBody>
          <a:bodyPr/>
          <a:lstStyle/>
          <a:p>
            <a:fld id="{BEC1D0CD-56DE-4550-90B3-39B54CD61F73}" type="slidenum">
              <a:rPr lang="en-PH" smtClean="0"/>
              <a:t>19</a:t>
            </a:fld>
            <a:endParaRPr lang="en-PH"/>
          </a:p>
        </p:txBody>
      </p:sp>
    </p:spTree>
    <p:extLst>
      <p:ext uri="{BB962C8B-B14F-4D97-AF65-F5344CB8AC3E}">
        <p14:creationId xmlns:p14="http://schemas.microsoft.com/office/powerpoint/2010/main" val="1377018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376F3-005A-4F3F-1FD2-CDC19F0200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1B6B460D-7B4A-7D58-D0C3-FB7E4FB38F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216AD7FF-E13A-E69B-BAA9-A4E5FA7C6B60}"/>
              </a:ext>
            </a:extLst>
          </p:cNvPr>
          <p:cNvSpPr>
            <a:spLocks noGrp="1"/>
          </p:cNvSpPr>
          <p:nvPr>
            <p:ph type="dt" sz="half" idx="10"/>
          </p:nvPr>
        </p:nvSpPr>
        <p:spPr/>
        <p:txBody>
          <a:bodyPr/>
          <a:lstStyle/>
          <a:p>
            <a:fld id="{FA8C3402-11CF-4635-B332-8AF0EAD16805}" type="datetimeFigureOut">
              <a:rPr lang="en-PH" smtClean="0"/>
              <a:t>29/04/2026</a:t>
            </a:fld>
            <a:endParaRPr lang="en-PH"/>
          </a:p>
        </p:txBody>
      </p:sp>
      <p:sp>
        <p:nvSpPr>
          <p:cNvPr id="5" name="Footer Placeholder 4">
            <a:extLst>
              <a:ext uri="{FF2B5EF4-FFF2-40B4-BE49-F238E27FC236}">
                <a16:creationId xmlns:a16="http://schemas.microsoft.com/office/drawing/2014/main" id="{B8435B9C-79E0-77DE-2FC4-CBE0B910033C}"/>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37B3CCA0-E069-61C8-7ABF-6CF541B6BB0D}"/>
              </a:ext>
            </a:extLst>
          </p:cNvPr>
          <p:cNvSpPr>
            <a:spLocks noGrp="1"/>
          </p:cNvSpPr>
          <p:nvPr>
            <p:ph type="sldNum" sz="quarter" idx="12"/>
          </p:nvPr>
        </p:nvSpPr>
        <p:spPr/>
        <p:txBody>
          <a:bodyPr/>
          <a:lstStyle/>
          <a:p>
            <a:fld id="{72C05E94-83B4-4150-A015-6DCC5750F28E}" type="slidenum">
              <a:rPr lang="en-PH" smtClean="0"/>
              <a:t>‹#›</a:t>
            </a:fld>
            <a:endParaRPr lang="en-PH"/>
          </a:p>
        </p:txBody>
      </p:sp>
    </p:spTree>
    <p:extLst>
      <p:ext uri="{BB962C8B-B14F-4D97-AF65-F5344CB8AC3E}">
        <p14:creationId xmlns:p14="http://schemas.microsoft.com/office/powerpoint/2010/main" val="2877425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8F8AB-203F-B265-417C-D7442E83894F}"/>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98A0A7D0-7534-8DAA-253B-EEC8533E07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BB5DEC6C-35F0-EDF2-9220-1573B90AB76F}"/>
              </a:ext>
            </a:extLst>
          </p:cNvPr>
          <p:cNvSpPr>
            <a:spLocks noGrp="1"/>
          </p:cNvSpPr>
          <p:nvPr>
            <p:ph type="dt" sz="half" idx="10"/>
          </p:nvPr>
        </p:nvSpPr>
        <p:spPr/>
        <p:txBody>
          <a:bodyPr/>
          <a:lstStyle/>
          <a:p>
            <a:fld id="{FA8C3402-11CF-4635-B332-8AF0EAD16805}" type="datetimeFigureOut">
              <a:rPr lang="en-PH" smtClean="0"/>
              <a:t>29/04/2026</a:t>
            </a:fld>
            <a:endParaRPr lang="en-PH"/>
          </a:p>
        </p:txBody>
      </p:sp>
      <p:sp>
        <p:nvSpPr>
          <p:cNvPr id="5" name="Footer Placeholder 4">
            <a:extLst>
              <a:ext uri="{FF2B5EF4-FFF2-40B4-BE49-F238E27FC236}">
                <a16:creationId xmlns:a16="http://schemas.microsoft.com/office/drawing/2014/main" id="{2FE2C2A5-E374-4E75-31A5-D26AC094DF8B}"/>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E842DD83-F95F-3310-6EC4-BA38976349B4}"/>
              </a:ext>
            </a:extLst>
          </p:cNvPr>
          <p:cNvSpPr>
            <a:spLocks noGrp="1"/>
          </p:cNvSpPr>
          <p:nvPr>
            <p:ph type="sldNum" sz="quarter" idx="12"/>
          </p:nvPr>
        </p:nvSpPr>
        <p:spPr/>
        <p:txBody>
          <a:bodyPr/>
          <a:lstStyle/>
          <a:p>
            <a:fld id="{72C05E94-83B4-4150-A015-6DCC5750F28E}" type="slidenum">
              <a:rPr lang="en-PH" smtClean="0"/>
              <a:t>‹#›</a:t>
            </a:fld>
            <a:endParaRPr lang="en-PH"/>
          </a:p>
        </p:txBody>
      </p:sp>
    </p:spTree>
    <p:extLst>
      <p:ext uri="{BB962C8B-B14F-4D97-AF65-F5344CB8AC3E}">
        <p14:creationId xmlns:p14="http://schemas.microsoft.com/office/powerpoint/2010/main" val="509922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70713-F2D0-C813-98EE-8EA90AF31C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FECFC4AF-14E9-BE6E-B6EC-7B991496C2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0BF64E-781D-CC39-206B-AABCF4A8676C}"/>
              </a:ext>
            </a:extLst>
          </p:cNvPr>
          <p:cNvSpPr>
            <a:spLocks noGrp="1"/>
          </p:cNvSpPr>
          <p:nvPr>
            <p:ph type="dt" sz="half" idx="10"/>
          </p:nvPr>
        </p:nvSpPr>
        <p:spPr/>
        <p:txBody>
          <a:bodyPr/>
          <a:lstStyle/>
          <a:p>
            <a:fld id="{FA8C3402-11CF-4635-B332-8AF0EAD16805}" type="datetimeFigureOut">
              <a:rPr lang="en-PH" smtClean="0"/>
              <a:t>29/04/2026</a:t>
            </a:fld>
            <a:endParaRPr lang="en-PH"/>
          </a:p>
        </p:txBody>
      </p:sp>
      <p:sp>
        <p:nvSpPr>
          <p:cNvPr id="5" name="Footer Placeholder 4">
            <a:extLst>
              <a:ext uri="{FF2B5EF4-FFF2-40B4-BE49-F238E27FC236}">
                <a16:creationId xmlns:a16="http://schemas.microsoft.com/office/drawing/2014/main" id="{89054AF8-2471-D1F6-E6DF-479421EAF9B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AA9C29D3-D5E1-0D50-5157-7F135FF26168}"/>
              </a:ext>
            </a:extLst>
          </p:cNvPr>
          <p:cNvSpPr>
            <a:spLocks noGrp="1"/>
          </p:cNvSpPr>
          <p:nvPr>
            <p:ph type="sldNum" sz="quarter" idx="12"/>
          </p:nvPr>
        </p:nvSpPr>
        <p:spPr/>
        <p:txBody>
          <a:bodyPr/>
          <a:lstStyle/>
          <a:p>
            <a:fld id="{72C05E94-83B4-4150-A015-6DCC5750F28E}" type="slidenum">
              <a:rPr lang="en-PH" smtClean="0"/>
              <a:t>‹#›</a:t>
            </a:fld>
            <a:endParaRPr lang="en-PH"/>
          </a:p>
        </p:txBody>
      </p:sp>
    </p:spTree>
    <p:extLst>
      <p:ext uri="{BB962C8B-B14F-4D97-AF65-F5344CB8AC3E}">
        <p14:creationId xmlns:p14="http://schemas.microsoft.com/office/powerpoint/2010/main" val="1840204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71ECB-E946-A721-A490-0F095F8294B4}"/>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C75E531B-54BD-4483-A71E-9F03A7172F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1C6FEAA8-1CCE-C29B-D30E-183DB6A6ED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EE23A89D-CCE8-D2D6-6061-C68162FE68E5}"/>
              </a:ext>
            </a:extLst>
          </p:cNvPr>
          <p:cNvSpPr>
            <a:spLocks noGrp="1"/>
          </p:cNvSpPr>
          <p:nvPr>
            <p:ph type="dt" sz="half" idx="10"/>
          </p:nvPr>
        </p:nvSpPr>
        <p:spPr/>
        <p:txBody>
          <a:bodyPr/>
          <a:lstStyle/>
          <a:p>
            <a:fld id="{FA8C3402-11CF-4635-B332-8AF0EAD16805}" type="datetimeFigureOut">
              <a:rPr lang="en-PH" smtClean="0"/>
              <a:t>29/04/2026</a:t>
            </a:fld>
            <a:endParaRPr lang="en-PH"/>
          </a:p>
        </p:txBody>
      </p:sp>
      <p:sp>
        <p:nvSpPr>
          <p:cNvPr id="6" name="Footer Placeholder 5">
            <a:extLst>
              <a:ext uri="{FF2B5EF4-FFF2-40B4-BE49-F238E27FC236}">
                <a16:creationId xmlns:a16="http://schemas.microsoft.com/office/drawing/2014/main" id="{3D3AD115-0309-41FD-3F7C-F9398F7DE59D}"/>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18123C75-FFDB-29F0-B5EC-CCDB19D2FF3D}"/>
              </a:ext>
            </a:extLst>
          </p:cNvPr>
          <p:cNvSpPr>
            <a:spLocks noGrp="1"/>
          </p:cNvSpPr>
          <p:nvPr>
            <p:ph type="sldNum" sz="quarter" idx="12"/>
          </p:nvPr>
        </p:nvSpPr>
        <p:spPr/>
        <p:txBody>
          <a:bodyPr/>
          <a:lstStyle/>
          <a:p>
            <a:fld id="{72C05E94-83B4-4150-A015-6DCC5750F28E}" type="slidenum">
              <a:rPr lang="en-PH" smtClean="0"/>
              <a:t>‹#›</a:t>
            </a:fld>
            <a:endParaRPr lang="en-PH"/>
          </a:p>
        </p:txBody>
      </p:sp>
    </p:spTree>
    <p:extLst>
      <p:ext uri="{BB962C8B-B14F-4D97-AF65-F5344CB8AC3E}">
        <p14:creationId xmlns:p14="http://schemas.microsoft.com/office/powerpoint/2010/main" val="4174303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731DE-4D6E-3AD0-B8D7-B8EAC0019DF2}"/>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00E1F466-338F-F662-53EA-6BD5A8D1FD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4AF470-57AD-B0AE-8E57-61EB5A42FA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FC87E70C-95F2-D14F-EC5C-29575C2A02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09D09B-9162-58B3-3E88-66FC24A1B6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F907A839-B75E-7A1B-704E-FE719BCA6E46}"/>
              </a:ext>
            </a:extLst>
          </p:cNvPr>
          <p:cNvSpPr>
            <a:spLocks noGrp="1"/>
          </p:cNvSpPr>
          <p:nvPr>
            <p:ph type="dt" sz="half" idx="10"/>
          </p:nvPr>
        </p:nvSpPr>
        <p:spPr/>
        <p:txBody>
          <a:bodyPr/>
          <a:lstStyle/>
          <a:p>
            <a:fld id="{FA8C3402-11CF-4635-B332-8AF0EAD16805}" type="datetimeFigureOut">
              <a:rPr lang="en-PH" smtClean="0"/>
              <a:t>29/04/2026</a:t>
            </a:fld>
            <a:endParaRPr lang="en-PH"/>
          </a:p>
        </p:txBody>
      </p:sp>
      <p:sp>
        <p:nvSpPr>
          <p:cNvPr id="8" name="Footer Placeholder 7">
            <a:extLst>
              <a:ext uri="{FF2B5EF4-FFF2-40B4-BE49-F238E27FC236}">
                <a16:creationId xmlns:a16="http://schemas.microsoft.com/office/drawing/2014/main" id="{AA93FA96-4D33-A892-CFB5-84699850783D}"/>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1274EA2C-8DB3-4B63-8F78-91162405ADC9}"/>
              </a:ext>
            </a:extLst>
          </p:cNvPr>
          <p:cNvSpPr>
            <a:spLocks noGrp="1"/>
          </p:cNvSpPr>
          <p:nvPr>
            <p:ph type="sldNum" sz="quarter" idx="12"/>
          </p:nvPr>
        </p:nvSpPr>
        <p:spPr/>
        <p:txBody>
          <a:bodyPr/>
          <a:lstStyle/>
          <a:p>
            <a:fld id="{72C05E94-83B4-4150-A015-6DCC5750F28E}" type="slidenum">
              <a:rPr lang="en-PH" smtClean="0"/>
              <a:t>‹#›</a:t>
            </a:fld>
            <a:endParaRPr lang="en-PH"/>
          </a:p>
        </p:txBody>
      </p:sp>
    </p:spTree>
    <p:extLst>
      <p:ext uri="{BB962C8B-B14F-4D97-AF65-F5344CB8AC3E}">
        <p14:creationId xmlns:p14="http://schemas.microsoft.com/office/powerpoint/2010/main" val="675158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A9C1E-FD59-5191-DD93-9AD003C18B1C}"/>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CBCF6AAF-8FE5-FC15-F820-46729FA2618F}"/>
              </a:ext>
            </a:extLst>
          </p:cNvPr>
          <p:cNvSpPr>
            <a:spLocks noGrp="1"/>
          </p:cNvSpPr>
          <p:nvPr>
            <p:ph type="dt" sz="half" idx="10"/>
          </p:nvPr>
        </p:nvSpPr>
        <p:spPr/>
        <p:txBody>
          <a:bodyPr/>
          <a:lstStyle/>
          <a:p>
            <a:fld id="{FA8C3402-11CF-4635-B332-8AF0EAD16805}" type="datetimeFigureOut">
              <a:rPr lang="en-PH" smtClean="0"/>
              <a:t>29/04/2026</a:t>
            </a:fld>
            <a:endParaRPr lang="en-PH"/>
          </a:p>
        </p:txBody>
      </p:sp>
      <p:sp>
        <p:nvSpPr>
          <p:cNvPr id="4" name="Footer Placeholder 3">
            <a:extLst>
              <a:ext uri="{FF2B5EF4-FFF2-40B4-BE49-F238E27FC236}">
                <a16:creationId xmlns:a16="http://schemas.microsoft.com/office/drawing/2014/main" id="{3F031E2A-D2B6-2A78-9C79-2685170EF705}"/>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EC46F4D9-E7C3-9E1F-4CF9-FB8484E907EB}"/>
              </a:ext>
            </a:extLst>
          </p:cNvPr>
          <p:cNvSpPr>
            <a:spLocks noGrp="1"/>
          </p:cNvSpPr>
          <p:nvPr>
            <p:ph type="sldNum" sz="quarter" idx="12"/>
          </p:nvPr>
        </p:nvSpPr>
        <p:spPr/>
        <p:txBody>
          <a:bodyPr/>
          <a:lstStyle/>
          <a:p>
            <a:fld id="{72C05E94-83B4-4150-A015-6DCC5750F28E}" type="slidenum">
              <a:rPr lang="en-PH" smtClean="0"/>
              <a:t>‹#›</a:t>
            </a:fld>
            <a:endParaRPr lang="en-PH"/>
          </a:p>
        </p:txBody>
      </p:sp>
    </p:spTree>
    <p:extLst>
      <p:ext uri="{BB962C8B-B14F-4D97-AF65-F5344CB8AC3E}">
        <p14:creationId xmlns:p14="http://schemas.microsoft.com/office/powerpoint/2010/main" val="3830744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14DEFE-B2CE-BEAE-D6AE-913DB892F6D8}"/>
              </a:ext>
            </a:extLst>
          </p:cNvPr>
          <p:cNvSpPr>
            <a:spLocks noGrp="1"/>
          </p:cNvSpPr>
          <p:nvPr>
            <p:ph type="dt" sz="half" idx="10"/>
          </p:nvPr>
        </p:nvSpPr>
        <p:spPr/>
        <p:txBody>
          <a:bodyPr/>
          <a:lstStyle/>
          <a:p>
            <a:fld id="{FA8C3402-11CF-4635-B332-8AF0EAD16805}" type="datetimeFigureOut">
              <a:rPr lang="en-PH" smtClean="0"/>
              <a:t>29/04/2026</a:t>
            </a:fld>
            <a:endParaRPr lang="en-PH"/>
          </a:p>
        </p:txBody>
      </p:sp>
      <p:sp>
        <p:nvSpPr>
          <p:cNvPr id="3" name="Footer Placeholder 2">
            <a:extLst>
              <a:ext uri="{FF2B5EF4-FFF2-40B4-BE49-F238E27FC236}">
                <a16:creationId xmlns:a16="http://schemas.microsoft.com/office/drawing/2014/main" id="{B0E34F90-DE4E-BB4A-062C-7F034F347D8A}"/>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A24027DB-CB22-6C5D-DC05-D1BACF60CA2B}"/>
              </a:ext>
            </a:extLst>
          </p:cNvPr>
          <p:cNvSpPr>
            <a:spLocks noGrp="1"/>
          </p:cNvSpPr>
          <p:nvPr>
            <p:ph type="sldNum" sz="quarter" idx="12"/>
          </p:nvPr>
        </p:nvSpPr>
        <p:spPr/>
        <p:txBody>
          <a:bodyPr/>
          <a:lstStyle/>
          <a:p>
            <a:fld id="{72C05E94-83B4-4150-A015-6DCC5750F28E}" type="slidenum">
              <a:rPr lang="en-PH" smtClean="0"/>
              <a:t>‹#›</a:t>
            </a:fld>
            <a:endParaRPr lang="en-PH"/>
          </a:p>
        </p:txBody>
      </p:sp>
    </p:spTree>
    <p:extLst>
      <p:ext uri="{BB962C8B-B14F-4D97-AF65-F5344CB8AC3E}">
        <p14:creationId xmlns:p14="http://schemas.microsoft.com/office/powerpoint/2010/main" val="111308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B343F-858C-0A87-EBA6-1AFF78E7B3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F1BB8E8D-ECD5-B763-56B8-D5B8620697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680B7685-07A8-A6B0-CCCB-58F60CF2F8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6A9A31-95A7-D64E-E543-A537540B27AD}"/>
              </a:ext>
            </a:extLst>
          </p:cNvPr>
          <p:cNvSpPr>
            <a:spLocks noGrp="1"/>
          </p:cNvSpPr>
          <p:nvPr>
            <p:ph type="dt" sz="half" idx="10"/>
          </p:nvPr>
        </p:nvSpPr>
        <p:spPr/>
        <p:txBody>
          <a:bodyPr/>
          <a:lstStyle/>
          <a:p>
            <a:fld id="{FA8C3402-11CF-4635-B332-8AF0EAD16805}" type="datetimeFigureOut">
              <a:rPr lang="en-PH" smtClean="0"/>
              <a:t>29/04/2026</a:t>
            </a:fld>
            <a:endParaRPr lang="en-PH"/>
          </a:p>
        </p:txBody>
      </p:sp>
      <p:sp>
        <p:nvSpPr>
          <p:cNvPr id="6" name="Footer Placeholder 5">
            <a:extLst>
              <a:ext uri="{FF2B5EF4-FFF2-40B4-BE49-F238E27FC236}">
                <a16:creationId xmlns:a16="http://schemas.microsoft.com/office/drawing/2014/main" id="{5B193861-CBF5-19DF-AFB5-28B12E8C958C}"/>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02E839B4-0495-8EB4-28D7-1A85A1AB2379}"/>
              </a:ext>
            </a:extLst>
          </p:cNvPr>
          <p:cNvSpPr>
            <a:spLocks noGrp="1"/>
          </p:cNvSpPr>
          <p:nvPr>
            <p:ph type="sldNum" sz="quarter" idx="12"/>
          </p:nvPr>
        </p:nvSpPr>
        <p:spPr/>
        <p:txBody>
          <a:bodyPr/>
          <a:lstStyle/>
          <a:p>
            <a:fld id="{72C05E94-83B4-4150-A015-6DCC5750F28E}" type="slidenum">
              <a:rPr lang="en-PH" smtClean="0"/>
              <a:t>‹#›</a:t>
            </a:fld>
            <a:endParaRPr lang="en-PH"/>
          </a:p>
        </p:txBody>
      </p:sp>
    </p:spTree>
    <p:extLst>
      <p:ext uri="{BB962C8B-B14F-4D97-AF65-F5344CB8AC3E}">
        <p14:creationId xmlns:p14="http://schemas.microsoft.com/office/powerpoint/2010/main" val="2937621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2DC25-C1D5-DA54-FA3C-6C701360A7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50FA4FD6-4944-2E1F-4227-7DAB1A34AB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456E7220-62C2-B749-66EC-6FA9777C80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85D6B1-8C6E-A284-49D4-62C94211E799}"/>
              </a:ext>
            </a:extLst>
          </p:cNvPr>
          <p:cNvSpPr>
            <a:spLocks noGrp="1"/>
          </p:cNvSpPr>
          <p:nvPr>
            <p:ph type="dt" sz="half" idx="10"/>
          </p:nvPr>
        </p:nvSpPr>
        <p:spPr/>
        <p:txBody>
          <a:bodyPr/>
          <a:lstStyle/>
          <a:p>
            <a:fld id="{FA8C3402-11CF-4635-B332-8AF0EAD16805}" type="datetimeFigureOut">
              <a:rPr lang="en-PH" smtClean="0"/>
              <a:t>29/04/2026</a:t>
            </a:fld>
            <a:endParaRPr lang="en-PH"/>
          </a:p>
        </p:txBody>
      </p:sp>
      <p:sp>
        <p:nvSpPr>
          <p:cNvPr id="6" name="Footer Placeholder 5">
            <a:extLst>
              <a:ext uri="{FF2B5EF4-FFF2-40B4-BE49-F238E27FC236}">
                <a16:creationId xmlns:a16="http://schemas.microsoft.com/office/drawing/2014/main" id="{98889519-8391-6FFB-60A1-CF2966822EB2}"/>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5BE50D78-495B-862E-E976-5321314A16B0}"/>
              </a:ext>
            </a:extLst>
          </p:cNvPr>
          <p:cNvSpPr>
            <a:spLocks noGrp="1"/>
          </p:cNvSpPr>
          <p:nvPr>
            <p:ph type="sldNum" sz="quarter" idx="12"/>
          </p:nvPr>
        </p:nvSpPr>
        <p:spPr/>
        <p:txBody>
          <a:bodyPr/>
          <a:lstStyle/>
          <a:p>
            <a:fld id="{72C05E94-83B4-4150-A015-6DCC5750F28E}" type="slidenum">
              <a:rPr lang="en-PH" smtClean="0"/>
              <a:t>‹#›</a:t>
            </a:fld>
            <a:endParaRPr lang="en-PH"/>
          </a:p>
        </p:txBody>
      </p:sp>
    </p:spTree>
    <p:extLst>
      <p:ext uri="{BB962C8B-B14F-4D97-AF65-F5344CB8AC3E}">
        <p14:creationId xmlns:p14="http://schemas.microsoft.com/office/powerpoint/2010/main" val="2363817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00640-E232-0D42-711B-2E23247F7AB9}"/>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EBA0887C-5D54-DF08-0C70-232862F794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3E253B95-47F1-DE72-CBCF-62CFAE0E8292}"/>
              </a:ext>
            </a:extLst>
          </p:cNvPr>
          <p:cNvSpPr>
            <a:spLocks noGrp="1"/>
          </p:cNvSpPr>
          <p:nvPr>
            <p:ph type="dt" sz="half" idx="10"/>
          </p:nvPr>
        </p:nvSpPr>
        <p:spPr/>
        <p:txBody>
          <a:bodyPr/>
          <a:lstStyle/>
          <a:p>
            <a:fld id="{FA8C3402-11CF-4635-B332-8AF0EAD16805}" type="datetimeFigureOut">
              <a:rPr lang="en-PH" smtClean="0"/>
              <a:t>29/04/2026</a:t>
            </a:fld>
            <a:endParaRPr lang="en-PH"/>
          </a:p>
        </p:txBody>
      </p:sp>
      <p:sp>
        <p:nvSpPr>
          <p:cNvPr id="5" name="Footer Placeholder 4">
            <a:extLst>
              <a:ext uri="{FF2B5EF4-FFF2-40B4-BE49-F238E27FC236}">
                <a16:creationId xmlns:a16="http://schemas.microsoft.com/office/drawing/2014/main" id="{8CE274E7-7DBD-765E-74B8-FBC0178D8BA9}"/>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4A86E515-A249-36D4-B7AE-61E706961E7D}"/>
              </a:ext>
            </a:extLst>
          </p:cNvPr>
          <p:cNvSpPr>
            <a:spLocks noGrp="1"/>
          </p:cNvSpPr>
          <p:nvPr>
            <p:ph type="sldNum" sz="quarter" idx="12"/>
          </p:nvPr>
        </p:nvSpPr>
        <p:spPr/>
        <p:txBody>
          <a:bodyPr/>
          <a:lstStyle/>
          <a:p>
            <a:fld id="{72C05E94-83B4-4150-A015-6DCC5750F28E}" type="slidenum">
              <a:rPr lang="en-PH" smtClean="0"/>
              <a:t>‹#›</a:t>
            </a:fld>
            <a:endParaRPr lang="en-PH"/>
          </a:p>
        </p:txBody>
      </p:sp>
    </p:spTree>
    <p:extLst>
      <p:ext uri="{BB962C8B-B14F-4D97-AF65-F5344CB8AC3E}">
        <p14:creationId xmlns:p14="http://schemas.microsoft.com/office/powerpoint/2010/main" val="2217148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FCF764-FE98-CB07-5D17-85C4EFE036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B70066EE-8BBF-8012-93C5-2AE7F2E363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F2F9D5AB-8912-4759-2BF1-B8439F0E57E6}"/>
              </a:ext>
            </a:extLst>
          </p:cNvPr>
          <p:cNvSpPr>
            <a:spLocks noGrp="1"/>
          </p:cNvSpPr>
          <p:nvPr>
            <p:ph type="dt" sz="half" idx="10"/>
          </p:nvPr>
        </p:nvSpPr>
        <p:spPr/>
        <p:txBody>
          <a:bodyPr/>
          <a:lstStyle/>
          <a:p>
            <a:fld id="{FA8C3402-11CF-4635-B332-8AF0EAD16805}" type="datetimeFigureOut">
              <a:rPr lang="en-PH" smtClean="0"/>
              <a:t>29/04/2026</a:t>
            </a:fld>
            <a:endParaRPr lang="en-PH"/>
          </a:p>
        </p:txBody>
      </p:sp>
      <p:sp>
        <p:nvSpPr>
          <p:cNvPr id="5" name="Footer Placeholder 4">
            <a:extLst>
              <a:ext uri="{FF2B5EF4-FFF2-40B4-BE49-F238E27FC236}">
                <a16:creationId xmlns:a16="http://schemas.microsoft.com/office/drawing/2014/main" id="{3A56A39E-AF75-8C07-1D62-494E020CA21E}"/>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DF482F67-4193-2AE1-D1CE-B4B7B52EA2FF}"/>
              </a:ext>
            </a:extLst>
          </p:cNvPr>
          <p:cNvSpPr>
            <a:spLocks noGrp="1"/>
          </p:cNvSpPr>
          <p:nvPr>
            <p:ph type="sldNum" sz="quarter" idx="12"/>
          </p:nvPr>
        </p:nvSpPr>
        <p:spPr/>
        <p:txBody>
          <a:bodyPr/>
          <a:lstStyle/>
          <a:p>
            <a:fld id="{72C05E94-83B4-4150-A015-6DCC5750F28E}" type="slidenum">
              <a:rPr lang="en-PH" smtClean="0"/>
              <a:t>‹#›</a:t>
            </a:fld>
            <a:endParaRPr lang="en-PH"/>
          </a:p>
        </p:txBody>
      </p:sp>
    </p:spTree>
    <p:extLst>
      <p:ext uri="{BB962C8B-B14F-4D97-AF65-F5344CB8AC3E}">
        <p14:creationId xmlns:p14="http://schemas.microsoft.com/office/powerpoint/2010/main" val="3832929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E68F95-5767-B65A-2BFE-DE5FA0ED24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B229B973-2E0F-F257-681F-E8E2FFB2F5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D959A535-969D-02C1-C4D1-A0AFB0BC2A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8C3402-11CF-4635-B332-8AF0EAD16805}" type="datetimeFigureOut">
              <a:rPr lang="en-PH" smtClean="0"/>
              <a:t>29/04/2026</a:t>
            </a:fld>
            <a:endParaRPr lang="en-PH"/>
          </a:p>
        </p:txBody>
      </p:sp>
      <p:sp>
        <p:nvSpPr>
          <p:cNvPr id="5" name="Footer Placeholder 4">
            <a:extLst>
              <a:ext uri="{FF2B5EF4-FFF2-40B4-BE49-F238E27FC236}">
                <a16:creationId xmlns:a16="http://schemas.microsoft.com/office/drawing/2014/main" id="{8741BCFA-CDBA-D1F6-22C6-6B51B9DB6C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H"/>
          </a:p>
        </p:txBody>
      </p:sp>
      <p:sp>
        <p:nvSpPr>
          <p:cNvPr id="6" name="Slide Number Placeholder 5">
            <a:extLst>
              <a:ext uri="{FF2B5EF4-FFF2-40B4-BE49-F238E27FC236}">
                <a16:creationId xmlns:a16="http://schemas.microsoft.com/office/drawing/2014/main" id="{F5291728-26A0-7A2A-C195-CAB6588569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C05E94-83B4-4150-A015-6DCC5750F28E}" type="slidenum">
              <a:rPr lang="en-PH" smtClean="0"/>
              <a:t>‹#›</a:t>
            </a:fld>
            <a:endParaRPr lang="en-PH"/>
          </a:p>
        </p:txBody>
      </p:sp>
    </p:spTree>
    <p:extLst>
      <p:ext uri="{BB962C8B-B14F-4D97-AF65-F5344CB8AC3E}">
        <p14:creationId xmlns:p14="http://schemas.microsoft.com/office/powerpoint/2010/main" val="8059442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FE339D6-FCEB-3F01-6D2D-72044DB3D286}"/>
              </a:ext>
            </a:extLst>
          </p:cNvPr>
          <p:cNvSpPr>
            <a:spLocks noGrp="1"/>
          </p:cNvSpPr>
          <p:nvPr>
            <p:ph type="ctrTitle"/>
          </p:nvPr>
        </p:nvSpPr>
        <p:spPr>
          <a:xfrm>
            <a:off x="1386865" y="818984"/>
            <a:ext cx="6596245" cy="3268520"/>
          </a:xfrm>
        </p:spPr>
        <p:txBody>
          <a:bodyPr>
            <a:normAutofit/>
          </a:bodyPr>
          <a:lstStyle/>
          <a:p>
            <a:pPr algn="r"/>
            <a:r>
              <a:rPr lang="en-US" sz="4800" b="1">
                <a:solidFill>
                  <a:srgbClr val="FFFFFF"/>
                </a:solidFill>
              </a:rPr>
              <a:t>Workforce Demand Forecasting for Transportation Operations</a:t>
            </a:r>
            <a:endParaRPr lang="en-PH" sz="4800" b="1">
              <a:solidFill>
                <a:srgbClr val="FFFFFF"/>
              </a:solidFill>
            </a:endParaRPr>
          </a:p>
        </p:txBody>
      </p:sp>
      <p:sp>
        <p:nvSpPr>
          <p:cNvPr id="61" name="Rectangle 60">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48CFC5C-1DB9-8EDA-23CF-B07358CC1717}"/>
              </a:ext>
            </a:extLst>
          </p:cNvPr>
          <p:cNvSpPr>
            <a:spLocks noGrp="1"/>
          </p:cNvSpPr>
          <p:nvPr>
            <p:ph type="subTitle" idx="1"/>
          </p:nvPr>
        </p:nvSpPr>
        <p:spPr>
          <a:xfrm>
            <a:off x="1931874" y="4797188"/>
            <a:ext cx="6051236" cy="1241828"/>
          </a:xfrm>
        </p:spPr>
        <p:txBody>
          <a:bodyPr>
            <a:normAutofit/>
          </a:bodyPr>
          <a:lstStyle/>
          <a:p>
            <a:pPr algn="r"/>
            <a:r>
              <a:rPr lang="en-US">
                <a:solidFill>
                  <a:srgbClr val="FFFFFF"/>
                </a:solidFill>
              </a:rPr>
              <a:t>Using Data‑Driven Insights to Improve Scheduling Efficiency and Reduce Labor Costs</a:t>
            </a:r>
            <a:endParaRPr lang="en-PH">
              <a:solidFill>
                <a:srgbClr val="FFFFFF"/>
              </a:solidFill>
            </a:endParaRPr>
          </a:p>
        </p:txBody>
      </p:sp>
      <p:sp>
        <p:nvSpPr>
          <p:cNvPr id="63" name="Rectangle 62">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7693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9E8505-8CB8-FE71-C6AC-6D2EDA697A2C}"/>
              </a:ext>
            </a:extLst>
          </p:cNvPr>
          <p:cNvSpPr>
            <a:spLocks noGrp="1"/>
          </p:cNvSpPr>
          <p:nvPr>
            <p:ph type="title"/>
          </p:nvPr>
        </p:nvSpPr>
        <p:spPr>
          <a:xfrm>
            <a:off x="466722" y="586855"/>
            <a:ext cx="3201366" cy="3387497"/>
          </a:xfrm>
        </p:spPr>
        <p:txBody>
          <a:bodyPr anchor="b">
            <a:normAutofit/>
          </a:bodyPr>
          <a:lstStyle/>
          <a:p>
            <a:pPr algn="r"/>
            <a:r>
              <a:rPr lang="en-PH" sz="4000" b="1">
                <a:solidFill>
                  <a:srgbClr val="FFFFFF"/>
                </a:solidFill>
              </a:rPr>
              <a:t>Project Objective &amp; Data Landscape</a:t>
            </a:r>
          </a:p>
        </p:txBody>
      </p:sp>
      <p:sp>
        <p:nvSpPr>
          <p:cNvPr id="3" name="Content Placeholder 2">
            <a:extLst>
              <a:ext uri="{FF2B5EF4-FFF2-40B4-BE49-F238E27FC236}">
                <a16:creationId xmlns:a16="http://schemas.microsoft.com/office/drawing/2014/main" id="{98D3980F-1A05-DC07-9E10-B8B815734509}"/>
              </a:ext>
            </a:extLst>
          </p:cNvPr>
          <p:cNvSpPr>
            <a:spLocks noGrp="1"/>
          </p:cNvSpPr>
          <p:nvPr>
            <p:ph idx="1"/>
          </p:nvPr>
        </p:nvSpPr>
        <p:spPr>
          <a:xfrm>
            <a:off x="4367695" y="936171"/>
            <a:ext cx="7357583" cy="5214257"/>
          </a:xfrm>
        </p:spPr>
        <p:txBody>
          <a:bodyPr anchor="ctr">
            <a:noAutofit/>
          </a:bodyPr>
          <a:lstStyle/>
          <a:p>
            <a:pPr marL="0" indent="0">
              <a:spcBef>
                <a:spcPts val="0"/>
              </a:spcBef>
              <a:spcAft>
                <a:spcPts val="600"/>
              </a:spcAft>
              <a:buNone/>
            </a:pPr>
            <a:r>
              <a:rPr lang="en-US" sz="1100" b="1" dirty="0"/>
              <a:t>Problem Statement</a:t>
            </a:r>
          </a:p>
          <a:p>
            <a:pPr marL="0" indent="0">
              <a:spcBef>
                <a:spcPts val="0"/>
              </a:spcBef>
              <a:spcAft>
                <a:spcPts val="600"/>
              </a:spcAft>
              <a:buNone/>
            </a:pPr>
            <a:r>
              <a:rPr lang="en-US" sz="1100" dirty="0">
                <a:effectLst/>
              </a:rPr>
              <a:t>Forecast station‑level staffing requirements using historical scheduling data enriched with external operational context. The goal is to build a predictive model that:</a:t>
            </a:r>
            <a:endParaRPr lang="en-US" sz="1100" dirty="0"/>
          </a:p>
          <a:p>
            <a:pPr>
              <a:spcBef>
                <a:spcPts val="0"/>
              </a:spcBef>
              <a:spcAft>
                <a:spcPts val="600"/>
              </a:spcAft>
            </a:pPr>
            <a:r>
              <a:rPr lang="en-US" sz="1100" dirty="0">
                <a:effectLst/>
              </a:rPr>
              <a:t>Identifies staffing patterns across stations and shifts</a:t>
            </a:r>
            <a:endParaRPr lang="en-US" sz="1100" dirty="0"/>
          </a:p>
          <a:p>
            <a:pPr>
              <a:spcBef>
                <a:spcPts val="0"/>
              </a:spcBef>
              <a:spcAft>
                <a:spcPts val="600"/>
              </a:spcAft>
            </a:pPr>
            <a:r>
              <a:rPr lang="en-US" sz="1100" dirty="0">
                <a:effectLst/>
              </a:rPr>
              <a:t>Incorporates external drivers (holidays, weather, ridership)</a:t>
            </a:r>
            <a:endParaRPr lang="en-US" sz="1100" dirty="0"/>
          </a:p>
          <a:p>
            <a:pPr>
              <a:spcBef>
                <a:spcPts val="0"/>
              </a:spcBef>
              <a:spcAft>
                <a:spcPts val="600"/>
              </a:spcAft>
            </a:pPr>
            <a:r>
              <a:rPr lang="en-US" sz="1100" dirty="0">
                <a:effectLst/>
              </a:rPr>
              <a:t>Reduces under‑staffing and over‑staffing</a:t>
            </a:r>
            <a:endParaRPr lang="en-US" sz="1100" dirty="0"/>
          </a:p>
          <a:p>
            <a:pPr>
              <a:spcBef>
                <a:spcPts val="0"/>
              </a:spcBef>
              <a:spcAft>
                <a:spcPts val="600"/>
              </a:spcAft>
            </a:pPr>
            <a:r>
              <a:rPr lang="en-US" sz="1100" dirty="0">
                <a:effectLst/>
              </a:rPr>
              <a:t>Supports data‑driven workforce planning</a:t>
            </a:r>
          </a:p>
          <a:p>
            <a:pPr marL="0" indent="0">
              <a:spcBef>
                <a:spcPts val="0"/>
              </a:spcBef>
              <a:spcAft>
                <a:spcPts val="600"/>
              </a:spcAft>
              <a:buNone/>
            </a:pPr>
            <a:endParaRPr lang="en-US" sz="1100" dirty="0"/>
          </a:p>
          <a:p>
            <a:pPr marL="0" indent="0">
              <a:spcBef>
                <a:spcPts val="0"/>
              </a:spcBef>
              <a:spcAft>
                <a:spcPts val="600"/>
              </a:spcAft>
              <a:buNone/>
            </a:pPr>
            <a:r>
              <a:rPr lang="en-US" sz="1100" b="1" dirty="0"/>
              <a:t>Data Sources</a:t>
            </a:r>
          </a:p>
          <a:p>
            <a:pPr marL="0" indent="0">
              <a:spcBef>
                <a:spcPts val="0"/>
              </a:spcBef>
              <a:spcAft>
                <a:spcPts val="600"/>
              </a:spcAft>
              <a:buNone/>
            </a:pPr>
            <a:r>
              <a:rPr lang="en-US" sz="1100" b="1" dirty="0">
                <a:effectLst/>
              </a:rPr>
              <a:t>Internal Scheduling Data</a:t>
            </a:r>
            <a:endParaRPr lang="en-US" sz="1100" dirty="0"/>
          </a:p>
          <a:p>
            <a:pPr>
              <a:spcBef>
                <a:spcPts val="0"/>
              </a:spcBef>
              <a:spcAft>
                <a:spcPts val="600"/>
              </a:spcAft>
            </a:pPr>
            <a:r>
              <a:rPr lang="en-US" sz="1100" dirty="0">
                <a:effectLst/>
              </a:rPr>
              <a:t>Employee names</a:t>
            </a:r>
            <a:endParaRPr lang="en-US" sz="1100" dirty="0"/>
          </a:p>
          <a:p>
            <a:pPr>
              <a:spcBef>
                <a:spcPts val="0"/>
              </a:spcBef>
              <a:spcAft>
                <a:spcPts val="600"/>
              </a:spcAft>
            </a:pPr>
            <a:r>
              <a:rPr lang="en-US" sz="1100" dirty="0">
                <a:effectLst/>
              </a:rPr>
              <a:t>Assigned stations</a:t>
            </a:r>
            <a:endParaRPr lang="en-US" sz="1100" dirty="0"/>
          </a:p>
          <a:p>
            <a:pPr>
              <a:spcBef>
                <a:spcPts val="0"/>
              </a:spcBef>
              <a:spcAft>
                <a:spcPts val="600"/>
              </a:spcAft>
            </a:pPr>
            <a:r>
              <a:rPr lang="en-US" sz="1100" dirty="0">
                <a:effectLst/>
              </a:rPr>
              <a:t>Shift start/end times</a:t>
            </a:r>
          </a:p>
          <a:p>
            <a:pPr>
              <a:spcBef>
                <a:spcPts val="0"/>
              </a:spcBef>
              <a:spcAft>
                <a:spcPts val="600"/>
              </a:spcAft>
            </a:pPr>
            <a:r>
              <a:rPr lang="en-US" sz="1100" dirty="0"/>
              <a:t>Schedule date</a:t>
            </a:r>
          </a:p>
          <a:p>
            <a:pPr>
              <a:spcBef>
                <a:spcPts val="0"/>
              </a:spcBef>
              <a:spcAft>
                <a:spcPts val="600"/>
              </a:spcAft>
            </a:pPr>
            <a:r>
              <a:rPr lang="en-US" sz="1100" dirty="0"/>
              <a:t>~1000 rows × 8 columns</a:t>
            </a:r>
          </a:p>
          <a:p>
            <a:pPr marL="0" indent="0">
              <a:spcBef>
                <a:spcPts val="0"/>
              </a:spcBef>
              <a:spcAft>
                <a:spcPts val="600"/>
              </a:spcAft>
              <a:buNone/>
            </a:pPr>
            <a:r>
              <a:rPr lang="en-US" sz="1100" b="1" dirty="0">
                <a:effectLst/>
              </a:rPr>
              <a:t>External Context Data</a:t>
            </a:r>
            <a:endParaRPr lang="en-US" sz="1100" dirty="0"/>
          </a:p>
          <a:p>
            <a:pPr>
              <a:spcBef>
                <a:spcPts val="0"/>
              </a:spcBef>
              <a:spcAft>
                <a:spcPts val="600"/>
              </a:spcAft>
            </a:pPr>
            <a:r>
              <a:rPr lang="en-US" sz="1100" dirty="0">
                <a:effectLst/>
              </a:rPr>
              <a:t>Philippine holiday calendar</a:t>
            </a:r>
            <a:endParaRPr lang="en-US" sz="1100" dirty="0"/>
          </a:p>
          <a:p>
            <a:pPr>
              <a:spcBef>
                <a:spcPts val="0"/>
              </a:spcBef>
              <a:spcAft>
                <a:spcPts val="600"/>
              </a:spcAft>
            </a:pPr>
            <a:r>
              <a:rPr lang="en-US" sz="1100" dirty="0">
                <a:effectLst/>
              </a:rPr>
              <a:t>Weather descriptions (Clear, Rain, Cloudy, etc.)</a:t>
            </a:r>
            <a:endParaRPr lang="en-US" sz="1100" dirty="0"/>
          </a:p>
          <a:p>
            <a:pPr>
              <a:spcBef>
                <a:spcPts val="0"/>
              </a:spcBef>
              <a:spcAft>
                <a:spcPts val="600"/>
              </a:spcAft>
            </a:pPr>
            <a:r>
              <a:rPr lang="en-US" sz="1100" dirty="0">
                <a:effectLst/>
              </a:rPr>
              <a:t>Ridership / demand indicators</a:t>
            </a:r>
            <a:endParaRPr lang="en-US" sz="1100" dirty="0"/>
          </a:p>
          <a:p>
            <a:pPr>
              <a:spcBef>
                <a:spcPts val="0"/>
              </a:spcBef>
              <a:spcAft>
                <a:spcPts val="600"/>
              </a:spcAft>
            </a:pPr>
            <a:r>
              <a:rPr lang="en-US" sz="1100" dirty="0">
                <a:effectLst/>
              </a:rPr>
              <a:t>Date range </a:t>
            </a:r>
            <a:r>
              <a:rPr lang="en-US" sz="1100" dirty="0"/>
              <a:t>2025 January to 2025 June</a:t>
            </a:r>
          </a:p>
          <a:p>
            <a:pPr marL="0" indent="0">
              <a:spcBef>
                <a:spcPts val="0"/>
              </a:spcBef>
              <a:spcAft>
                <a:spcPts val="600"/>
              </a:spcAft>
              <a:buNone/>
            </a:pPr>
            <a:endParaRPr lang="en-US" sz="1100" dirty="0"/>
          </a:p>
          <a:p>
            <a:pPr marL="0" indent="0">
              <a:spcBef>
                <a:spcPts val="0"/>
              </a:spcBef>
              <a:spcAft>
                <a:spcPts val="600"/>
              </a:spcAft>
              <a:buNone/>
            </a:pPr>
            <a:r>
              <a:rPr lang="en-US" sz="1100" b="1" dirty="0"/>
              <a:t>Why These Data Sources Matter</a:t>
            </a:r>
          </a:p>
          <a:p>
            <a:pPr>
              <a:spcBef>
                <a:spcPts val="0"/>
              </a:spcBef>
              <a:spcAft>
                <a:spcPts val="600"/>
              </a:spcAft>
            </a:pPr>
            <a:r>
              <a:rPr lang="en-US" sz="1100" dirty="0">
                <a:effectLst/>
              </a:rPr>
              <a:t>Staffing demand is influenced by </a:t>
            </a:r>
            <a:r>
              <a:rPr lang="en-US" sz="1100" b="1" dirty="0">
                <a:effectLst/>
              </a:rPr>
              <a:t>temporal patterns</a:t>
            </a:r>
            <a:r>
              <a:rPr lang="en-US" sz="1100" dirty="0">
                <a:effectLst/>
              </a:rPr>
              <a:t> (weekday/weekend, holidays)</a:t>
            </a:r>
            <a:endParaRPr lang="en-US" sz="1100" dirty="0"/>
          </a:p>
          <a:p>
            <a:pPr>
              <a:spcBef>
                <a:spcPts val="0"/>
              </a:spcBef>
              <a:spcAft>
                <a:spcPts val="600"/>
              </a:spcAft>
            </a:pPr>
            <a:r>
              <a:rPr lang="en-US" sz="1100" b="1" dirty="0">
                <a:effectLst/>
              </a:rPr>
              <a:t>Weather</a:t>
            </a:r>
            <a:r>
              <a:rPr lang="en-US" sz="1100" dirty="0">
                <a:effectLst/>
              </a:rPr>
              <a:t> affects passenger volume and operational load</a:t>
            </a:r>
            <a:endParaRPr lang="en-US" sz="1100" dirty="0"/>
          </a:p>
          <a:p>
            <a:pPr>
              <a:spcBef>
                <a:spcPts val="0"/>
              </a:spcBef>
              <a:spcAft>
                <a:spcPts val="600"/>
              </a:spcAft>
            </a:pPr>
            <a:r>
              <a:rPr lang="en-US" sz="1100" b="1" dirty="0">
                <a:effectLst/>
              </a:rPr>
              <a:t>Ridership</a:t>
            </a:r>
            <a:r>
              <a:rPr lang="en-US" sz="1100" dirty="0">
                <a:effectLst/>
              </a:rPr>
              <a:t> is a direct proxy for station activity</a:t>
            </a:r>
            <a:endParaRPr lang="en-US" sz="1100" dirty="0"/>
          </a:p>
          <a:p>
            <a:pPr>
              <a:spcBef>
                <a:spcPts val="0"/>
              </a:spcBef>
              <a:spcAft>
                <a:spcPts val="600"/>
              </a:spcAft>
            </a:pPr>
            <a:r>
              <a:rPr lang="en-US" sz="1100" dirty="0">
                <a:effectLst/>
              </a:rPr>
              <a:t>Combining internal + external data improves predictive accuracy and generalization</a:t>
            </a:r>
          </a:p>
          <a:p>
            <a:pPr marL="0" indent="0">
              <a:spcBef>
                <a:spcPts val="0"/>
              </a:spcBef>
              <a:spcAft>
                <a:spcPts val="600"/>
              </a:spcAft>
              <a:buNone/>
            </a:pPr>
            <a:endParaRPr lang="en-US" sz="1100" dirty="0"/>
          </a:p>
          <a:p>
            <a:pPr marL="0" indent="0">
              <a:spcBef>
                <a:spcPts val="0"/>
              </a:spcBef>
              <a:spcAft>
                <a:spcPts val="600"/>
              </a:spcAft>
              <a:buNone/>
            </a:pPr>
            <a:r>
              <a:rPr lang="en-US" sz="1100" b="1" dirty="0"/>
              <a:t>Modeling Target</a:t>
            </a:r>
          </a:p>
          <a:p>
            <a:pPr>
              <a:spcBef>
                <a:spcPts val="0"/>
              </a:spcBef>
              <a:spcAft>
                <a:spcPts val="600"/>
              </a:spcAft>
            </a:pPr>
            <a:r>
              <a:rPr lang="en-US" sz="1100" dirty="0"/>
              <a:t>ridership</a:t>
            </a:r>
            <a:r>
              <a:rPr lang="en-US" sz="1100" b="1" dirty="0"/>
              <a:t> — the predicted passenger count per station per shift (continuous numeric value).</a:t>
            </a:r>
            <a:endParaRPr lang="en-US" sz="1100" dirty="0"/>
          </a:p>
          <a:p>
            <a:pPr>
              <a:spcBef>
                <a:spcPts val="0"/>
              </a:spcBef>
              <a:spcAft>
                <a:spcPts val="600"/>
              </a:spcAft>
            </a:pPr>
            <a:endParaRPr lang="en-PH" sz="1100" dirty="0"/>
          </a:p>
        </p:txBody>
      </p:sp>
    </p:spTree>
    <p:extLst>
      <p:ext uri="{BB962C8B-B14F-4D97-AF65-F5344CB8AC3E}">
        <p14:creationId xmlns:p14="http://schemas.microsoft.com/office/powerpoint/2010/main" val="2629705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01E71E-7968-0CC6-8282-C48EE97DC516}"/>
              </a:ext>
            </a:extLst>
          </p:cNvPr>
          <p:cNvSpPr>
            <a:spLocks noGrp="1"/>
          </p:cNvSpPr>
          <p:nvPr>
            <p:ph type="title"/>
          </p:nvPr>
        </p:nvSpPr>
        <p:spPr>
          <a:xfrm>
            <a:off x="1136397" y="502020"/>
            <a:ext cx="5323715" cy="1642970"/>
          </a:xfrm>
        </p:spPr>
        <p:txBody>
          <a:bodyPr anchor="b">
            <a:normAutofit/>
          </a:bodyPr>
          <a:lstStyle/>
          <a:p>
            <a:r>
              <a:rPr lang="en-US" sz="4000" b="1"/>
              <a:t>EDA Key Findings (Univariate Patterns)</a:t>
            </a:r>
            <a:endParaRPr lang="en-PH" sz="4000" b="1"/>
          </a:p>
        </p:txBody>
      </p:sp>
      <p:sp>
        <p:nvSpPr>
          <p:cNvPr id="4" name="Rectangle 1">
            <a:extLst>
              <a:ext uri="{FF2B5EF4-FFF2-40B4-BE49-F238E27FC236}">
                <a16:creationId xmlns:a16="http://schemas.microsoft.com/office/drawing/2014/main" id="{FB8DB0D6-9CD6-8891-670D-FD702769B098}"/>
              </a:ext>
            </a:extLst>
          </p:cNvPr>
          <p:cNvSpPr>
            <a:spLocks noGrp="1" noChangeArrowheads="1"/>
          </p:cNvSpPr>
          <p:nvPr>
            <p:ph idx="1"/>
          </p:nvPr>
        </p:nvSpPr>
        <p:spPr bwMode="auto">
          <a:xfrm>
            <a:off x="1144923" y="2405894"/>
            <a:ext cx="5315189" cy="353508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eaLnBrk="0" fontAlgn="base" hangingPunct="0">
              <a:spcBef>
                <a:spcPct val="0"/>
              </a:spcBef>
              <a:spcAft>
                <a:spcPts val="600"/>
              </a:spcAft>
            </a:pPr>
            <a:r>
              <a:rPr kumimoji="0" lang="en-US" altLang="en-US" sz="1600" b="0" i="0" u="none" strike="noStrike" cap="none" normalizeH="0" baseline="0">
                <a:ln>
                  <a:noFill/>
                </a:ln>
                <a:effectLst/>
                <a:latin typeface="Arial" panose="020B0604020202020204" pitchFamily="34" charset="0"/>
              </a:rPr>
              <a:t>Ridership shows substantial variability across shifts and stations, ranging from </a:t>
            </a:r>
            <a:r>
              <a:rPr kumimoji="0" lang="en-US" altLang="en-US" sz="1600" b="1" i="0" u="none" strike="noStrike" cap="none" normalizeH="0" baseline="0">
                <a:ln>
                  <a:noFill/>
                </a:ln>
                <a:effectLst/>
                <a:latin typeface="Arial" panose="020B0604020202020204" pitchFamily="34" charset="0"/>
              </a:rPr>
              <a:t>6,400 to 12,100</a:t>
            </a:r>
            <a:r>
              <a:rPr kumimoji="0" lang="en-US" altLang="en-US" sz="1600" b="0" i="0" u="none" strike="noStrike" cap="none" normalizeH="0" baseline="0">
                <a:ln>
                  <a:noFill/>
                </a:ln>
                <a:effectLst/>
                <a:latin typeface="Arial" panose="020B0604020202020204" pitchFamily="34" charset="0"/>
              </a:rPr>
              <a:t> passengers.</a:t>
            </a:r>
          </a:p>
          <a:p>
            <a:pPr eaLnBrk="0" fontAlgn="base" hangingPunct="0">
              <a:spcBef>
                <a:spcPct val="0"/>
              </a:spcBef>
              <a:spcAft>
                <a:spcPts val="600"/>
              </a:spcAft>
            </a:pPr>
            <a:r>
              <a:rPr kumimoji="0" lang="en-US" altLang="en-US" sz="1600" b="0" i="0" u="none" strike="noStrike" cap="none" normalizeH="0" baseline="0">
                <a:ln>
                  <a:noFill/>
                </a:ln>
                <a:effectLst/>
                <a:latin typeface="Arial" panose="020B0604020202020204" pitchFamily="34" charset="0"/>
              </a:rPr>
              <a:t>The distribution is moderately wide, with a mean of </a:t>
            </a:r>
            <a:r>
              <a:rPr kumimoji="0" lang="en-US" altLang="en-US" sz="1600" b="1" i="0" u="none" strike="noStrike" cap="none" normalizeH="0" baseline="0">
                <a:ln>
                  <a:noFill/>
                </a:ln>
                <a:effectLst/>
                <a:latin typeface="Arial" panose="020B0604020202020204" pitchFamily="34" charset="0"/>
              </a:rPr>
              <a:t>8,437</a:t>
            </a:r>
            <a:r>
              <a:rPr kumimoji="0" lang="en-US" altLang="en-US" sz="1600" b="0" i="0" u="none" strike="noStrike" cap="none" normalizeH="0" baseline="0">
                <a:ln>
                  <a:noFill/>
                </a:ln>
                <a:effectLst/>
                <a:latin typeface="Arial" panose="020B0604020202020204" pitchFamily="34" charset="0"/>
              </a:rPr>
              <a:t> and standard deviation of </a:t>
            </a:r>
            <a:r>
              <a:rPr kumimoji="0" lang="en-US" altLang="en-US" sz="1600" b="1" i="0" u="none" strike="noStrike" cap="none" normalizeH="0" baseline="0">
                <a:ln>
                  <a:noFill/>
                </a:ln>
                <a:effectLst/>
                <a:latin typeface="Arial" panose="020B0604020202020204" pitchFamily="34" charset="0"/>
              </a:rPr>
              <a:t>1,770</a:t>
            </a:r>
            <a:r>
              <a:rPr kumimoji="0" lang="en-US" altLang="en-US" sz="1600" b="0" i="0" u="none" strike="noStrike" cap="none" normalizeH="0" baseline="0">
                <a:ln>
                  <a:noFill/>
                </a:ln>
                <a:effectLst/>
                <a:latin typeface="Arial" panose="020B0604020202020204" pitchFamily="34" charset="0"/>
              </a:rPr>
              <a:t>, indicating strong operational fluctuations.</a:t>
            </a:r>
          </a:p>
          <a:p>
            <a:pPr eaLnBrk="0" fontAlgn="base" hangingPunct="0">
              <a:spcBef>
                <a:spcPct val="0"/>
              </a:spcBef>
              <a:spcAft>
                <a:spcPts val="600"/>
              </a:spcAft>
            </a:pPr>
            <a:r>
              <a:rPr kumimoji="0" lang="en-US" altLang="en-US" sz="1600" b="0" i="0" u="none" strike="noStrike" cap="none" normalizeH="0" baseline="0">
                <a:ln>
                  <a:noFill/>
                </a:ln>
                <a:effectLst/>
                <a:latin typeface="Arial" panose="020B0604020202020204" pitchFamily="34" charset="0"/>
              </a:rPr>
              <a:t>Station distribution is balanced (86 records per station), ensuring no class imbalance issues.</a:t>
            </a:r>
          </a:p>
          <a:p>
            <a:pPr eaLnBrk="0" fontAlgn="base" hangingPunct="0">
              <a:spcBef>
                <a:spcPct val="0"/>
              </a:spcBef>
              <a:spcAft>
                <a:spcPts val="600"/>
              </a:spcAft>
            </a:pPr>
            <a:r>
              <a:rPr kumimoji="0" lang="en-US" altLang="en-US" sz="1600" b="0" i="0" u="none" strike="noStrike" cap="none" normalizeH="0" baseline="0">
                <a:ln>
                  <a:noFill/>
                </a:ln>
                <a:effectLst/>
                <a:latin typeface="Arial" panose="020B0604020202020204" pitchFamily="34" charset="0"/>
              </a:rPr>
              <a:t>Weather categories are also well‑represented, with Clear, Rain, Cloudy, and Storm conditions appearing in the dataset.</a:t>
            </a:r>
          </a:p>
          <a:p>
            <a:pPr eaLnBrk="0" fontAlgn="base" hangingPunct="0">
              <a:spcBef>
                <a:spcPct val="0"/>
              </a:spcBef>
              <a:spcAft>
                <a:spcPts val="600"/>
              </a:spcAft>
            </a:pPr>
            <a:r>
              <a:rPr kumimoji="0" lang="en-US" altLang="en-US" sz="1600" b="0" i="0" u="none" strike="noStrike" cap="none" normalizeH="0" baseline="0">
                <a:ln>
                  <a:noFill/>
                </a:ln>
                <a:effectLst/>
                <a:latin typeface="Arial" panose="020B0604020202020204" pitchFamily="34" charset="0"/>
              </a:rPr>
              <a:t>Shift start times follow a structured operational pattern (06:00, 14:00, 22:00), supporting the creation of shift‑type features.</a:t>
            </a:r>
          </a:p>
        </p:txBody>
      </p:sp>
      <p:sp>
        <p:nvSpPr>
          <p:cNvPr id="13" name="Rectangle 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F679903E-6E9E-94ED-74B9-9102DF04E679}"/>
              </a:ext>
            </a:extLst>
          </p:cNvPr>
          <p:cNvPicPr>
            <a:picLocks noChangeAspect="1"/>
          </p:cNvPicPr>
          <p:nvPr/>
        </p:nvPicPr>
        <p:blipFill>
          <a:blip r:embed="rId3"/>
          <a:stretch>
            <a:fillRect/>
          </a:stretch>
        </p:blipFill>
        <p:spPr>
          <a:xfrm>
            <a:off x="7075967" y="947623"/>
            <a:ext cx="4170530" cy="4994647"/>
          </a:xfrm>
          <a:prstGeom prst="rect">
            <a:avLst/>
          </a:prstGeom>
        </p:spPr>
      </p:pic>
    </p:spTree>
    <p:extLst>
      <p:ext uri="{BB962C8B-B14F-4D97-AF65-F5344CB8AC3E}">
        <p14:creationId xmlns:p14="http://schemas.microsoft.com/office/powerpoint/2010/main" val="3259561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998CA1-342A-0C69-F9BF-E359D5C78249}"/>
              </a:ext>
            </a:extLst>
          </p:cNvPr>
          <p:cNvSpPr>
            <a:spLocks noGrp="1"/>
          </p:cNvSpPr>
          <p:nvPr>
            <p:ph type="title"/>
          </p:nvPr>
        </p:nvSpPr>
        <p:spPr>
          <a:xfrm>
            <a:off x="1136397" y="502020"/>
            <a:ext cx="5323715" cy="1642970"/>
          </a:xfrm>
        </p:spPr>
        <p:txBody>
          <a:bodyPr anchor="b">
            <a:normAutofit/>
          </a:bodyPr>
          <a:lstStyle/>
          <a:p>
            <a:r>
              <a:rPr lang="en-US" sz="4000" b="1"/>
              <a:t>EDA Key Findings (Bivariate Patterns)</a:t>
            </a:r>
            <a:endParaRPr lang="en-PH" sz="4000" b="1"/>
          </a:p>
        </p:txBody>
      </p:sp>
      <p:sp>
        <p:nvSpPr>
          <p:cNvPr id="4" name="Rectangle 1">
            <a:extLst>
              <a:ext uri="{FF2B5EF4-FFF2-40B4-BE49-F238E27FC236}">
                <a16:creationId xmlns:a16="http://schemas.microsoft.com/office/drawing/2014/main" id="{7F41100A-6F7F-1A02-D7AF-F4E156EBB993}"/>
              </a:ext>
            </a:extLst>
          </p:cNvPr>
          <p:cNvSpPr>
            <a:spLocks noGrp="1" noChangeArrowheads="1"/>
          </p:cNvSpPr>
          <p:nvPr>
            <p:ph idx="1"/>
          </p:nvPr>
        </p:nvSpPr>
        <p:spPr bwMode="auto">
          <a:xfrm>
            <a:off x="1144923" y="2405894"/>
            <a:ext cx="5315189" cy="353508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eaLnBrk="0" fontAlgn="base" hangingPunct="0">
              <a:spcBef>
                <a:spcPct val="0"/>
              </a:spcBef>
              <a:spcAft>
                <a:spcPts val="600"/>
              </a:spcAft>
            </a:pPr>
            <a:r>
              <a:rPr kumimoji="0" lang="en-US" altLang="en-US" sz="1700" b="1" i="0" u="none" strike="noStrike" cap="none" normalizeH="0" baseline="0" dirty="0">
                <a:ln>
                  <a:noFill/>
                </a:ln>
                <a:effectLst/>
                <a:latin typeface="Arial" panose="020B0604020202020204" pitchFamily="34" charset="0"/>
              </a:rPr>
              <a:t>Station-level differences</a:t>
            </a:r>
            <a:r>
              <a:rPr kumimoji="0" lang="en-US" altLang="en-US" sz="1700" b="0" i="0" u="none" strike="noStrike" cap="none" normalizeH="0" baseline="0" dirty="0">
                <a:ln>
                  <a:noFill/>
                </a:ln>
                <a:effectLst/>
                <a:latin typeface="Arial" panose="020B0604020202020204" pitchFamily="34" charset="0"/>
              </a:rPr>
              <a:t> are pronounced: STN05 consistently shows the highest ridership (~11,616), while STN02 shows the lowest (~6,731).</a:t>
            </a:r>
          </a:p>
          <a:p>
            <a:pPr eaLnBrk="0" fontAlgn="base" hangingPunct="0">
              <a:spcBef>
                <a:spcPct val="0"/>
              </a:spcBef>
              <a:spcAft>
                <a:spcPts val="600"/>
              </a:spcAft>
            </a:pPr>
            <a:r>
              <a:rPr kumimoji="0" lang="en-US" altLang="en-US" sz="1700" b="1" i="0" u="none" strike="noStrike" cap="none" normalizeH="0" baseline="0" dirty="0">
                <a:ln>
                  <a:noFill/>
                </a:ln>
                <a:effectLst/>
                <a:latin typeface="Arial" panose="020B0604020202020204" pitchFamily="34" charset="0"/>
              </a:rPr>
              <a:t>Weather conditions</a:t>
            </a:r>
            <a:r>
              <a:rPr kumimoji="0" lang="en-US" altLang="en-US" sz="1700" b="0" i="0" u="none" strike="noStrike" cap="none" normalizeH="0" baseline="0" dirty="0">
                <a:ln>
                  <a:noFill/>
                </a:ln>
                <a:effectLst/>
                <a:latin typeface="Arial" panose="020B0604020202020204" pitchFamily="34" charset="0"/>
              </a:rPr>
              <a:t> influence ridership: Storm and Rain days correspond to higher passenger volumes compared to Clear or Cloudy days.</a:t>
            </a:r>
          </a:p>
          <a:p>
            <a:pPr eaLnBrk="0" fontAlgn="base" hangingPunct="0">
              <a:spcBef>
                <a:spcPct val="0"/>
              </a:spcBef>
              <a:spcAft>
                <a:spcPts val="600"/>
              </a:spcAft>
            </a:pPr>
            <a:r>
              <a:rPr kumimoji="0" lang="en-US" altLang="en-US" sz="1700" b="1" i="0" u="none" strike="noStrike" cap="none" normalizeH="0" baseline="0" dirty="0">
                <a:ln>
                  <a:noFill/>
                </a:ln>
                <a:effectLst/>
                <a:latin typeface="Arial" panose="020B0604020202020204" pitchFamily="34" charset="0"/>
              </a:rPr>
              <a:t>Shift patterns</a:t>
            </a:r>
            <a:r>
              <a:rPr kumimoji="0" lang="en-US" altLang="en-US" sz="1700" b="0" i="0" u="none" strike="noStrike" cap="none" normalizeH="0" baseline="0" dirty="0">
                <a:ln>
                  <a:noFill/>
                </a:ln>
                <a:effectLst/>
                <a:latin typeface="Arial" panose="020B0604020202020204" pitchFamily="34" charset="0"/>
              </a:rPr>
              <a:t> show operational trends: Afternoon shifts (14:00) have the highest ridership, followed by morning (06:00), with night shifts (22:00) showing the lowest activity.</a:t>
            </a:r>
          </a:p>
          <a:p>
            <a:pPr eaLnBrk="0" fontAlgn="base" hangingPunct="0">
              <a:spcBef>
                <a:spcPct val="0"/>
              </a:spcBef>
              <a:spcAft>
                <a:spcPts val="600"/>
              </a:spcAft>
            </a:pPr>
            <a:r>
              <a:rPr kumimoji="0" lang="en-US" altLang="en-US" sz="1700" b="0" i="0" u="none" strike="noStrike" cap="none" normalizeH="0" baseline="0" dirty="0">
                <a:ln>
                  <a:noFill/>
                </a:ln>
                <a:effectLst/>
                <a:latin typeface="Arial" panose="020B0604020202020204" pitchFamily="34" charset="0"/>
              </a:rPr>
              <a:t>These relationships validate the inclusion of station, weather, and shift‑type features in the model.</a:t>
            </a:r>
          </a:p>
        </p:txBody>
      </p:sp>
      <p:sp>
        <p:nvSpPr>
          <p:cNvPr id="13" name="Rectangle 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455B0B82-FA0C-91A8-9235-7140637B4A32}"/>
              </a:ext>
            </a:extLst>
          </p:cNvPr>
          <p:cNvPicPr>
            <a:picLocks noChangeAspect="1"/>
          </p:cNvPicPr>
          <p:nvPr/>
        </p:nvPicPr>
        <p:blipFill>
          <a:blip r:embed="rId3"/>
          <a:stretch>
            <a:fillRect/>
          </a:stretch>
        </p:blipFill>
        <p:spPr>
          <a:xfrm>
            <a:off x="7075967" y="1300715"/>
            <a:ext cx="4170530" cy="4288463"/>
          </a:xfrm>
          <a:prstGeom prst="rect">
            <a:avLst/>
          </a:prstGeom>
        </p:spPr>
      </p:pic>
    </p:spTree>
    <p:extLst>
      <p:ext uri="{BB962C8B-B14F-4D97-AF65-F5344CB8AC3E}">
        <p14:creationId xmlns:p14="http://schemas.microsoft.com/office/powerpoint/2010/main" val="1573415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C5B959-10E0-0DC9-949A-0F5E75D0855A}"/>
              </a:ext>
            </a:extLst>
          </p:cNvPr>
          <p:cNvSpPr>
            <a:spLocks noGrp="1"/>
          </p:cNvSpPr>
          <p:nvPr>
            <p:ph type="title"/>
          </p:nvPr>
        </p:nvSpPr>
        <p:spPr>
          <a:xfrm>
            <a:off x="818984" y="4230093"/>
            <a:ext cx="4150581" cy="1800165"/>
          </a:xfrm>
        </p:spPr>
        <p:txBody>
          <a:bodyPr anchor="t">
            <a:normAutofit/>
          </a:bodyPr>
          <a:lstStyle/>
          <a:p>
            <a:pPr algn="r"/>
            <a:r>
              <a:rPr lang="en-PH" sz="4000" b="1"/>
              <a:t>Feature Engineering Approach</a:t>
            </a:r>
          </a:p>
        </p:txBody>
      </p:sp>
      <p:pic>
        <p:nvPicPr>
          <p:cNvPr id="6" name="Picture 5">
            <a:extLst>
              <a:ext uri="{FF2B5EF4-FFF2-40B4-BE49-F238E27FC236}">
                <a16:creationId xmlns:a16="http://schemas.microsoft.com/office/drawing/2014/main" id="{3C6E52AB-9903-111A-A02B-7DA3F3823258}"/>
              </a:ext>
            </a:extLst>
          </p:cNvPr>
          <p:cNvPicPr>
            <a:picLocks noChangeAspect="1"/>
          </p:cNvPicPr>
          <p:nvPr/>
        </p:nvPicPr>
        <p:blipFill>
          <a:blip r:embed="rId3"/>
          <a:stretch>
            <a:fillRect/>
          </a:stretch>
        </p:blipFill>
        <p:spPr>
          <a:xfrm>
            <a:off x="1519380" y="457200"/>
            <a:ext cx="9214202" cy="3455325"/>
          </a:xfrm>
          <a:prstGeom prst="rect">
            <a:avLst/>
          </a:prstGeom>
        </p:spPr>
      </p:pic>
      <p:sp>
        <p:nvSpPr>
          <p:cNvPr id="4" name="Rectangle 1">
            <a:extLst>
              <a:ext uri="{FF2B5EF4-FFF2-40B4-BE49-F238E27FC236}">
                <a16:creationId xmlns:a16="http://schemas.microsoft.com/office/drawing/2014/main" id="{5C1592F5-2C45-FA68-2477-36CFEE23AEE1}"/>
              </a:ext>
            </a:extLst>
          </p:cNvPr>
          <p:cNvSpPr>
            <a:spLocks noGrp="1" noChangeArrowheads="1"/>
          </p:cNvSpPr>
          <p:nvPr>
            <p:ph idx="1"/>
          </p:nvPr>
        </p:nvSpPr>
        <p:spPr bwMode="auto">
          <a:xfrm>
            <a:off x="5246415" y="4230094"/>
            <a:ext cx="6235268" cy="180016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lvl="0" indent="0" eaLnBrk="0" fontAlgn="base" hangingPunct="0">
              <a:spcBef>
                <a:spcPct val="0"/>
              </a:spcBef>
              <a:spcAft>
                <a:spcPts val="600"/>
              </a:spcAft>
              <a:buNone/>
            </a:pPr>
            <a:r>
              <a:rPr lang="en-US" sz="2000" b="1" dirty="0"/>
              <a:t>Date-Based Features:</a:t>
            </a:r>
            <a:r>
              <a:rPr lang="en-US" sz="2000" dirty="0"/>
              <a:t> Extracted </a:t>
            </a:r>
            <a:r>
              <a:rPr lang="en-US" sz="2000" dirty="0" err="1"/>
              <a:t>day_of_week</a:t>
            </a:r>
            <a:r>
              <a:rPr lang="en-US" sz="2000" dirty="0"/>
              <a:t>, month, and </a:t>
            </a:r>
            <a:r>
              <a:rPr lang="en-US" sz="2000" dirty="0" err="1"/>
              <a:t>is_weekend</a:t>
            </a:r>
            <a:r>
              <a:rPr lang="en-US" sz="2000" dirty="0"/>
              <a:t> to capture temporal patterns such as weekday vs. weekend behavior and seasonal effects.</a:t>
            </a:r>
            <a:endParaRPr kumimoji="0" lang="en-US" altLang="en-US" sz="2000" b="0" i="0" u="none" strike="noStrike" cap="none" normalizeH="0" baseline="0" dirty="0">
              <a:ln>
                <a:noFill/>
              </a:ln>
              <a:effectLst/>
              <a:latin typeface="Arial" panose="020B0604020202020204" pitchFamily="34" charset="0"/>
            </a:endParaRPr>
          </a:p>
        </p:txBody>
      </p:sp>
      <p:sp>
        <p:nvSpPr>
          <p:cNvPr id="13" name="Rectangle 12">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9794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6A5EA3-77F9-B56A-0638-DB4B6C481D10}"/>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626ABED-3A54-3DA3-13DD-DCB6DC9EA4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BB4F5E-B61B-F3E1-908A-84797D30A88B}"/>
              </a:ext>
            </a:extLst>
          </p:cNvPr>
          <p:cNvSpPr>
            <a:spLocks noGrp="1"/>
          </p:cNvSpPr>
          <p:nvPr>
            <p:ph type="title"/>
          </p:nvPr>
        </p:nvSpPr>
        <p:spPr>
          <a:xfrm>
            <a:off x="818984" y="4230093"/>
            <a:ext cx="4150581" cy="1800165"/>
          </a:xfrm>
        </p:spPr>
        <p:txBody>
          <a:bodyPr anchor="t">
            <a:normAutofit/>
          </a:bodyPr>
          <a:lstStyle/>
          <a:p>
            <a:pPr algn="r"/>
            <a:r>
              <a:rPr lang="en-PH" sz="4000" b="1"/>
              <a:t>Feature Engineering Approach</a:t>
            </a:r>
          </a:p>
        </p:txBody>
      </p:sp>
      <p:sp>
        <p:nvSpPr>
          <p:cNvPr id="4" name="Rectangle 1">
            <a:extLst>
              <a:ext uri="{FF2B5EF4-FFF2-40B4-BE49-F238E27FC236}">
                <a16:creationId xmlns:a16="http://schemas.microsoft.com/office/drawing/2014/main" id="{ACB25D4F-7BD5-E290-D5C6-117072461465}"/>
              </a:ext>
            </a:extLst>
          </p:cNvPr>
          <p:cNvSpPr>
            <a:spLocks noGrp="1" noChangeArrowheads="1"/>
          </p:cNvSpPr>
          <p:nvPr>
            <p:ph idx="1"/>
          </p:nvPr>
        </p:nvSpPr>
        <p:spPr bwMode="auto">
          <a:xfrm>
            <a:off x="5246415" y="4230094"/>
            <a:ext cx="6235268" cy="180016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lvl="0" indent="0" eaLnBrk="0" fontAlgn="base" hangingPunct="0">
              <a:spcBef>
                <a:spcPct val="0"/>
              </a:spcBef>
              <a:spcAft>
                <a:spcPts val="600"/>
              </a:spcAft>
              <a:buNone/>
            </a:pPr>
            <a:r>
              <a:rPr lang="en-US" sz="2000" b="1"/>
              <a:t>Shift Features:</a:t>
            </a:r>
            <a:r>
              <a:rPr lang="en-US" sz="2000"/>
              <a:t> Converted raw shift start times (06:00, 14:00, 22:00) into categorical shift types (morning, afternoon, night) to reflect operational patterns.</a:t>
            </a:r>
            <a:endParaRPr kumimoji="0" lang="en-US" altLang="en-US" sz="2000" b="0" i="0" u="none" strike="noStrike" cap="none" normalizeH="0" baseline="0" dirty="0">
              <a:ln>
                <a:noFill/>
              </a:ln>
              <a:effectLst/>
              <a:latin typeface="Arial" panose="020B0604020202020204" pitchFamily="34" charset="0"/>
            </a:endParaRPr>
          </a:p>
        </p:txBody>
      </p:sp>
      <p:sp>
        <p:nvSpPr>
          <p:cNvPr id="13" name="Rectangle 12">
            <a:extLst>
              <a:ext uri="{FF2B5EF4-FFF2-40B4-BE49-F238E27FC236}">
                <a16:creationId xmlns:a16="http://schemas.microsoft.com/office/drawing/2014/main" id="{AAFB0E38-D0F7-624A-B32D-429E2464A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0407EB8-AAE7-CDD3-9D22-36046EF403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4C18A53-D7B9-23C0-72F9-123CC5258A5F}"/>
              </a:ext>
            </a:extLst>
          </p:cNvPr>
          <p:cNvPicPr>
            <a:picLocks noChangeAspect="1"/>
          </p:cNvPicPr>
          <p:nvPr/>
        </p:nvPicPr>
        <p:blipFill>
          <a:blip r:embed="rId3"/>
          <a:stretch>
            <a:fillRect/>
          </a:stretch>
        </p:blipFill>
        <p:spPr>
          <a:xfrm>
            <a:off x="2440332" y="875554"/>
            <a:ext cx="5058466" cy="2478984"/>
          </a:xfrm>
          <a:prstGeom prst="rect">
            <a:avLst/>
          </a:prstGeom>
        </p:spPr>
      </p:pic>
    </p:spTree>
    <p:extLst>
      <p:ext uri="{BB962C8B-B14F-4D97-AF65-F5344CB8AC3E}">
        <p14:creationId xmlns:p14="http://schemas.microsoft.com/office/powerpoint/2010/main" val="2006818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3DED2F-E184-9FB8-3EC6-885BA9266295}"/>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4197877-8CCA-7C43-4646-703A92538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BB65D4-7D60-2538-A263-DC625B9A9510}"/>
              </a:ext>
            </a:extLst>
          </p:cNvPr>
          <p:cNvSpPr>
            <a:spLocks noGrp="1"/>
          </p:cNvSpPr>
          <p:nvPr>
            <p:ph type="title"/>
          </p:nvPr>
        </p:nvSpPr>
        <p:spPr>
          <a:xfrm>
            <a:off x="818984" y="4230093"/>
            <a:ext cx="4150581" cy="1800165"/>
          </a:xfrm>
        </p:spPr>
        <p:txBody>
          <a:bodyPr anchor="t">
            <a:normAutofit/>
          </a:bodyPr>
          <a:lstStyle/>
          <a:p>
            <a:pPr algn="r"/>
            <a:r>
              <a:rPr lang="en-PH" sz="4000" b="1"/>
              <a:t>Feature Engineering Approach</a:t>
            </a:r>
          </a:p>
        </p:txBody>
      </p:sp>
      <p:sp>
        <p:nvSpPr>
          <p:cNvPr id="4" name="Rectangle 1">
            <a:extLst>
              <a:ext uri="{FF2B5EF4-FFF2-40B4-BE49-F238E27FC236}">
                <a16:creationId xmlns:a16="http://schemas.microsoft.com/office/drawing/2014/main" id="{D0DCBDA7-EEFA-317B-4DD3-FA5E52A28F47}"/>
              </a:ext>
            </a:extLst>
          </p:cNvPr>
          <p:cNvSpPr>
            <a:spLocks noGrp="1" noChangeArrowheads="1"/>
          </p:cNvSpPr>
          <p:nvPr>
            <p:ph idx="1"/>
          </p:nvPr>
        </p:nvSpPr>
        <p:spPr bwMode="auto">
          <a:xfrm>
            <a:off x="5288945" y="4230092"/>
            <a:ext cx="6235268" cy="180016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lvl="0" indent="0" eaLnBrk="0" fontAlgn="base" hangingPunct="0">
              <a:spcBef>
                <a:spcPct val="0"/>
              </a:spcBef>
              <a:spcAft>
                <a:spcPts val="600"/>
              </a:spcAft>
              <a:buNone/>
            </a:pPr>
            <a:r>
              <a:rPr lang="en-US" sz="2000" b="1" dirty="0"/>
              <a:t>Station-Level Domain Feature:</a:t>
            </a:r>
            <a:r>
              <a:rPr lang="en-US" sz="2000" dirty="0"/>
              <a:t> Engineered </a:t>
            </a:r>
            <a:r>
              <a:rPr lang="en-US" sz="2000" dirty="0" err="1"/>
              <a:t>station_mean_ridership</a:t>
            </a:r>
            <a:r>
              <a:rPr lang="en-US" sz="2000" dirty="0"/>
              <a:t> to represent inherent station busyness, improving model generalization.</a:t>
            </a:r>
            <a:endParaRPr lang="en-US" altLang="en-US" sz="2000" dirty="0"/>
          </a:p>
        </p:txBody>
      </p:sp>
      <p:sp>
        <p:nvSpPr>
          <p:cNvPr id="13" name="Rectangle 12">
            <a:extLst>
              <a:ext uri="{FF2B5EF4-FFF2-40B4-BE49-F238E27FC236}">
                <a16:creationId xmlns:a16="http://schemas.microsoft.com/office/drawing/2014/main" id="{C5710C45-AA26-D263-45EA-0891013B3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8E1F394-A43E-B9DC-8853-DB9A0022C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79C4601-883E-BA7B-56C7-91EAE3509ACA}"/>
              </a:ext>
            </a:extLst>
          </p:cNvPr>
          <p:cNvPicPr>
            <a:picLocks noChangeAspect="1"/>
          </p:cNvPicPr>
          <p:nvPr/>
        </p:nvPicPr>
        <p:blipFill>
          <a:blip r:embed="rId3"/>
          <a:stretch>
            <a:fillRect/>
          </a:stretch>
        </p:blipFill>
        <p:spPr>
          <a:xfrm>
            <a:off x="2017021" y="827742"/>
            <a:ext cx="7342238" cy="2851520"/>
          </a:xfrm>
          <a:prstGeom prst="rect">
            <a:avLst/>
          </a:prstGeom>
        </p:spPr>
      </p:pic>
    </p:spTree>
    <p:extLst>
      <p:ext uri="{BB962C8B-B14F-4D97-AF65-F5344CB8AC3E}">
        <p14:creationId xmlns:p14="http://schemas.microsoft.com/office/powerpoint/2010/main" val="669637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256EBC-03BE-CE27-A21D-945357A00B55}"/>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3592C97-FC66-17F7-4A8B-49253F438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C3D2D1-8353-3CFF-F87B-E5C1BF87F3B2}"/>
              </a:ext>
            </a:extLst>
          </p:cNvPr>
          <p:cNvSpPr>
            <a:spLocks noGrp="1"/>
          </p:cNvSpPr>
          <p:nvPr>
            <p:ph type="title"/>
          </p:nvPr>
        </p:nvSpPr>
        <p:spPr>
          <a:xfrm>
            <a:off x="818984" y="4230093"/>
            <a:ext cx="4150581" cy="1800165"/>
          </a:xfrm>
        </p:spPr>
        <p:txBody>
          <a:bodyPr anchor="t">
            <a:normAutofit/>
          </a:bodyPr>
          <a:lstStyle/>
          <a:p>
            <a:pPr algn="r"/>
            <a:r>
              <a:rPr lang="en-PH" sz="4000" b="1"/>
              <a:t>Feature Engineering Approach</a:t>
            </a:r>
          </a:p>
        </p:txBody>
      </p:sp>
      <p:sp>
        <p:nvSpPr>
          <p:cNvPr id="4" name="Rectangle 1">
            <a:extLst>
              <a:ext uri="{FF2B5EF4-FFF2-40B4-BE49-F238E27FC236}">
                <a16:creationId xmlns:a16="http://schemas.microsoft.com/office/drawing/2014/main" id="{2F7F9076-E558-5921-8ECB-68AA8AB7AFC8}"/>
              </a:ext>
            </a:extLst>
          </p:cNvPr>
          <p:cNvSpPr>
            <a:spLocks noGrp="1" noChangeArrowheads="1"/>
          </p:cNvSpPr>
          <p:nvPr>
            <p:ph idx="1"/>
          </p:nvPr>
        </p:nvSpPr>
        <p:spPr bwMode="auto">
          <a:xfrm>
            <a:off x="5288945" y="4230092"/>
            <a:ext cx="6235268" cy="180016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lvl="0" indent="0" eaLnBrk="0" fontAlgn="base" hangingPunct="0">
              <a:spcBef>
                <a:spcPct val="0"/>
              </a:spcBef>
              <a:spcAft>
                <a:spcPts val="600"/>
              </a:spcAft>
              <a:buNone/>
            </a:pPr>
            <a:r>
              <a:rPr lang="en-US" sz="2000" b="1"/>
              <a:t>Categorical Encoding:</a:t>
            </a:r>
            <a:r>
              <a:rPr lang="en-US" sz="2000"/>
              <a:t> Applied one‑hot encoding to station, weather, and shift_type to prepare data for machine learning algorithms.</a:t>
            </a:r>
            <a:endParaRPr lang="en-US" altLang="en-US" sz="2000" dirty="0"/>
          </a:p>
        </p:txBody>
      </p:sp>
      <p:sp>
        <p:nvSpPr>
          <p:cNvPr id="13" name="Rectangle 12">
            <a:extLst>
              <a:ext uri="{FF2B5EF4-FFF2-40B4-BE49-F238E27FC236}">
                <a16:creationId xmlns:a16="http://schemas.microsoft.com/office/drawing/2014/main" id="{ACDAF5D8-533B-96CB-D130-B52BAADA9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587FDFF-BC41-FFCA-7860-64A87B5BE2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CF3FC29-C92A-B6CD-48E3-7D0DF13A1FF4}"/>
              </a:ext>
            </a:extLst>
          </p:cNvPr>
          <p:cNvSpPr txBox="1"/>
          <p:nvPr/>
        </p:nvSpPr>
        <p:spPr>
          <a:xfrm>
            <a:off x="2113220" y="1474021"/>
            <a:ext cx="8168463" cy="1477328"/>
          </a:xfrm>
          <a:prstGeom prst="rect">
            <a:avLst/>
          </a:prstGeom>
          <a:noFill/>
        </p:spPr>
        <p:txBody>
          <a:bodyPr wrap="square">
            <a:spAutoFit/>
          </a:bodyPr>
          <a:lstStyle/>
          <a:p>
            <a:r>
              <a:rPr lang="en-PH" dirty="0"/>
              <a:t>=== MODEL DF COLUMNS AFTER ENCODING ===</a:t>
            </a:r>
          </a:p>
          <a:p>
            <a:r>
              <a:rPr lang="en-PH" dirty="0"/>
              <a:t>['date', '</a:t>
            </a:r>
            <a:r>
              <a:rPr lang="en-PH" dirty="0" err="1"/>
              <a:t>employee_name</a:t>
            </a:r>
            <a:r>
              <a:rPr lang="en-PH" dirty="0"/>
              <a:t>', '</a:t>
            </a:r>
            <a:r>
              <a:rPr lang="en-PH" dirty="0" err="1"/>
              <a:t>shift_start</a:t>
            </a:r>
            <a:r>
              <a:rPr lang="en-PH" dirty="0"/>
              <a:t>', '</a:t>
            </a:r>
            <a:r>
              <a:rPr lang="en-PH" dirty="0" err="1"/>
              <a:t>shift_end</a:t>
            </a:r>
            <a:r>
              <a:rPr lang="en-PH" dirty="0"/>
              <a:t>', '</a:t>
            </a:r>
            <a:r>
              <a:rPr lang="en-PH" dirty="0" err="1"/>
              <a:t>holiday_date</a:t>
            </a:r>
            <a:r>
              <a:rPr lang="en-PH" dirty="0"/>
              <a:t>', 'ridership', '</a:t>
            </a:r>
            <a:r>
              <a:rPr lang="en-PH" dirty="0" err="1"/>
              <a:t>day_of_week</a:t>
            </a:r>
            <a:r>
              <a:rPr lang="en-PH" dirty="0"/>
              <a:t>', 'month', '</a:t>
            </a:r>
            <a:r>
              <a:rPr lang="en-PH" dirty="0" err="1"/>
              <a:t>is_weekend</a:t>
            </a:r>
            <a:r>
              <a:rPr lang="en-PH" dirty="0"/>
              <a:t>', '</a:t>
            </a:r>
            <a:r>
              <a:rPr lang="en-PH" dirty="0" err="1"/>
              <a:t>station_mean_ridership</a:t>
            </a:r>
            <a:r>
              <a:rPr lang="en-PH" dirty="0"/>
              <a:t>', 'station_id_STN02', 'station_id_STN03', 'station_id_STN04', 'station_id_STN05', '</a:t>
            </a:r>
            <a:r>
              <a:rPr lang="en-PH" dirty="0" err="1"/>
              <a:t>weather_Cloudy</a:t>
            </a:r>
            <a:r>
              <a:rPr lang="en-PH" dirty="0"/>
              <a:t>', '</a:t>
            </a:r>
            <a:r>
              <a:rPr lang="en-PH" dirty="0" err="1"/>
              <a:t>weather_Rain</a:t>
            </a:r>
            <a:r>
              <a:rPr lang="en-PH" dirty="0"/>
              <a:t>', '</a:t>
            </a:r>
            <a:r>
              <a:rPr lang="en-PH" dirty="0" err="1"/>
              <a:t>weather_Storm</a:t>
            </a:r>
            <a:r>
              <a:rPr lang="en-PH" dirty="0"/>
              <a:t>', '</a:t>
            </a:r>
            <a:r>
              <a:rPr lang="en-PH" dirty="0" err="1"/>
              <a:t>shift_type_morning</a:t>
            </a:r>
            <a:r>
              <a:rPr lang="en-PH" dirty="0"/>
              <a:t>', '</a:t>
            </a:r>
            <a:r>
              <a:rPr lang="en-PH" dirty="0" err="1"/>
              <a:t>shift_type_night</a:t>
            </a:r>
            <a:r>
              <a:rPr lang="en-PH" dirty="0"/>
              <a:t>']</a:t>
            </a:r>
          </a:p>
        </p:txBody>
      </p:sp>
    </p:spTree>
    <p:extLst>
      <p:ext uri="{BB962C8B-B14F-4D97-AF65-F5344CB8AC3E}">
        <p14:creationId xmlns:p14="http://schemas.microsoft.com/office/powerpoint/2010/main" val="151395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7D0354-2825-3DB3-6E19-30C68425097C}"/>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A565C97-9B86-D78A-A73B-0CD24412F5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917993-2E0B-9586-2432-336C77EE721E}"/>
              </a:ext>
            </a:extLst>
          </p:cNvPr>
          <p:cNvSpPr>
            <a:spLocks noGrp="1"/>
          </p:cNvSpPr>
          <p:nvPr>
            <p:ph type="title"/>
          </p:nvPr>
        </p:nvSpPr>
        <p:spPr>
          <a:xfrm>
            <a:off x="818984" y="4230093"/>
            <a:ext cx="4150581" cy="1800165"/>
          </a:xfrm>
        </p:spPr>
        <p:txBody>
          <a:bodyPr anchor="t">
            <a:normAutofit/>
          </a:bodyPr>
          <a:lstStyle/>
          <a:p>
            <a:pPr algn="r"/>
            <a:r>
              <a:rPr lang="en-PH" sz="4000" b="1"/>
              <a:t>Feature Engineering Approach</a:t>
            </a:r>
          </a:p>
        </p:txBody>
      </p:sp>
      <p:sp>
        <p:nvSpPr>
          <p:cNvPr id="4" name="Rectangle 1">
            <a:extLst>
              <a:ext uri="{FF2B5EF4-FFF2-40B4-BE49-F238E27FC236}">
                <a16:creationId xmlns:a16="http://schemas.microsoft.com/office/drawing/2014/main" id="{5967B9E5-C8C3-6D3F-A191-8B7BE4BA4DF8}"/>
              </a:ext>
            </a:extLst>
          </p:cNvPr>
          <p:cNvSpPr>
            <a:spLocks noGrp="1" noChangeArrowheads="1"/>
          </p:cNvSpPr>
          <p:nvPr>
            <p:ph idx="1"/>
          </p:nvPr>
        </p:nvSpPr>
        <p:spPr bwMode="auto">
          <a:xfrm>
            <a:off x="5675059" y="4230093"/>
            <a:ext cx="5811446" cy="180016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lvl="0" indent="0" eaLnBrk="0" fontAlgn="base" hangingPunct="0">
              <a:spcBef>
                <a:spcPct val="0"/>
              </a:spcBef>
              <a:spcAft>
                <a:spcPts val="600"/>
              </a:spcAft>
              <a:buNone/>
            </a:pPr>
            <a:r>
              <a:rPr lang="en-US" sz="2000" b="1" dirty="0"/>
              <a:t>Scaling:</a:t>
            </a:r>
            <a:r>
              <a:rPr lang="en-US" sz="2000" dirty="0"/>
              <a:t> Standardized numeric features (</a:t>
            </a:r>
            <a:r>
              <a:rPr lang="en-US" sz="2000" dirty="0" err="1"/>
              <a:t>day_of_week</a:t>
            </a:r>
            <a:r>
              <a:rPr lang="en-US" sz="2000" dirty="0"/>
              <a:t>, month, </a:t>
            </a:r>
            <a:r>
              <a:rPr lang="en-US" sz="2000" dirty="0" err="1"/>
              <a:t>is_weekend</a:t>
            </a:r>
            <a:r>
              <a:rPr lang="en-US" sz="2000" dirty="0"/>
              <a:t>, </a:t>
            </a:r>
            <a:r>
              <a:rPr lang="en-US" sz="2000" dirty="0" err="1"/>
              <a:t>station_mean_ridership</a:t>
            </a:r>
            <a:r>
              <a:rPr lang="en-US" sz="2000" dirty="0"/>
              <a:t>) to ensure stable model training.</a:t>
            </a:r>
            <a:endParaRPr lang="en-US" altLang="en-US" sz="2000" dirty="0"/>
          </a:p>
        </p:txBody>
      </p:sp>
      <p:sp>
        <p:nvSpPr>
          <p:cNvPr id="13" name="Rectangle 12">
            <a:extLst>
              <a:ext uri="{FF2B5EF4-FFF2-40B4-BE49-F238E27FC236}">
                <a16:creationId xmlns:a16="http://schemas.microsoft.com/office/drawing/2014/main" id="{C23C8E59-8D90-BB9A-7CAB-D0DB4C8F6D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2DCF18-C679-613C-D3BE-83679A3A3A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8F728F2D-5141-C5F2-5596-CB9C5BB1D3D0}"/>
              </a:ext>
            </a:extLst>
          </p:cNvPr>
          <p:cNvPicPr>
            <a:picLocks noChangeAspect="1"/>
          </p:cNvPicPr>
          <p:nvPr/>
        </p:nvPicPr>
        <p:blipFill>
          <a:blip r:embed="rId3"/>
          <a:stretch>
            <a:fillRect/>
          </a:stretch>
        </p:blipFill>
        <p:spPr>
          <a:xfrm>
            <a:off x="1802029" y="1266287"/>
            <a:ext cx="9124630" cy="2332834"/>
          </a:xfrm>
          <a:prstGeom prst="rect">
            <a:avLst/>
          </a:prstGeom>
        </p:spPr>
      </p:pic>
    </p:spTree>
    <p:extLst>
      <p:ext uri="{BB962C8B-B14F-4D97-AF65-F5344CB8AC3E}">
        <p14:creationId xmlns:p14="http://schemas.microsoft.com/office/powerpoint/2010/main" val="1622790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EAB6DE-1590-795C-E295-D208687CF772}"/>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C0B8E9A-BB55-178A-B027-117C8D4E4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4165AB-6072-841F-04B3-6FC21981B70B}"/>
              </a:ext>
            </a:extLst>
          </p:cNvPr>
          <p:cNvSpPr>
            <a:spLocks noGrp="1"/>
          </p:cNvSpPr>
          <p:nvPr>
            <p:ph type="title"/>
          </p:nvPr>
        </p:nvSpPr>
        <p:spPr>
          <a:xfrm>
            <a:off x="818984" y="4230093"/>
            <a:ext cx="4150581" cy="1800165"/>
          </a:xfrm>
        </p:spPr>
        <p:txBody>
          <a:bodyPr anchor="t">
            <a:normAutofit/>
          </a:bodyPr>
          <a:lstStyle/>
          <a:p>
            <a:pPr algn="r"/>
            <a:r>
              <a:rPr lang="en-PH" sz="4000" b="1"/>
              <a:t>Feature Engineering Approach</a:t>
            </a:r>
          </a:p>
        </p:txBody>
      </p:sp>
      <p:sp>
        <p:nvSpPr>
          <p:cNvPr id="4" name="Rectangle 1">
            <a:extLst>
              <a:ext uri="{FF2B5EF4-FFF2-40B4-BE49-F238E27FC236}">
                <a16:creationId xmlns:a16="http://schemas.microsoft.com/office/drawing/2014/main" id="{98B893AB-71E7-5A90-8A6F-8A069CF9E50C}"/>
              </a:ext>
            </a:extLst>
          </p:cNvPr>
          <p:cNvSpPr>
            <a:spLocks noGrp="1" noChangeArrowheads="1"/>
          </p:cNvSpPr>
          <p:nvPr>
            <p:ph idx="1"/>
          </p:nvPr>
        </p:nvSpPr>
        <p:spPr bwMode="auto">
          <a:xfrm>
            <a:off x="5675059" y="4230093"/>
            <a:ext cx="5811446" cy="180016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lvl="0" indent="0" eaLnBrk="0" fontAlgn="base" hangingPunct="0">
              <a:spcBef>
                <a:spcPct val="0"/>
              </a:spcBef>
              <a:spcAft>
                <a:spcPts val="600"/>
              </a:spcAft>
              <a:buNone/>
            </a:pPr>
            <a:r>
              <a:rPr lang="en-US" sz="2000" b="1"/>
              <a:t>Dimensionality Reduction:</a:t>
            </a:r>
            <a:r>
              <a:rPr lang="en-US" sz="2000"/>
              <a:t> Performed PCA and retained </a:t>
            </a:r>
            <a:r>
              <a:rPr lang="en-US" sz="2000" b="1"/>
              <a:t>6 components</a:t>
            </a:r>
            <a:r>
              <a:rPr lang="en-US" sz="2000"/>
              <a:t>, capturing over </a:t>
            </a:r>
            <a:r>
              <a:rPr lang="en-US" sz="2000" b="1"/>
              <a:t>90%</a:t>
            </a:r>
            <a:r>
              <a:rPr lang="en-US" sz="2000"/>
              <a:t> of total variance.</a:t>
            </a:r>
            <a:endParaRPr lang="en-US" altLang="en-US" sz="2000" dirty="0"/>
          </a:p>
        </p:txBody>
      </p:sp>
      <p:sp>
        <p:nvSpPr>
          <p:cNvPr id="13" name="Rectangle 12">
            <a:extLst>
              <a:ext uri="{FF2B5EF4-FFF2-40B4-BE49-F238E27FC236}">
                <a16:creationId xmlns:a16="http://schemas.microsoft.com/office/drawing/2014/main" id="{070018C6-FE27-E2B0-B186-E3A71BDEE5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4F8BEDB-EAEC-8163-78E6-CE6D42739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9030DD6-FC70-F346-FFF0-6191B79B71AE}"/>
              </a:ext>
            </a:extLst>
          </p:cNvPr>
          <p:cNvPicPr>
            <a:picLocks noChangeAspect="1"/>
          </p:cNvPicPr>
          <p:nvPr/>
        </p:nvPicPr>
        <p:blipFill>
          <a:blip r:embed="rId3"/>
          <a:stretch>
            <a:fillRect/>
          </a:stretch>
        </p:blipFill>
        <p:spPr>
          <a:xfrm>
            <a:off x="2378784" y="506788"/>
            <a:ext cx="5181561" cy="3458309"/>
          </a:xfrm>
          <a:prstGeom prst="rect">
            <a:avLst/>
          </a:prstGeom>
        </p:spPr>
      </p:pic>
    </p:spTree>
    <p:extLst>
      <p:ext uri="{BB962C8B-B14F-4D97-AF65-F5344CB8AC3E}">
        <p14:creationId xmlns:p14="http://schemas.microsoft.com/office/powerpoint/2010/main" val="1188537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C6B5652-C661-4C58-B937-F0F490F7FC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B936867-6407-43FB-9DE6-1B0879D0C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CD0B258-678B-4A8C-894F-848AF24A19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C8D58395-74AF-401A-AF2F-76B6FCF71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Rectangle 22">
            <a:extLst>
              <a:ext uri="{FF2B5EF4-FFF2-40B4-BE49-F238E27FC236}">
                <a16:creationId xmlns:a16="http://schemas.microsoft.com/office/drawing/2014/main" id="{2F003F3F-F118-41D2-AA3F-74DB0D1970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E77196-C58F-7F63-FB5D-BDBD473978AC}"/>
              </a:ext>
            </a:extLst>
          </p:cNvPr>
          <p:cNvSpPr>
            <a:spLocks noGrp="1"/>
          </p:cNvSpPr>
          <p:nvPr>
            <p:ph type="title"/>
          </p:nvPr>
        </p:nvSpPr>
        <p:spPr>
          <a:xfrm>
            <a:off x="806825" y="457201"/>
            <a:ext cx="2844800" cy="3588870"/>
          </a:xfrm>
        </p:spPr>
        <p:txBody>
          <a:bodyPr anchor="b">
            <a:normAutofit/>
          </a:bodyPr>
          <a:lstStyle/>
          <a:p>
            <a:pPr algn="r"/>
            <a:r>
              <a:rPr lang="en-PH" sz="3700" b="1">
                <a:solidFill>
                  <a:srgbClr val="FFFFFF"/>
                </a:solidFill>
              </a:rPr>
              <a:t>Model Selection &amp; Methodology</a:t>
            </a:r>
          </a:p>
        </p:txBody>
      </p:sp>
      <p:sp>
        <p:nvSpPr>
          <p:cNvPr id="4" name="Rectangle 1">
            <a:extLst>
              <a:ext uri="{FF2B5EF4-FFF2-40B4-BE49-F238E27FC236}">
                <a16:creationId xmlns:a16="http://schemas.microsoft.com/office/drawing/2014/main" id="{8EC96C8C-BFC6-C549-271D-8430D3758321}"/>
              </a:ext>
            </a:extLst>
          </p:cNvPr>
          <p:cNvSpPr>
            <a:spLocks noGrp="1" noChangeArrowheads="1"/>
          </p:cNvSpPr>
          <p:nvPr>
            <p:ph idx="1"/>
          </p:nvPr>
        </p:nvSpPr>
        <p:spPr bwMode="auto">
          <a:xfrm>
            <a:off x="4436670" y="1318854"/>
            <a:ext cx="4895220" cy="553421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eaLnBrk="0" fontAlgn="base" hangingPunct="0">
              <a:spcBef>
                <a:spcPct val="0"/>
              </a:spcBef>
              <a:spcAft>
                <a:spcPts val="600"/>
              </a:spcAft>
            </a:pPr>
            <a:r>
              <a:rPr kumimoji="0" lang="en-US" altLang="en-US" sz="2000" b="1" i="0" u="none" strike="noStrike" cap="none" normalizeH="0" baseline="0" dirty="0">
                <a:ln>
                  <a:noFill/>
                </a:ln>
                <a:effectLst/>
                <a:latin typeface="Arial" panose="020B0604020202020204" pitchFamily="34" charset="0"/>
              </a:rPr>
              <a:t>Train/Test Split:</a:t>
            </a:r>
            <a:r>
              <a:rPr kumimoji="0" lang="en-US" altLang="en-US" sz="2000" b="0" i="0" u="none" strike="noStrike" cap="none" normalizeH="0" baseline="0" dirty="0">
                <a:ln>
                  <a:noFill/>
                </a:ln>
                <a:effectLst/>
                <a:latin typeface="Arial" panose="020B0604020202020204" pitchFamily="34" charset="0"/>
              </a:rPr>
              <a:t> The dataset was split into </a:t>
            </a:r>
            <a:r>
              <a:rPr kumimoji="0" lang="en-US" altLang="en-US" sz="2000" b="1" i="0" u="none" strike="noStrike" cap="none" normalizeH="0" baseline="0" dirty="0">
                <a:ln>
                  <a:noFill/>
                </a:ln>
                <a:effectLst/>
                <a:latin typeface="Arial" panose="020B0604020202020204" pitchFamily="34" charset="0"/>
              </a:rPr>
              <a:t>80% training</a:t>
            </a:r>
            <a:r>
              <a:rPr kumimoji="0" lang="en-US" altLang="en-US" sz="2000" b="0" i="0" u="none" strike="noStrike" cap="none" normalizeH="0" baseline="0" dirty="0">
                <a:ln>
                  <a:noFill/>
                </a:ln>
                <a:effectLst/>
                <a:latin typeface="Arial" panose="020B0604020202020204" pitchFamily="34" charset="0"/>
              </a:rPr>
              <a:t> and </a:t>
            </a:r>
            <a:r>
              <a:rPr kumimoji="0" lang="en-US" altLang="en-US" sz="2000" b="1" i="0" u="none" strike="noStrike" cap="none" normalizeH="0" baseline="0" dirty="0">
                <a:ln>
                  <a:noFill/>
                </a:ln>
                <a:effectLst/>
                <a:latin typeface="Arial" panose="020B0604020202020204" pitchFamily="34" charset="0"/>
              </a:rPr>
              <a:t>20% testing</a:t>
            </a:r>
            <a:r>
              <a:rPr kumimoji="0" lang="en-US" altLang="en-US" sz="2000" b="0" i="0" u="none" strike="noStrike" cap="none" normalizeH="0" baseline="0" dirty="0">
                <a:ln>
                  <a:noFill/>
                </a:ln>
                <a:effectLst/>
                <a:latin typeface="Arial" panose="020B0604020202020204" pitchFamily="34" charset="0"/>
              </a:rPr>
              <a:t> to ensure reliable model evaluation and prevent data leakage.</a:t>
            </a:r>
          </a:p>
          <a:p>
            <a:pPr marL="0" indent="0" eaLnBrk="0" fontAlgn="base" hangingPunct="0">
              <a:spcBef>
                <a:spcPct val="0"/>
              </a:spcBef>
              <a:spcAft>
                <a:spcPts val="600"/>
              </a:spcAft>
              <a:buNone/>
            </a:pPr>
            <a:endParaRPr kumimoji="0" lang="en-US" altLang="en-US" sz="2000" b="0" i="0" u="none" strike="noStrike" cap="none" normalizeH="0" baseline="0" dirty="0">
              <a:ln>
                <a:noFill/>
              </a:ln>
              <a:effectLst/>
              <a:latin typeface="Arial" panose="020B0604020202020204" pitchFamily="34" charset="0"/>
            </a:endParaRPr>
          </a:p>
          <a:p>
            <a:pPr eaLnBrk="0" fontAlgn="base" hangingPunct="0">
              <a:spcBef>
                <a:spcPct val="0"/>
              </a:spcBef>
              <a:spcAft>
                <a:spcPts val="600"/>
              </a:spcAft>
            </a:pPr>
            <a:r>
              <a:rPr kumimoji="0" lang="en-US" altLang="en-US" sz="2000" b="1" i="0" u="none" strike="noStrike" cap="none" normalizeH="0" baseline="0" dirty="0">
                <a:ln>
                  <a:noFill/>
                </a:ln>
                <a:effectLst/>
                <a:latin typeface="Arial" panose="020B0604020202020204" pitchFamily="34" charset="0"/>
              </a:rPr>
              <a:t>Modeling Approach:</a:t>
            </a:r>
            <a:r>
              <a:rPr kumimoji="0" lang="en-US" altLang="en-US" sz="2000" b="0" i="0" u="none" strike="noStrike" cap="none" normalizeH="0" baseline="0" dirty="0">
                <a:ln>
                  <a:noFill/>
                </a:ln>
                <a:effectLst/>
                <a:latin typeface="Arial" panose="020B0604020202020204" pitchFamily="34" charset="0"/>
              </a:rPr>
              <a:t> A regression framework was used to predict ridership, with Random Forest selected as the primary model due to its ability to capture non‑linear relationships and handle engineered categorical features effectively.</a:t>
            </a:r>
          </a:p>
          <a:p>
            <a:pPr eaLnBrk="0" fontAlgn="base" hangingPunct="0">
              <a:spcBef>
                <a:spcPct val="0"/>
              </a:spcBef>
              <a:spcAft>
                <a:spcPts val="600"/>
              </a:spcAft>
            </a:pPr>
            <a:endParaRPr lang="en-US" altLang="en-US" sz="2000" dirty="0">
              <a:latin typeface="Arial" panose="020B0604020202020204" pitchFamily="34" charset="0"/>
            </a:endParaRPr>
          </a:p>
          <a:p>
            <a:pPr eaLnBrk="0" fontAlgn="base" hangingPunct="0">
              <a:spcBef>
                <a:spcPct val="0"/>
              </a:spcBef>
              <a:spcAft>
                <a:spcPts val="600"/>
              </a:spcAft>
            </a:pPr>
            <a:endParaRPr kumimoji="0" lang="en-US" altLang="en-US" sz="2000" b="0" i="0" u="none" strike="noStrike" cap="none" normalizeH="0" baseline="0" dirty="0">
              <a:ln>
                <a:noFill/>
              </a:ln>
              <a:effectLst/>
              <a:latin typeface="Arial" panose="020B0604020202020204" pitchFamily="34" charset="0"/>
            </a:endParaRPr>
          </a:p>
          <a:p>
            <a:pPr eaLnBrk="0" fontAlgn="base" hangingPunct="0">
              <a:spcBef>
                <a:spcPct val="0"/>
              </a:spcBef>
              <a:spcAft>
                <a:spcPts val="600"/>
              </a:spcAft>
            </a:pPr>
            <a:endParaRPr lang="en-US" altLang="en-US" sz="2000" dirty="0">
              <a:latin typeface="Arial" panose="020B0604020202020204" pitchFamily="34" charset="0"/>
            </a:endParaRPr>
          </a:p>
          <a:p>
            <a:pPr eaLnBrk="0" fontAlgn="base" hangingPunct="0">
              <a:spcBef>
                <a:spcPct val="0"/>
              </a:spcBef>
              <a:spcAft>
                <a:spcPts val="600"/>
              </a:spcAft>
            </a:pPr>
            <a:endParaRPr kumimoji="0" lang="en-US" altLang="en-US" sz="2000" b="0" i="0" u="none" strike="noStrike" cap="none" normalizeH="0" baseline="0" dirty="0">
              <a:ln>
                <a:noFill/>
              </a:ln>
              <a:effectLst/>
              <a:latin typeface="Arial" panose="020B0604020202020204" pitchFamily="34" charset="0"/>
            </a:endParaRPr>
          </a:p>
          <a:p>
            <a:pPr eaLnBrk="0" fontAlgn="base" hangingPunct="0">
              <a:spcBef>
                <a:spcPct val="0"/>
              </a:spcBef>
              <a:spcAft>
                <a:spcPts val="600"/>
              </a:spcAft>
            </a:pPr>
            <a:endParaRPr lang="en-US" altLang="en-US" sz="2000" dirty="0">
              <a:latin typeface="Arial" panose="020B0604020202020204" pitchFamily="34" charset="0"/>
            </a:endParaRPr>
          </a:p>
          <a:p>
            <a:pPr eaLnBrk="0" fontAlgn="base" hangingPunct="0">
              <a:spcBef>
                <a:spcPct val="0"/>
              </a:spcBef>
              <a:spcAft>
                <a:spcPts val="600"/>
              </a:spcAft>
            </a:pPr>
            <a:endParaRPr kumimoji="0" lang="en-US" altLang="en-US" sz="2000" b="0" i="0" u="none" strike="noStrike" cap="none" normalizeH="0" baseline="0" dirty="0">
              <a:ln>
                <a:noFill/>
              </a:ln>
              <a:effectLst/>
              <a:latin typeface="Arial" panose="020B0604020202020204" pitchFamily="34" charset="0"/>
            </a:endParaRPr>
          </a:p>
        </p:txBody>
      </p:sp>
      <p:pic>
        <p:nvPicPr>
          <p:cNvPr id="12" name="Picture 11">
            <a:extLst>
              <a:ext uri="{FF2B5EF4-FFF2-40B4-BE49-F238E27FC236}">
                <a16:creationId xmlns:a16="http://schemas.microsoft.com/office/drawing/2014/main" id="{FA2C82DA-C47B-DEE9-7F3A-6DC33E2E0FA7}"/>
              </a:ext>
            </a:extLst>
          </p:cNvPr>
          <p:cNvPicPr>
            <a:picLocks noChangeAspect="1"/>
          </p:cNvPicPr>
          <p:nvPr/>
        </p:nvPicPr>
        <p:blipFill>
          <a:blip r:embed="rId3"/>
          <a:stretch>
            <a:fillRect/>
          </a:stretch>
        </p:blipFill>
        <p:spPr>
          <a:xfrm>
            <a:off x="9331890" y="1438906"/>
            <a:ext cx="2560825" cy="769153"/>
          </a:xfrm>
          <a:prstGeom prst="rect">
            <a:avLst/>
          </a:prstGeom>
        </p:spPr>
      </p:pic>
      <p:pic>
        <p:nvPicPr>
          <p:cNvPr id="16" name="Picture 15">
            <a:extLst>
              <a:ext uri="{FF2B5EF4-FFF2-40B4-BE49-F238E27FC236}">
                <a16:creationId xmlns:a16="http://schemas.microsoft.com/office/drawing/2014/main" id="{D2DA42B8-55EB-BF3E-BCF5-846AB896A9C0}"/>
              </a:ext>
            </a:extLst>
          </p:cNvPr>
          <p:cNvPicPr>
            <a:picLocks noChangeAspect="1"/>
          </p:cNvPicPr>
          <p:nvPr/>
        </p:nvPicPr>
        <p:blipFill>
          <a:blip r:embed="rId4"/>
          <a:stretch>
            <a:fillRect/>
          </a:stretch>
        </p:blipFill>
        <p:spPr>
          <a:xfrm>
            <a:off x="5440928" y="4967767"/>
            <a:ext cx="6451787" cy="1728591"/>
          </a:xfrm>
          <a:prstGeom prst="rect">
            <a:avLst/>
          </a:prstGeom>
        </p:spPr>
      </p:pic>
    </p:spTree>
    <p:extLst>
      <p:ext uri="{BB962C8B-B14F-4D97-AF65-F5344CB8AC3E}">
        <p14:creationId xmlns:p14="http://schemas.microsoft.com/office/powerpoint/2010/main" val="3153007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7E86DB-E9EE-DC73-FE75-65DCA826C858}"/>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D9B6955-F80D-70F8-372A-AC292EE111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80E92FA-B7F5-5DAD-18BA-7D19CA2A73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2414586-1E28-77F9-0491-76CC2F931B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6916EF9-79DA-06C8-AB8D-41DE895253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E0533FD2-175A-7293-2963-53E35996B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Rectangle 22">
            <a:extLst>
              <a:ext uri="{FF2B5EF4-FFF2-40B4-BE49-F238E27FC236}">
                <a16:creationId xmlns:a16="http://schemas.microsoft.com/office/drawing/2014/main" id="{041C7D9B-7DE1-BE66-64E6-83D3F2535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D0CD56-0FA5-B7DE-FE5A-489321777490}"/>
              </a:ext>
            </a:extLst>
          </p:cNvPr>
          <p:cNvSpPr>
            <a:spLocks noGrp="1"/>
          </p:cNvSpPr>
          <p:nvPr>
            <p:ph type="title"/>
          </p:nvPr>
        </p:nvSpPr>
        <p:spPr>
          <a:xfrm>
            <a:off x="806825" y="457201"/>
            <a:ext cx="2844800" cy="3588870"/>
          </a:xfrm>
        </p:spPr>
        <p:txBody>
          <a:bodyPr anchor="b">
            <a:normAutofit/>
          </a:bodyPr>
          <a:lstStyle/>
          <a:p>
            <a:pPr algn="r"/>
            <a:r>
              <a:rPr lang="en-PH" sz="3700" b="1">
                <a:solidFill>
                  <a:srgbClr val="FFFFFF"/>
                </a:solidFill>
              </a:rPr>
              <a:t>Model Selection &amp; Methodology</a:t>
            </a:r>
          </a:p>
        </p:txBody>
      </p:sp>
      <p:sp>
        <p:nvSpPr>
          <p:cNvPr id="4" name="Rectangle 1">
            <a:extLst>
              <a:ext uri="{FF2B5EF4-FFF2-40B4-BE49-F238E27FC236}">
                <a16:creationId xmlns:a16="http://schemas.microsoft.com/office/drawing/2014/main" id="{233E4D68-E2DF-391F-65DA-B224124F985B}"/>
              </a:ext>
            </a:extLst>
          </p:cNvPr>
          <p:cNvSpPr>
            <a:spLocks noGrp="1" noChangeArrowheads="1"/>
          </p:cNvSpPr>
          <p:nvPr>
            <p:ph idx="1"/>
          </p:nvPr>
        </p:nvSpPr>
        <p:spPr bwMode="auto">
          <a:xfrm>
            <a:off x="4223728" y="1751329"/>
            <a:ext cx="3431475" cy="544985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Autofit/>
          </a:bodyPr>
          <a:lstStyle/>
          <a:p>
            <a:pPr eaLnBrk="0" fontAlgn="base" hangingPunct="0">
              <a:spcBef>
                <a:spcPct val="0"/>
              </a:spcBef>
              <a:spcAft>
                <a:spcPts val="600"/>
              </a:spcAft>
            </a:pPr>
            <a:r>
              <a:rPr lang="en-US" sz="2000" b="1" dirty="0"/>
              <a:t>Feature Preparation:</a:t>
            </a:r>
            <a:r>
              <a:rPr lang="en-US" sz="2000" dirty="0"/>
              <a:t> All categorical variables were one‑hot encoded, numeric features were standardized, and PCA was applied to reduce dimensionality while retaining over </a:t>
            </a:r>
            <a:r>
              <a:rPr lang="en-US" sz="2000" b="1" dirty="0"/>
              <a:t>90%</a:t>
            </a:r>
            <a:r>
              <a:rPr lang="en-US" sz="2000" dirty="0"/>
              <a:t> of variance.</a:t>
            </a:r>
            <a:endParaRPr kumimoji="0" lang="en-US" altLang="en-US" sz="2000" b="0" i="0" u="none" strike="noStrike" cap="none" normalizeH="0" baseline="0" dirty="0">
              <a:ln>
                <a:noFill/>
              </a:ln>
              <a:effectLst/>
              <a:latin typeface="Arial" panose="020B0604020202020204" pitchFamily="34" charset="0"/>
            </a:endParaRPr>
          </a:p>
          <a:p>
            <a:pPr eaLnBrk="0" fontAlgn="base" hangingPunct="0">
              <a:spcBef>
                <a:spcPct val="0"/>
              </a:spcBef>
              <a:spcAft>
                <a:spcPts val="600"/>
              </a:spcAft>
            </a:pPr>
            <a:r>
              <a:rPr lang="en-US" sz="2000" b="1" dirty="0"/>
              <a:t>Evaluation Metrics:</a:t>
            </a:r>
            <a:r>
              <a:rPr lang="en-US" sz="2000" dirty="0"/>
              <a:t> Model performance was assessed using </a:t>
            </a:r>
            <a:r>
              <a:rPr lang="en-US" sz="2000" b="1" dirty="0"/>
              <a:t>RMSE</a:t>
            </a:r>
            <a:r>
              <a:rPr lang="en-US" sz="2000" dirty="0"/>
              <a:t>, </a:t>
            </a:r>
            <a:r>
              <a:rPr lang="en-US" sz="2000" b="1" dirty="0"/>
              <a:t>MAE</a:t>
            </a:r>
            <a:r>
              <a:rPr lang="en-US" sz="2000" dirty="0"/>
              <a:t>, and </a:t>
            </a:r>
            <a:r>
              <a:rPr lang="en-US" sz="2000" b="1" dirty="0"/>
              <a:t>R²</a:t>
            </a:r>
            <a:r>
              <a:rPr lang="en-US" sz="2000" dirty="0"/>
              <a:t>, consistent with the project’s technical success criteria.</a:t>
            </a:r>
          </a:p>
          <a:p>
            <a:pPr eaLnBrk="0" fontAlgn="base" hangingPunct="0">
              <a:spcBef>
                <a:spcPct val="0"/>
              </a:spcBef>
              <a:spcAft>
                <a:spcPts val="600"/>
              </a:spcAft>
            </a:pPr>
            <a:r>
              <a:rPr lang="en-US" sz="2000" b="1" dirty="0"/>
              <a:t>Explainability Integration:</a:t>
            </a:r>
            <a:r>
              <a:rPr lang="en-US" sz="2000" dirty="0"/>
              <a:t> Feature importance from Random Forest and SHAP visualizations were used to interpret model behavior and validate the influence of engineered features.</a:t>
            </a:r>
            <a:endParaRPr kumimoji="0" lang="en-US" altLang="en-US" sz="2000" b="0" i="0" u="none" strike="noStrike" cap="none" normalizeH="0" baseline="0" dirty="0">
              <a:ln>
                <a:noFill/>
              </a:ln>
              <a:effectLst/>
              <a:latin typeface="Arial" panose="020B0604020202020204" pitchFamily="34" charset="0"/>
            </a:endParaRPr>
          </a:p>
          <a:p>
            <a:pPr eaLnBrk="0" fontAlgn="base" hangingPunct="0">
              <a:spcBef>
                <a:spcPct val="0"/>
              </a:spcBef>
              <a:spcAft>
                <a:spcPts val="600"/>
              </a:spcAft>
            </a:pPr>
            <a:endParaRPr lang="en-US" altLang="en-US" sz="2000" dirty="0">
              <a:latin typeface="Arial" panose="020B0604020202020204" pitchFamily="34" charset="0"/>
            </a:endParaRPr>
          </a:p>
          <a:p>
            <a:pPr eaLnBrk="0" fontAlgn="base" hangingPunct="0">
              <a:spcBef>
                <a:spcPct val="0"/>
              </a:spcBef>
              <a:spcAft>
                <a:spcPts val="600"/>
              </a:spcAft>
            </a:pPr>
            <a:endParaRPr kumimoji="0" lang="en-US" altLang="en-US" sz="2000" b="0" i="0" u="none" strike="noStrike" cap="none" normalizeH="0" baseline="0" dirty="0">
              <a:ln>
                <a:noFill/>
              </a:ln>
              <a:effectLst/>
              <a:latin typeface="Arial" panose="020B0604020202020204" pitchFamily="34" charset="0"/>
            </a:endParaRPr>
          </a:p>
          <a:p>
            <a:pPr eaLnBrk="0" fontAlgn="base" hangingPunct="0">
              <a:spcBef>
                <a:spcPct val="0"/>
              </a:spcBef>
              <a:spcAft>
                <a:spcPts val="600"/>
              </a:spcAft>
            </a:pPr>
            <a:endParaRPr lang="en-US" altLang="en-US" sz="2000" dirty="0">
              <a:latin typeface="Arial" panose="020B0604020202020204" pitchFamily="34" charset="0"/>
            </a:endParaRPr>
          </a:p>
          <a:p>
            <a:pPr eaLnBrk="0" fontAlgn="base" hangingPunct="0">
              <a:spcBef>
                <a:spcPct val="0"/>
              </a:spcBef>
              <a:spcAft>
                <a:spcPts val="600"/>
              </a:spcAft>
            </a:pPr>
            <a:endParaRPr kumimoji="0" lang="en-US" altLang="en-US" sz="2000" b="0" i="0" u="none" strike="noStrike" cap="none" normalizeH="0" baseline="0" dirty="0">
              <a:ln>
                <a:noFill/>
              </a:ln>
              <a:effectLst/>
              <a:latin typeface="Arial" panose="020B0604020202020204" pitchFamily="34" charset="0"/>
            </a:endParaRPr>
          </a:p>
          <a:p>
            <a:pPr eaLnBrk="0" fontAlgn="base" hangingPunct="0">
              <a:spcBef>
                <a:spcPct val="0"/>
              </a:spcBef>
              <a:spcAft>
                <a:spcPts val="600"/>
              </a:spcAft>
            </a:pPr>
            <a:endParaRPr lang="en-US" altLang="en-US" sz="2000" dirty="0">
              <a:latin typeface="Arial" panose="020B0604020202020204" pitchFamily="34" charset="0"/>
            </a:endParaRPr>
          </a:p>
          <a:p>
            <a:pPr eaLnBrk="0" fontAlgn="base" hangingPunct="0">
              <a:spcBef>
                <a:spcPct val="0"/>
              </a:spcBef>
              <a:spcAft>
                <a:spcPts val="600"/>
              </a:spcAft>
            </a:pPr>
            <a:endParaRPr kumimoji="0" lang="en-US" altLang="en-US" sz="2000" b="0" i="0" u="none" strike="noStrike" cap="none" normalizeH="0" baseline="0" dirty="0">
              <a:ln>
                <a:noFill/>
              </a:ln>
              <a:effectLst/>
              <a:latin typeface="Arial" panose="020B0604020202020204" pitchFamily="34" charset="0"/>
            </a:endParaRPr>
          </a:p>
        </p:txBody>
      </p:sp>
      <p:pic>
        <p:nvPicPr>
          <p:cNvPr id="6" name="Picture 5">
            <a:extLst>
              <a:ext uri="{FF2B5EF4-FFF2-40B4-BE49-F238E27FC236}">
                <a16:creationId xmlns:a16="http://schemas.microsoft.com/office/drawing/2014/main" id="{2AE97739-40B7-C363-EFCE-11E9D20F9622}"/>
              </a:ext>
            </a:extLst>
          </p:cNvPr>
          <p:cNvPicPr>
            <a:picLocks noChangeAspect="1"/>
          </p:cNvPicPr>
          <p:nvPr/>
        </p:nvPicPr>
        <p:blipFill>
          <a:blip r:embed="rId3"/>
          <a:stretch>
            <a:fillRect/>
          </a:stretch>
        </p:blipFill>
        <p:spPr>
          <a:xfrm>
            <a:off x="8141892" y="105321"/>
            <a:ext cx="3243283" cy="2485112"/>
          </a:xfrm>
          <a:prstGeom prst="rect">
            <a:avLst/>
          </a:prstGeom>
        </p:spPr>
      </p:pic>
      <p:pic>
        <p:nvPicPr>
          <p:cNvPr id="9" name="Picture 8">
            <a:extLst>
              <a:ext uri="{FF2B5EF4-FFF2-40B4-BE49-F238E27FC236}">
                <a16:creationId xmlns:a16="http://schemas.microsoft.com/office/drawing/2014/main" id="{29912ABE-2F8A-10B2-4D4F-CBC82B20069E}"/>
              </a:ext>
            </a:extLst>
          </p:cNvPr>
          <p:cNvPicPr>
            <a:picLocks noChangeAspect="1"/>
          </p:cNvPicPr>
          <p:nvPr/>
        </p:nvPicPr>
        <p:blipFill>
          <a:blip r:embed="rId4"/>
          <a:stretch>
            <a:fillRect/>
          </a:stretch>
        </p:blipFill>
        <p:spPr>
          <a:xfrm>
            <a:off x="8141892" y="2720970"/>
            <a:ext cx="3006272" cy="2269039"/>
          </a:xfrm>
          <a:prstGeom prst="rect">
            <a:avLst/>
          </a:prstGeom>
        </p:spPr>
      </p:pic>
      <p:pic>
        <p:nvPicPr>
          <p:cNvPr id="11" name="Picture 10">
            <a:extLst>
              <a:ext uri="{FF2B5EF4-FFF2-40B4-BE49-F238E27FC236}">
                <a16:creationId xmlns:a16="http://schemas.microsoft.com/office/drawing/2014/main" id="{7F3021F4-25DC-916D-7544-35F160703A1C}"/>
              </a:ext>
            </a:extLst>
          </p:cNvPr>
          <p:cNvPicPr>
            <a:picLocks noChangeAspect="1"/>
          </p:cNvPicPr>
          <p:nvPr/>
        </p:nvPicPr>
        <p:blipFill>
          <a:blip r:embed="rId5"/>
          <a:stretch>
            <a:fillRect/>
          </a:stretch>
        </p:blipFill>
        <p:spPr>
          <a:xfrm>
            <a:off x="8263402" y="5283110"/>
            <a:ext cx="1752845" cy="647790"/>
          </a:xfrm>
          <a:prstGeom prst="rect">
            <a:avLst/>
          </a:prstGeom>
        </p:spPr>
      </p:pic>
    </p:spTree>
    <p:extLst>
      <p:ext uri="{BB962C8B-B14F-4D97-AF65-F5344CB8AC3E}">
        <p14:creationId xmlns:p14="http://schemas.microsoft.com/office/powerpoint/2010/main" val="2153134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C6B5652-C661-4C58-B937-F0F490F7FC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B936867-6407-43FB-9DE6-1B0879D0C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CD0B258-678B-4A8C-894F-848AF24A19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C8D58395-74AF-401A-AF2F-76B6FCF71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Rectangle 22">
            <a:extLst>
              <a:ext uri="{FF2B5EF4-FFF2-40B4-BE49-F238E27FC236}">
                <a16:creationId xmlns:a16="http://schemas.microsoft.com/office/drawing/2014/main" id="{2F003F3F-F118-41D2-AA3F-74DB0D1970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E4A779-37BE-D6A3-3E57-19F8900466E3}"/>
              </a:ext>
            </a:extLst>
          </p:cNvPr>
          <p:cNvSpPr>
            <a:spLocks noGrp="1"/>
          </p:cNvSpPr>
          <p:nvPr>
            <p:ph type="title"/>
          </p:nvPr>
        </p:nvSpPr>
        <p:spPr>
          <a:xfrm>
            <a:off x="806825" y="457201"/>
            <a:ext cx="2844800" cy="3588870"/>
          </a:xfrm>
        </p:spPr>
        <p:txBody>
          <a:bodyPr anchor="b">
            <a:normAutofit/>
          </a:bodyPr>
          <a:lstStyle/>
          <a:p>
            <a:pPr algn="r"/>
            <a:r>
              <a:rPr lang="en-PH" sz="4000" b="1">
                <a:solidFill>
                  <a:srgbClr val="FFFFFF"/>
                </a:solidFill>
              </a:rPr>
              <a:t>Results &amp; Model Comparison</a:t>
            </a:r>
          </a:p>
        </p:txBody>
      </p:sp>
      <p:sp>
        <p:nvSpPr>
          <p:cNvPr id="4" name="Rectangle 1">
            <a:extLst>
              <a:ext uri="{FF2B5EF4-FFF2-40B4-BE49-F238E27FC236}">
                <a16:creationId xmlns:a16="http://schemas.microsoft.com/office/drawing/2014/main" id="{55329F54-BAB9-4AEE-54BD-EF14BB1A746F}"/>
              </a:ext>
            </a:extLst>
          </p:cNvPr>
          <p:cNvSpPr>
            <a:spLocks noGrp="1" noChangeArrowheads="1"/>
          </p:cNvSpPr>
          <p:nvPr>
            <p:ph idx="1"/>
          </p:nvPr>
        </p:nvSpPr>
        <p:spPr bwMode="auto">
          <a:xfrm>
            <a:off x="4649245" y="669363"/>
            <a:ext cx="3504923" cy="553421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eaLnBrk="0" fontAlgn="base" hangingPunct="0">
              <a:spcBef>
                <a:spcPct val="0"/>
              </a:spcBef>
              <a:spcAft>
                <a:spcPts val="600"/>
              </a:spcAft>
            </a:pPr>
            <a:r>
              <a:rPr kumimoji="0" lang="en-US" altLang="en-US" sz="2000" b="0" i="0" u="none" strike="noStrike" cap="none" normalizeH="0" baseline="0" dirty="0">
                <a:ln>
                  <a:noFill/>
                </a:ln>
                <a:effectLst/>
                <a:latin typeface="Arial" panose="020B0604020202020204" pitchFamily="34" charset="0"/>
              </a:rPr>
              <a:t>The Random Forest model demonstrated strong predictive performance, effectively capturing non‑linear relationships between ridership and operational features.</a:t>
            </a:r>
          </a:p>
          <a:p>
            <a:pPr eaLnBrk="0" fontAlgn="base" hangingPunct="0">
              <a:spcBef>
                <a:spcPct val="0"/>
              </a:spcBef>
              <a:spcAft>
                <a:spcPts val="600"/>
              </a:spcAft>
            </a:pPr>
            <a:endParaRPr kumimoji="0" lang="en-US" altLang="en-US" sz="2000" b="0" i="0" u="none" strike="noStrike" cap="none" normalizeH="0" baseline="0" dirty="0">
              <a:ln>
                <a:noFill/>
              </a:ln>
              <a:effectLst/>
              <a:latin typeface="Arial" panose="020B0604020202020204" pitchFamily="34" charset="0"/>
            </a:endParaRPr>
          </a:p>
          <a:p>
            <a:pPr eaLnBrk="0" fontAlgn="base" hangingPunct="0">
              <a:spcBef>
                <a:spcPct val="0"/>
              </a:spcBef>
              <a:spcAft>
                <a:spcPts val="600"/>
              </a:spcAft>
            </a:pPr>
            <a:r>
              <a:rPr kumimoji="0" lang="en-US" altLang="en-US" sz="2000" b="0" i="0" u="none" strike="noStrike" cap="none" normalizeH="0" baseline="0" dirty="0">
                <a:ln>
                  <a:noFill/>
                </a:ln>
                <a:effectLst/>
                <a:latin typeface="Arial" panose="020B0604020202020204" pitchFamily="34" charset="0"/>
              </a:rPr>
              <a:t>PCA‑based regression provided faster computation with reduced dimensionality, while maintaining competitive accuracy. </a:t>
            </a:r>
            <a:r>
              <a:rPr kumimoji="0" lang="en-US" altLang="en-US" sz="2000" b="1" i="0" u="none" strike="noStrike" cap="none" normalizeH="0" baseline="0" dirty="0">
                <a:ln>
                  <a:noFill/>
                </a:ln>
                <a:effectLst/>
                <a:latin typeface="Arial" panose="020B0604020202020204" pitchFamily="34" charset="0"/>
              </a:rPr>
              <a:t>6 is the reasonable choice as the goal is &gt;=90% variance for modeling</a:t>
            </a:r>
          </a:p>
        </p:txBody>
      </p:sp>
      <p:pic>
        <p:nvPicPr>
          <p:cNvPr id="8" name="Picture 7">
            <a:extLst>
              <a:ext uri="{FF2B5EF4-FFF2-40B4-BE49-F238E27FC236}">
                <a16:creationId xmlns:a16="http://schemas.microsoft.com/office/drawing/2014/main" id="{EE331170-43F1-122C-7E13-9B191458A25B}"/>
              </a:ext>
            </a:extLst>
          </p:cNvPr>
          <p:cNvPicPr>
            <a:picLocks noChangeAspect="1"/>
          </p:cNvPicPr>
          <p:nvPr/>
        </p:nvPicPr>
        <p:blipFill>
          <a:blip r:embed="rId3"/>
          <a:stretch>
            <a:fillRect/>
          </a:stretch>
        </p:blipFill>
        <p:spPr>
          <a:xfrm>
            <a:off x="8551235" y="3760942"/>
            <a:ext cx="2823586" cy="2068085"/>
          </a:xfrm>
          <a:prstGeom prst="rect">
            <a:avLst/>
          </a:prstGeom>
        </p:spPr>
      </p:pic>
      <p:pic>
        <p:nvPicPr>
          <p:cNvPr id="6" name="Picture 5">
            <a:extLst>
              <a:ext uri="{FF2B5EF4-FFF2-40B4-BE49-F238E27FC236}">
                <a16:creationId xmlns:a16="http://schemas.microsoft.com/office/drawing/2014/main" id="{2AF3BD7C-B083-8154-2AC3-CE102CCCE0AE}"/>
              </a:ext>
            </a:extLst>
          </p:cNvPr>
          <p:cNvPicPr>
            <a:picLocks noChangeAspect="1"/>
          </p:cNvPicPr>
          <p:nvPr/>
        </p:nvPicPr>
        <p:blipFill>
          <a:blip r:embed="rId4"/>
          <a:stretch>
            <a:fillRect/>
          </a:stretch>
        </p:blipFill>
        <p:spPr>
          <a:xfrm>
            <a:off x="8561589" y="713840"/>
            <a:ext cx="2823586" cy="2333262"/>
          </a:xfrm>
          <a:prstGeom prst="rect">
            <a:avLst/>
          </a:prstGeom>
        </p:spPr>
      </p:pic>
    </p:spTree>
    <p:extLst>
      <p:ext uri="{BB962C8B-B14F-4D97-AF65-F5344CB8AC3E}">
        <p14:creationId xmlns:p14="http://schemas.microsoft.com/office/powerpoint/2010/main" val="1999498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DCA44-8E03-A2E5-931D-D1EB98158716}"/>
              </a:ext>
            </a:extLst>
          </p:cNvPr>
          <p:cNvSpPr>
            <a:spLocks noGrp="1"/>
          </p:cNvSpPr>
          <p:nvPr>
            <p:ph type="title"/>
          </p:nvPr>
        </p:nvSpPr>
        <p:spPr/>
        <p:txBody>
          <a:bodyPr/>
          <a:lstStyle/>
          <a:p>
            <a:r>
              <a:rPr lang="en-PH" b="1" dirty="0"/>
              <a:t>Results &amp; Model Comparison</a:t>
            </a:r>
          </a:p>
        </p:txBody>
      </p:sp>
      <p:sp>
        <p:nvSpPr>
          <p:cNvPr id="4" name="Rectangle 1">
            <a:extLst>
              <a:ext uri="{FF2B5EF4-FFF2-40B4-BE49-F238E27FC236}">
                <a16:creationId xmlns:a16="http://schemas.microsoft.com/office/drawing/2014/main" id="{B79EAF2C-3CBB-90D8-BDC1-6FE7EC7E026D}"/>
              </a:ext>
            </a:extLst>
          </p:cNvPr>
          <p:cNvSpPr>
            <a:spLocks noGrp="1" noChangeArrowheads="1"/>
          </p:cNvSpPr>
          <p:nvPr>
            <p:ph idx="1"/>
          </p:nvPr>
        </p:nvSpPr>
        <p:spPr bwMode="auto">
          <a:xfrm>
            <a:off x="838200" y="1519359"/>
            <a:ext cx="1114920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Feature importance analysis highlighted the dominance of station‑level and weather‑related predictors, validating the engineered features.</a:t>
            </a: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Evaluation metrics (RMSE, MAE, R²) were used to assess model accuracy and alignment with the project’s technical success criteria.</a:t>
            </a:r>
          </a:p>
        </p:txBody>
      </p:sp>
      <p:pic>
        <p:nvPicPr>
          <p:cNvPr id="6" name="Picture 5">
            <a:extLst>
              <a:ext uri="{FF2B5EF4-FFF2-40B4-BE49-F238E27FC236}">
                <a16:creationId xmlns:a16="http://schemas.microsoft.com/office/drawing/2014/main" id="{FE6B72B1-D432-743A-6E7E-9C44F071E0F0}"/>
              </a:ext>
            </a:extLst>
          </p:cNvPr>
          <p:cNvPicPr>
            <a:picLocks noChangeAspect="1"/>
          </p:cNvPicPr>
          <p:nvPr/>
        </p:nvPicPr>
        <p:blipFill>
          <a:blip r:embed="rId3"/>
          <a:stretch>
            <a:fillRect/>
          </a:stretch>
        </p:blipFill>
        <p:spPr>
          <a:xfrm>
            <a:off x="1161525" y="2937984"/>
            <a:ext cx="4250847" cy="1200329"/>
          </a:xfrm>
          <a:prstGeom prst="rect">
            <a:avLst/>
          </a:prstGeom>
        </p:spPr>
      </p:pic>
      <p:sp>
        <p:nvSpPr>
          <p:cNvPr id="9" name="Rectangle 1">
            <a:extLst>
              <a:ext uri="{FF2B5EF4-FFF2-40B4-BE49-F238E27FC236}">
                <a16:creationId xmlns:a16="http://schemas.microsoft.com/office/drawing/2014/main" id="{CF158DDC-3559-A86A-9CE6-EF57ECC9A3C1}"/>
              </a:ext>
            </a:extLst>
          </p:cNvPr>
          <p:cNvSpPr txBox="1">
            <a:spLocks noChangeArrowheads="1"/>
          </p:cNvSpPr>
          <p:nvPr/>
        </p:nvSpPr>
        <p:spPr bwMode="auto">
          <a:xfrm>
            <a:off x="838200" y="4599280"/>
            <a:ext cx="1114920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0" fontAlgn="base" hangingPunct="0">
              <a:lnSpc>
                <a:spcPct val="100000"/>
              </a:lnSpc>
              <a:spcBef>
                <a:spcPct val="0"/>
              </a:spcBef>
              <a:spcAft>
                <a:spcPct val="0"/>
              </a:spcAft>
              <a:buFont typeface="Wingdings" panose="05000000000000000000" pitchFamily="2" charset="2"/>
              <a:buChar char="ü"/>
            </a:pPr>
            <a:r>
              <a:rPr lang="en-US" altLang="en-US" sz="1800" dirty="0">
                <a:latin typeface="Arial" panose="020B0604020202020204" pitchFamily="34" charset="0"/>
              </a:rPr>
              <a:t>Random Forest is the best model – Lowest RMSE, Highest R2, Good training time</a:t>
            </a:r>
          </a:p>
          <a:p>
            <a:pPr eaLnBrk="0" fontAlgn="base" hangingPunct="0">
              <a:lnSpc>
                <a:spcPct val="100000"/>
              </a:lnSpc>
              <a:spcBef>
                <a:spcPct val="0"/>
              </a:spcBef>
              <a:spcAft>
                <a:spcPct val="0"/>
              </a:spcAft>
              <a:buFont typeface="Wingdings" panose="05000000000000000000" pitchFamily="2" charset="2"/>
              <a:buChar char="ü"/>
            </a:pPr>
            <a:r>
              <a:rPr lang="en-US" altLang="en-US" sz="1800" dirty="0">
                <a:latin typeface="Arial" panose="020B0604020202020204" pitchFamily="34" charset="0"/>
              </a:rPr>
              <a:t>Decision Tree is second – Slightly worse than RF, still very strong</a:t>
            </a:r>
          </a:p>
          <a:p>
            <a:pPr eaLnBrk="0" fontAlgn="base" hangingPunct="0">
              <a:lnSpc>
                <a:spcPct val="100000"/>
              </a:lnSpc>
              <a:spcBef>
                <a:spcPct val="0"/>
              </a:spcBef>
              <a:spcAft>
                <a:spcPct val="0"/>
              </a:spcAft>
              <a:buFont typeface="Wingdings" panose="05000000000000000000" pitchFamily="2" charset="2"/>
              <a:buChar char="ü"/>
            </a:pPr>
            <a:r>
              <a:rPr lang="en-US" altLang="en-US" sz="1800" dirty="0" err="1">
                <a:latin typeface="Arial" panose="020B0604020202020204" pitchFamily="34" charset="0"/>
              </a:rPr>
              <a:t>XGBoost</a:t>
            </a:r>
            <a:r>
              <a:rPr lang="en-US" altLang="en-US" sz="1800" dirty="0">
                <a:latin typeface="Arial" panose="020B0604020202020204" pitchFamily="34" charset="0"/>
              </a:rPr>
              <a:t> is third – Good but not better than RF</a:t>
            </a:r>
          </a:p>
          <a:p>
            <a:pPr eaLnBrk="0" fontAlgn="base" hangingPunct="0">
              <a:lnSpc>
                <a:spcPct val="100000"/>
              </a:lnSpc>
              <a:spcBef>
                <a:spcPct val="0"/>
              </a:spcBef>
              <a:spcAft>
                <a:spcPct val="0"/>
              </a:spcAft>
              <a:buFont typeface="Wingdings" panose="05000000000000000000" pitchFamily="2" charset="2"/>
              <a:buChar char="ü"/>
            </a:pPr>
            <a:r>
              <a:rPr lang="en-US" altLang="en-US" sz="1800" dirty="0">
                <a:latin typeface="Arial" panose="020B0604020202020204" pitchFamily="34" charset="0"/>
              </a:rPr>
              <a:t>Linear Regression is the weakest – Too simple for dataset</a:t>
            </a:r>
          </a:p>
        </p:txBody>
      </p:sp>
    </p:spTree>
    <p:extLst>
      <p:ext uri="{BB962C8B-B14F-4D97-AF65-F5344CB8AC3E}">
        <p14:creationId xmlns:p14="http://schemas.microsoft.com/office/powerpoint/2010/main" val="3770131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F4B676-0859-D5DE-3916-ACDF19A3549B}"/>
              </a:ext>
            </a:extLst>
          </p:cNvPr>
          <p:cNvSpPr>
            <a:spLocks noGrp="1"/>
          </p:cNvSpPr>
          <p:nvPr>
            <p:ph type="title"/>
          </p:nvPr>
        </p:nvSpPr>
        <p:spPr>
          <a:xfrm>
            <a:off x="1136397" y="502020"/>
            <a:ext cx="5323715" cy="1642970"/>
          </a:xfrm>
        </p:spPr>
        <p:txBody>
          <a:bodyPr anchor="b">
            <a:normAutofit/>
          </a:bodyPr>
          <a:lstStyle/>
          <a:p>
            <a:r>
              <a:rPr lang="en-PH" sz="4000" b="1" dirty="0"/>
              <a:t>Feature Importance &amp; Explainability</a:t>
            </a:r>
          </a:p>
        </p:txBody>
      </p:sp>
      <p:sp>
        <p:nvSpPr>
          <p:cNvPr id="4" name="Rectangle 1">
            <a:extLst>
              <a:ext uri="{FF2B5EF4-FFF2-40B4-BE49-F238E27FC236}">
                <a16:creationId xmlns:a16="http://schemas.microsoft.com/office/drawing/2014/main" id="{AF0B465C-479E-03EB-8311-011B2EC1E203}"/>
              </a:ext>
            </a:extLst>
          </p:cNvPr>
          <p:cNvSpPr>
            <a:spLocks noGrp="1" noChangeArrowheads="1"/>
          </p:cNvSpPr>
          <p:nvPr>
            <p:ph idx="1"/>
          </p:nvPr>
        </p:nvSpPr>
        <p:spPr bwMode="auto">
          <a:xfrm>
            <a:off x="1136397" y="2253183"/>
            <a:ext cx="5790496" cy="353508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Autofit/>
          </a:bodyPr>
          <a:lstStyle/>
          <a:p>
            <a:pPr eaLnBrk="0" fontAlgn="base" hangingPunct="0">
              <a:spcBef>
                <a:spcPct val="0"/>
              </a:spcBef>
              <a:spcAft>
                <a:spcPts val="600"/>
              </a:spcAft>
            </a:pPr>
            <a:r>
              <a:rPr kumimoji="0" lang="en-US" altLang="en-US" sz="1800" b="1" i="0" u="none" strike="noStrike" cap="none" normalizeH="0" baseline="0" dirty="0">
                <a:ln>
                  <a:noFill/>
                </a:ln>
                <a:effectLst/>
                <a:latin typeface="Arial" panose="020B0604020202020204" pitchFamily="34" charset="0"/>
              </a:rPr>
              <a:t>Random Forest Feature Importance</a:t>
            </a:r>
            <a:r>
              <a:rPr kumimoji="0" lang="en-US" altLang="en-US" sz="1800" b="0" i="0" u="none" strike="noStrike" cap="none" normalizeH="0" baseline="0" dirty="0">
                <a:ln>
                  <a:noFill/>
                </a:ln>
                <a:effectLst/>
                <a:latin typeface="Arial" panose="020B0604020202020204" pitchFamily="34" charset="0"/>
              </a:rPr>
              <a:t> The model identified </a:t>
            </a:r>
            <a:r>
              <a:rPr lang="en-US" altLang="en-US" sz="1800" dirty="0" err="1">
                <a:latin typeface="Arial" panose="020B0604020202020204" pitchFamily="34" charset="0"/>
              </a:rPr>
              <a:t>station_mean_ridership</a:t>
            </a:r>
            <a:r>
              <a:rPr lang="en-US" altLang="en-US" sz="1800" dirty="0">
                <a:latin typeface="Arial" panose="020B0604020202020204" pitchFamily="34" charset="0"/>
              </a:rPr>
              <a:t> as the strongest predictor, followed by specific station identifiers (e.g., STN05), confirming that station-level operational patterns heavily influence ridership. Weather conditions (Rain, Storm) also contributed meaningfully, while temporal features (</a:t>
            </a:r>
            <a:r>
              <a:rPr lang="en-US" altLang="en-US" sz="1800" dirty="0" err="1">
                <a:latin typeface="Arial" panose="020B0604020202020204" pitchFamily="34" charset="0"/>
              </a:rPr>
              <a:t>day_of_week</a:t>
            </a:r>
            <a:r>
              <a:rPr lang="en-US" altLang="en-US" sz="1800" dirty="0">
                <a:latin typeface="Arial" panose="020B0604020202020204" pitchFamily="34" charset="0"/>
              </a:rPr>
              <a:t>, month) had smaller but non-zero effects.</a:t>
            </a:r>
          </a:p>
          <a:p>
            <a:pPr eaLnBrk="0" fontAlgn="base" hangingPunct="0">
              <a:spcBef>
                <a:spcPct val="0"/>
              </a:spcBef>
              <a:spcAft>
                <a:spcPts val="600"/>
              </a:spcAft>
            </a:pPr>
            <a:r>
              <a:rPr lang="en-US" altLang="en-US" sz="1800" b="1" dirty="0">
                <a:latin typeface="Arial" panose="020B0604020202020204" pitchFamily="34" charset="0"/>
              </a:rPr>
              <a:t>Interpretability Insights </a:t>
            </a:r>
            <a:r>
              <a:rPr lang="en-US" altLang="en-US" sz="1800" dirty="0">
                <a:latin typeface="Arial" panose="020B0604020202020204" pitchFamily="34" charset="0"/>
              </a:rPr>
              <a:t>The dominance of station-level features validates the engineered domain </a:t>
            </a:r>
            <a:r>
              <a:rPr kumimoji="0" lang="en-US" altLang="en-US" sz="1800" b="0" i="0" u="none" strike="noStrike" cap="none" normalizeH="0" baseline="0" dirty="0">
                <a:ln>
                  <a:noFill/>
                </a:ln>
                <a:effectLst/>
                <a:latin typeface="Arial" panose="020B0604020202020204" pitchFamily="34" charset="0"/>
              </a:rPr>
              <a:t>feature and highlights spatial variability in passenger demand. Weather-related predictors indicate sensitivity to external operational conditions. Shift-type features contributed modestly, reflecting expected differences between morning, afternoon, and night operations.</a:t>
            </a:r>
          </a:p>
        </p:txBody>
      </p:sp>
      <p:sp>
        <p:nvSpPr>
          <p:cNvPr id="13" name="Rectangle 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7C38B3E7-73EC-86A1-06BA-EF489AD3BD85}"/>
              </a:ext>
            </a:extLst>
          </p:cNvPr>
          <p:cNvPicPr>
            <a:picLocks noChangeAspect="1"/>
          </p:cNvPicPr>
          <p:nvPr/>
        </p:nvPicPr>
        <p:blipFill>
          <a:blip r:embed="rId3"/>
          <a:stretch>
            <a:fillRect/>
          </a:stretch>
        </p:blipFill>
        <p:spPr>
          <a:xfrm>
            <a:off x="7075967" y="1678604"/>
            <a:ext cx="4170530" cy="3532684"/>
          </a:xfrm>
          <a:prstGeom prst="rect">
            <a:avLst/>
          </a:prstGeom>
        </p:spPr>
      </p:pic>
    </p:spTree>
    <p:extLst>
      <p:ext uri="{BB962C8B-B14F-4D97-AF65-F5344CB8AC3E}">
        <p14:creationId xmlns:p14="http://schemas.microsoft.com/office/powerpoint/2010/main" val="3832381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15" name="Rectangle 14">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1923C04-2E3E-30B9-3552-4EF53441F88A}"/>
              </a:ext>
            </a:extLst>
          </p:cNvPr>
          <p:cNvSpPr>
            <a:spLocks noGrp="1"/>
          </p:cNvSpPr>
          <p:nvPr>
            <p:ph type="title"/>
          </p:nvPr>
        </p:nvSpPr>
        <p:spPr>
          <a:xfrm>
            <a:off x="1371598" y="319314"/>
            <a:ext cx="9477377" cy="1030515"/>
          </a:xfrm>
        </p:spPr>
        <p:txBody>
          <a:bodyPr anchor="ctr">
            <a:normAutofit/>
          </a:bodyPr>
          <a:lstStyle/>
          <a:p>
            <a:r>
              <a:rPr lang="en-PH" sz="4000" b="1">
                <a:solidFill>
                  <a:srgbClr val="FFFFFF"/>
                </a:solidFill>
              </a:rPr>
              <a:t>Feature Importance &amp; Explainability</a:t>
            </a:r>
          </a:p>
        </p:txBody>
      </p:sp>
      <p:pic>
        <p:nvPicPr>
          <p:cNvPr id="5" name="Picture 4">
            <a:extLst>
              <a:ext uri="{FF2B5EF4-FFF2-40B4-BE49-F238E27FC236}">
                <a16:creationId xmlns:a16="http://schemas.microsoft.com/office/drawing/2014/main" id="{345D80EA-13C7-D0C1-4D17-03480D9209D5}"/>
              </a:ext>
            </a:extLst>
          </p:cNvPr>
          <p:cNvPicPr>
            <a:picLocks noChangeAspect="1"/>
          </p:cNvPicPr>
          <p:nvPr/>
        </p:nvPicPr>
        <p:blipFill>
          <a:blip r:embed="rId2"/>
          <a:stretch>
            <a:fillRect/>
          </a:stretch>
        </p:blipFill>
        <p:spPr>
          <a:xfrm>
            <a:off x="1665273" y="1787654"/>
            <a:ext cx="3608183" cy="3166182"/>
          </a:xfrm>
          <a:prstGeom prst="rect">
            <a:avLst/>
          </a:prstGeom>
        </p:spPr>
      </p:pic>
      <p:pic>
        <p:nvPicPr>
          <p:cNvPr id="7" name="Picture 6">
            <a:extLst>
              <a:ext uri="{FF2B5EF4-FFF2-40B4-BE49-F238E27FC236}">
                <a16:creationId xmlns:a16="http://schemas.microsoft.com/office/drawing/2014/main" id="{AB14F7CA-E997-73BD-0FF2-2D10EC7815F9}"/>
              </a:ext>
            </a:extLst>
          </p:cNvPr>
          <p:cNvPicPr>
            <a:picLocks noChangeAspect="1"/>
          </p:cNvPicPr>
          <p:nvPr/>
        </p:nvPicPr>
        <p:blipFill>
          <a:blip r:embed="rId3"/>
          <a:stretch>
            <a:fillRect/>
          </a:stretch>
        </p:blipFill>
        <p:spPr>
          <a:xfrm>
            <a:off x="5541161" y="2713535"/>
            <a:ext cx="6437933" cy="1207112"/>
          </a:xfrm>
          <a:prstGeom prst="rect">
            <a:avLst/>
          </a:prstGeom>
        </p:spPr>
      </p:pic>
      <p:sp>
        <p:nvSpPr>
          <p:cNvPr id="3" name="Content Placeholder 2">
            <a:extLst>
              <a:ext uri="{FF2B5EF4-FFF2-40B4-BE49-F238E27FC236}">
                <a16:creationId xmlns:a16="http://schemas.microsoft.com/office/drawing/2014/main" id="{0F5E53FD-D5AE-CD60-1BED-828749B8C776}"/>
              </a:ext>
            </a:extLst>
          </p:cNvPr>
          <p:cNvSpPr>
            <a:spLocks noGrp="1"/>
          </p:cNvSpPr>
          <p:nvPr>
            <p:ph idx="1"/>
          </p:nvPr>
        </p:nvSpPr>
        <p:spPr>
          <a:xfrm>
            <a:off x="1371598" y="5070346"/>
            <a:ext cx="9496427" cy="1385266"/>
          </a:xfrm>
        </p:spPr>
        <p:txBody>
          <a:bodyPr>
            <a:normAutofit/>
          </a:bodyPr>
          <a:lstStyle/>
          <a:p>
            <a:r>
              <a:rPr lang="en-US" sz="2000" b="1" dirty="0">
                <a:effectLst/>
              </a:rPr>
              <a:t>SHAP Explainability</a:t>
            </a:r>
            <a:r>
              <a:rPr lang="en-US" sz="2000" dirty="0">
                <a:effectLst/>
              </a:rPr>
              <a:t> SHAP visualizations (</a:t>
            </a:r>
            <a:r>
              <a:rPr lang="en-US" sz="2000" dirty="0" err="1">
                <a:effectLst/>
              </a:rPr>
              <a:t>beeswarm</a:t>
            </a:r>
            <a:r>
              <a:rPr lang="en-US" sz="2000" dirty="0">
                <a:effectLst/>
              </a:rPr>
              <a:t> and force plots) were used to interpret individual predictions and global feature effects. These plots illustrate how each feature increases or decreases predicted ridership for specific observations, supporting transparent model behavior.</a:t>
            </a:r>
            <a:endParaRPr lang="en-US" sz="2000" dirty="0"/>
          </a:p>
          <a:p>
            <a:pPr marL="0" indent="0">
              <a:buNone/>
            </a:pPr>
            <a:endParaRPr lang="en-PH" sz="2000" dirty="0"/>
          </a:p>
        </p:txBody>
      </p:sp>
    </p:spTree>
    <p:extLst>
      <p:ext uri="{BB962C8B-B14F-4D97-AF65-F5344CB8AC3E}">
        <p14:creationId xmlns:p14="http://schemas.microsoft.com/office/powerpoint/2010/main" val="256862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B4CB61-00D3-021D-DC34-826A73FA6D3F}"/>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FDEF42F-C5FF-0BAF-7FA2-76C880E1DB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AD21E6B-48CC-FCC6-05A9-9854CBDE1E1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15" name="Rectangle 14">
              <a:extLst>
                <a:ext uri="{FF2B5EF4-FFF2-40B4-BE49-F238E27FC236}">
                  <a16:creationId xmlns:a16="http://schemas.microsoft.com/office/drawing/2014/main" id="{0E35A88D-696C-5B8C-6A9B-F34DCABE9F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88ACF20-B73F-2FB9-29D6-5D47012A9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442E9EAE-FA45-B5C0-5CDF-2302A6451D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1A51F0B-062B-993A-23EA-3F1FC23D7CD6}"/>
              </a:ext>
            </a:extLst>
          </p:cNvPr>
          <p:cNvSpPr>
            <a:spLocks noGrp="1"/>
          </p:cNvSpPr>
          <p:nvPr>
            <p:ph type="title"/>
          </p:nvPr>
        </p:nvSpPr>
        <p:spPr>
          <a:xfrm>
            <a:off x="1371598" y="319314"/>
            <a:ext cx="9477377" cy="1030515"/>
          </a:xfrm>
        </p:spPr>
        <p:txBody>
          <a:bodyPr anchor="ctr">
            <a:normAutofit/>
          </a:bodyPr>
          <a:lstStyle/>
          <a:p>
            <a:r>
              <a:rPr lang="en-PH" sz="4000" b="1">
                <a:solidFill>
                  <a:srgbClr val="FFFFFF"/>
                </a:solidFill>
              </a:rPr>
              <a:t>Feature Importance &amp; Explainability</a:t>
            </a:r>
          </a:p>
        </p:txBody>
      </p:sp>
      <p:pic>
        <p:nvPicPr>
          <p:cNvPr id="6" name="Picture 5">
            <a:extLst>
              <a:ext uri="{FF2B5EF4-FFF2-40B4-BE49-F238E27FC236}">
                <a16:creationId xmlns:a16="http://schemas.microsoft.com/office/drawing/2014/main" id="{521D7F19-37FF-1832-D3B1-7FC3901FE0A7}"/>
              </a:ext>
            </a:extLst>
          </p:cNvPr>
          <p:cNvPicPr>
            <a:picLocks noChangeAspect="1"/>
          </p:cNvPicPr>
          <p:nvPr/>
        </p:nvPicPr>
        <p:blipFill>
          <a:blip r:embed="rId3"/>
          <a:stretch>
            <a:fillRect/>
          </a:stretch>
        </p:blipFill>
        <p:spPr>
          <a:xfrm>
            <a:off x="1704103" y="1669143"/>
            <a:ext cx="4671646" cy="3741719"/>
          </a:xfrm>
          <a:prstGeom prst="rect">
            <a:avLst/>
          </a:prstGeom>
        </p:spPr>
      </p:pic>
      <p:sp>
        <p:nvSpPr>
          <p:cNvPr id="10" name="Content Placeholder 2">
            <a:extLst>
              <a:ext uri="{FF2B5EF4-FFF2-40B4-BE49-F238E27FC236}">
                <a16:creationId xmlns:a16="http://schemas.microsoft.com/office/drawing/2014/main" id="{5F63AF26-B36C-B13B-D019-E6CE05463087}"/>
              </a:ext>
            </a:extLst>
          </p:cNvPr>
          <p:cNvSpPr>
            <a:spLocks noGrp="1"/>
          </p:cNvSpPr>
          <p:nvPr>
            <p:ph idx="1"/>
          </p:nvPr>
        </p:nvSpPr>
        <p:spPr>
          <a:xfrm>
            <a:off x="1008343" y="5735630"/>
            <a:ext cx="10177399" cy="803056"/>
          </a:xfrm>
        </p:spPr>
        <p:txBody>
          <a:bodyPr>
            <a:normAutofit/>
          </a:bodyPr>
          <a:lstStyle/>
          <a:p>
            <a:r>
              <a:rPr lang="en-US" sz="2000" b="1" dirty="0">
                <a:effectLst/>
              </a:rPr>
              <a:t>SHAP Explainability</a:t>
            </a:r>
            <a:r>
              <a:rPr lang="en-US" sz="2000" dirty="0">
                <a:effectLst/>
              </a:rPr>
              <a:t>  </a:t>
            </a:r>
            <a:r>
              <a:rPr lang="en-US" sz="2000" dirty="0"/>
              <a:t>SHAP visualizations provide both global and local interpretability, demonstrating how individual features push predictions higher or lower.</a:t>
            </a:r>
            <a:endParaRPr lang="en-PH" sz="2000" dirty="0"/>
          </a:p>
        </p:txBody>
      </p:sp>
    </p:spTree>
    <p:extLst>
      <p:ext uri="{BB962C8B-B14F-4D97-AF65-F5344CB8AC3E}">
        <p14:creationId xmlns:p14="http://schemas.microsoft.com/office/powerpoint/2010/main" val="33715507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BA2225-8139-B757-77AD-23D476ED130B}"/>
              </a:ext>
            </a:extLst>
          </p:cNvPr>
          <p:cNvSpPr>
            <a:spLocks noGrp="1"/>
          </p:cNvSpPr>
          <p:nvPr>
            <p:ph type="title"/>
          </p:nvPr>
        </p:nvSpPr>
        <p:spPr>
          <a:xfrm>
            <a:off x="466722" y="586855"/>
            <a:ext cx="3201366" cy="3387497"/>
          </a:xfrm>
        </p:spPr>
        <p:txBody>
          <a:bodyPr anchor="b">
            <a:normAutofit/>
          </a:bodyPr>
          <a:lstStyle/>
          <a:p>
            <a:pPr algn="r"/>
            <a:r>
              <a:rPr lang="en-PH" sz="4000" b="1">
                <a:solidFill>
                  <a:srgbClr val="FFFFFF"/>
                </a:solidFill>
              </a:rPr>
              <a:t>Limitations &amp; Future Work</a:t>
            </a:r>
          </a:p>
        </p:txBody>
      </p:sp>
      <p:sp>
        <p:nvSpPr>
          <p:cNvPr id="15" name="Content Placeholder 2">
            <a:extLst>
              <a:ext uri="{FF2B5EF4-FFF2-40B4-BE49-F238E27FC236}">
                <a16:creationId xmlns:a16="http://schemas.microsoft.com/office/drawing/2014/main" id="{0ABB1277-AE7E-E8F4-260F-1D8A445214A5}"/>
              </a:ext>
            </a:extLst>
          </p:cNvPr>
          <p:cNvSpPr>
            <a:spLocks noGrp="1"/>
          </p:cNvSpPr>
          <p:nvPr>
            <p:ph idx="1"/>
          </p:nvPr>
        </p:nvSpPr>
        <p:spPr>
          <a:xfrm>
            <a:off x="4367695" y="687063"/>
            <a:ext cx="7569609" cy="6012493"/>
          </a:xfrm>
        </p:spPr>
        <p:txBody>
          <a:bodyPr anchor="ctr">
            <a:noAutofit/>
          </a:bodyPr>
          <a:lstStyle/>
          <a:p>
            <a:pPr marL="0" indent="0">
              <a:spcBef>
                <a:spcPts val="0"/>
              </a:spcBef>
              <a:buNone/>
            </a:pPr>
            <a:r>
              <a:rPr lang="en-US" sz="1800" b="1" dirty="0"/>
              <a:t>Limitations Summary</a:t>
            </a:r>
          </a:p>
          <a:p>
            <a:pPr marL="0" indent="0">
              <a:spcBef>
                <a:spcPts val="0"/>
              </a:spcBef>
              <a:buNone/>
            </a:pPr>
            <a:r>
              <a:rPr lang="en-US" sz="1800" dirty="0"/>
              <a:t>1) Representation Imbalance</a:t>
            </a:r>
          </a:p>
          <a:p>
            <a:pPr>
              <a:spcBef>
                <a:spcPts val="0"/>
              </a:spcBef>
            </a:pPr>
            <a:r>
              <a:rPr lang="en-US" sz="1800" dirty="0"/>
              <a:t>Some stations, shifts, or weather conditions have fewer samples.</a:t>
            </a:r>
          </a:p>
          <a:p>
            <a:pPr>
              <a:spcBef>
                <a:spcPts val="0"/>
              </a:spcBef>
            </a:pPr>
            <a:r>
              <a:rPr lang="en-US" sz="1800" dirty="0"/>
              <a:t>This reduces generalization for underrepresented groups.</a:t>
            </a:r>
          </a:p>
          <a:p>
            <a:pPr>
              <a:spcBef>
                <a:spcPts val="0"/>
              </a:spcBef>
            </a:pPr>
            <a:r>
              <a:rPr lang="en-US" sz="1800" dirty="0"/>
              <a:t>Mitigation: tree-based models + cross-validation reduce sensitivity.</a:t>
            </a:r>
          </a:p>
          <a:p>
            <a:pPr marL="0" indent="0">
              <a:spcBef>
                <a:spcPts val="0"/>
              </a:spcBef>
              <a:buNone/>
            </a:pPr>
            <a:r>
              <a:rPr lang="en-US" sz="1800" dirty="0"/>
              <a:t>2) Station-Level Error Variability</a:t>
            </a:r>
          </a:p>
          <a:p>
            <a:pPr>
              <a:spcBef>
                <a:spcPts val="0"/>
              </a:spcBef>
            </a:pPr>
            <a:r>
              <a:rPr lang="en-US" sz="1800" dirty="0"/>
              <a:t> Residual audits show some stations consistently have higher errors.</a:t>
            </a:r>
          </a:p>
          <a:p>
            <a:pPr>
              <a:spcBef>
                <a:spcPts val="0"/>
              </a:spcBef>
            </a:pPr>
            <a:r>
              <a:rPr lang="en-US" sz="1800" dirty="0"/>
              <a:t> Indicates uneven generalization across locations.</a:t>
            </a:r>
          </a:p>
          <a:p>
            <a:pPr>
              <a:spcBef>
                <a:spcPts val="0"/>
              </a:spcBef>
            </a:pPr>
            <a:r>
              <a:rPr lang="en-US" sz="1800" dirty="0"/>
              <a:t> Mitigation: consider station-specific models or hierarchical modeling.</a:t>
            </a:r>
          </a:p>
          <a:p>
            <a:pPr marL="0" indent="0">
              <a:spcBef>
                <a:spcPts val="0"/>
              </a:spcBef>
              <a:buNone/>
            </a:pPr>
            <a:r>
              <a:rPr lang="en-US" sz="1800" dirty="0"/>
              <a:t>3) Potential Data Leakage</a:t>
            </a:r>
          </a:p>
          <a:p>
            <a:pPr>
              <a:spcBef>
                <a:spcPts val="0"/>
              </a:spcBef>
            </a:pPr>
            <a:r>
              <a:rPr lang="en-US" sz="1800" dirty="0"/>
              <a:t> Temporal leakage was considered and mitigated via chronological splits.</a:t>
            </a:r>
          </a:p>
          <a:p>
            <a:pPr>
              <a:spcBef>
                <a:spcPts val="0"/>
              </a:spcBef>
            </a:pPr>
            <a:r>
              <a:rPr lang="en-US" sz="1800" dirty="0"/>
              <a:t> No explicit target leakage features were included.</a:t>
            </a:r>
          </a:p>
          <a:p>
            <a:pPr marL="0" indent="0">
              <a:spcBef>
                <a:spcPts val="0"/>
              </a:spcBef>
              <a:buNone/>
            </a:pPr>
            <a:r>
              <a:rPr lang="en-US" sz="1800" dirty="0"/>
              <a:t>4) Overfitting Risk</a:t>
            </a:r>
          </a:p>
          <a:p>
            <a:pPr>
              <a:spcBef>
                <a:spcPts val="0"/>
              </a:spcBef>
            </a:pPr>
            <a:r>
              <a:rPr lang="en-US" sz="1800" dirty="0"/>
              <a:t>Strong performance may still mask mild overfitting.</a:t>
            </a:r>
          </a:p>
          <a:p>
            <a:pPr>
              <a:spcBef>
                <a:spcPts val="0"/>
              </a:spcBef>
            </a:pPr>
            <a:r>
              <a:rPr lang="en-US" sz="1800" dirty="0"/>
              <a:t>Mitigation: cross-validation, tuning, and smooth PDP/ICE/SHAP behavior.</a:t>
            </a:r>
          </a:p>
          <a:p>
            <a:pPr marL="0" indent="0">
              <a:spcBef>
                <a:spcPts val="0"/>
              </a:spcBef>
              <a:buNone/>
            </a:pPr>
            <a:r>
              <a:rPr lang="en-US" sz="1800" dirty="0"/>
              <a:t>5) Feature Sensitivity and Portability</a:t>
            </a:r>
          </a:p>
          <a:p>
            <a:pPr>
              <a:spcBef>
                <a:spcPts val="0"/>
              </a:spcBef>
            </a:pPr>
            <a:r>
              <a:rPr lang="en-US" sz="1800" dirty="0"/>
              <a:t>Model heavily depends on </a:t>
            </a:r>
            <a:r>
              <a:rPr lang="en-US" sz="1800" dirty="0" err="1"/>
              <a:t>station_mean_ridership</a:t>
            </a:r>
            <a:r>
              <a:rPr lang="en-US" sz="1800" dirty="0"/>
              <a:t> and station encodings.</a:t>
            </a:r>
          </a:p>
          <a:p>
            <a:pPr>
              <a:spcBef>
                <a:spcPts val="0"/>
              </a:spcBef>
            </a:pPr>
            <a:r>
              <a:rPr lang="en-US" sz="1800" dirty="0"/>
              <a:t>May not generalize well to new or unseen stations.</a:t>
            </a:r>
          </a:p>
          <a:p>
            <a:pPr marL="0" indent="0">
              <a:spcBef>
                <a:spcPts val="0"/>
              </a:spcBef>
              <a:buNone/>
            </a:pPr>
            <a:r>
              <a:rPr lang="en-US" sz="1800" dirty="0"/>
              <a:t>6) External and Temporal Factors Not Modeled</a:t>
            </a:r>
          </a:p>
          <a:p>
            <a:pPr>
              <a:spcBef>
                <a:spcPts val="0"/>
              </a:spcBef>
            </a:pPr>
            <a:r>
              <a:rPr lang="en-US" sz="1800" dirty="0"/>
              <a:t>Events, holidays, disruptions, and traffic are not included.</a:t>
            </a:r>
          </a:p>
          <a:p>
            <a:pPr>
              <a:spcBef>
                <a:spcPts val="0"/>
              </a:spcBef>
            </a:pPr>
            <a:r>
              <a:rPr lang="en-US" sz="1800" dirty="0"/>
              <a:t>Temporal drift may degrade performance over time.</a:t>
            </a:r>
          </a:p>
          <a:p>
            <a:pPr marL="0" indent="0">
              <a:spcBef>
                <a:spcPts val="0"/>
              </a:spcBef>
              <a:buNone/>
            </a:pPr>
            <a:endParaRPr lang="en-US" sz="1800" dirty="0"/>
          </a:p>
          <a:p>
            <a:pPr marL="0" indent="0">
              <a:spcBef>
                <a:spcPts val="0"/>
              </a:spcBef>
              <a:buNone/>
            </a:pPr>
            <a:r>
              <a:rPr lang="en-US" sz="1800" dirty="0"/>
              <a:t>These limitations should be considered when deploying and monitoring the model.</a:t>
            </a:r>
          </a:p>
          <a:p>
            <a:endParaRPr lang="en-PH" sz="1800" dirty="0"/>
          </a:p>
        </p:txBody>
      </p:sp>
    </p:spTree>
    <p:extLst>
      <p:ext uri="{BB962C8B-B14F-4D97-AF65-F5344CB8AC3E}">
        <p14:creationId xmlns:p14="http://schemas.microsoft.com/office/powerpoint/2010/main" val="6755976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9A4D1F-3579-7F2C-8415-CE688462D088}"/>
              </a:ext>
            </a:extLst>
          </p:cNvPr>
          <p:cNvSpPr>
            <a:spLocks noGrp="1"/>
          </p:cNvSpPr>
          <p:nvPr>
            <p:ph type="title"/>
          </p:nvPr>
        </p:nvSpPr>
        <p:spPr>
          <a:xfrm>
            <a:off x="466722" y="586855"/>
            <a:ext cx="3201366" cy="3387497"/>
          </a:xfrm>
        </p:spPr>
        <p:txBody>
          <a:bodyPr anchor="b">
            <a:normAutofit/>
          </a:bodyPr>
          <a:lstStyle/>
          <a:p>
            <a:pPr algn="r"/>
            <a:r>
              <a:rPr lang="en-PH" sz="4000" b="1">
                <a:solidFill>
                  <a:srgbClr val="FFFFFF"/>
                </a:solidFill>
              </a:rPr>
              <a:t>Limitations &amp; Future Work</a:t>
            </a:r>
          </a:p>
        </p:txBody>
      </p:sp>
      <p:sp>
        <p:nvSpPr>
          <p:cNvPr id="3" name="Content Placeholder 2">
            <a:extLst>
              <a:ext uri="{FF2B5EF4-FFF2-40B4-BE49-F238E27FC236}">
                <a16:creationId xmlns:a16="http://schemas.microsoft.com/office/drawing/2014/main" id="{DEF85E7A-9FE1-EF67-92D4-1C915533924D}"/>
              </a:ext>
            </a:extLst>
          </p:cNvPr>
          <p:cNvSpPr>
            <a:spLocks noGrp="1"/>
          </p:cNvSpPr>
          <p:nvPr>
            <p:ph idx="1"/>
          </p:nvPr>
        </p:nvSpPr>
        <p:spPr>
          <a:xfrm>
            <a:off x="4810259" y="649480"/>
            <a:ext cx="6555347" cy="5546047"/>
          </a:xfrm>
        </p:spPr>
        <p:txBody>
          <a:bodyPr anchor="ctr">
            <a:normAutofit/>
          </a:bodyPr>
          <a:lstStyle/>
          <a:p>
            <a:pPr marL="0" indent="0">
              <a:buNone/>
            </a:pPr>
            <a:r>
              <a:rPr lang="en-US" sz="2000" b="1">
                <a:effectLst/>
              </a:rPr>
              <a:t>Future Work</a:t>
            </a:r>
            <a:endParaRPr lang="en-US" sz="2000"/>
          </a:p>
          <a:p>
            <a:r>
              <a:rPr lang="en-US" sz="2000" b="1">
                <a:effectLst/>
              </a:rPr>
              <a:t>Expand dataset to a full year</a:t>
            </a:r>
            <a:r>
              <a:rPr lang="en-US" sz="2000">
                <a:effectLst/>
              </a:rPr>
              <a:t> to capture seasonality, long‑term trends, and holiday effects more accurately.</a:t>
            </a:r>
            <a:endParaRPr lang="en-US" sz="2000"/>
          </a:p>
          <a:p>
            <a:r>
              <a:rPr lang="en-US" sz="2000" b="1">
                <a:effectLst/>
              </a:rPr>
              <a:t>Integrate true staffing requirement labels</a:t>
            </a:r>
            <a:r>
              <a:rPr lang="en-US" sz="2000">
                <a:effectLst/>
              </a:rPr>
              <a:t> to directly model workforce needs instead of relying on ridership as a proxy.</a:t>
            </a:r>
            <a:endParaRPr lang="en-US" sz="2000"/>
          </a:p>
          <a:p>
            <a:r>
              <a:rPr lang="en-US" sz="2000" b="1">
                <a:effectLst/>
              </a:rPr>
              <a:t>Apply advanced forecasting models</a:t>
            </a:r>
            <a:r>
              <a:rPr lang="en-US" sz="2000">
                <a:effectLst/>
              </a:rPr>
              <a:t> such as LSTM, Prophet, or temporal gradient boosting for sequential prediction.</a:t>
            </a:r>
            <a:endParaRPr lang="en-US" sz="2000"/>
          </a:p>
          <a:p>
            <a:r>
              <a:rPr lang="en-US" sz="2000" b="1">
                <a:effectLst/>
              </a:rPr>
              <a:t>Perform systematic hyperparameter tuning</a:t>
            </a:r>
            <a:r>
              <a:rPr lang="en-US" sz="2000">
                <a:effectLst/>
              </a:rPr>
              <a:t> (GridSearch, RandomizedSearch, or Bayesian optimization) to improve model performance.</a:t>
            </a:r>
            <a:endParaRPr lang="en-US" sz="2000"/>
          </a:p>
          <a:p>
            <a:r>
              <a:rPr lang="en-US" sz="2000" b="1">
                <a:effectLst/>
              </a:rPr>
              <a:t>Deploy the model operationally</a:t>
            </a:r>
            <a:r>
              <a:rPr lang="en-US" sz="2000">
                <a:effectLst/>
              </a:rPr>
              <a:t> via an API or dashboard to support real‑time scheduling decisions.</a:t>
            </a:r>
            <a:endParaRPr lang="en-US" sz="2000"/>
          </a:p>
          <a:p>
            <a:r>
              <a:rPr lang="en-US" sz="2000" b="1">
                <a:effectLst/>
              </a:rPr>
              <a:t>Add fairness and bias checks</a:t>
            </a:r>
            <a:r>
              <a:rPr lang="en-US" sz="2000">
                <a:effectLst/>
              </a:rPr>
              <a:t> to ensure station‑level predictions do not systematically over‑ or under‑estimate staffing needs</a:t>
            </a:r>
            <a:endParaRPr lang="en-US" sz="2000"/>
          </a:p>
          <a:p>
            <a:endParaRPr lang="en-PH" sz="2000"/>
          </a:p>
        </p:txBody>
      </p:sp>
    </p:spTree>
    <p:extLst>
      <p:ext uri="{BB962C8B-B14F-4D97-AF65-F5344CB8AC3E}">
        <p14:creationId xmlns:p14="http://schemas.microsoft.com/office/powerpoint/2010/main" val="17811957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TotalTime>
  <Words>2393</Words>
  <Application>Microsoft Office PowerPoint</Application>
  <PresentationFormat>Widescreen</PresentationFormat>
  <Paragraphs>182</Paragraphs>
  <Slides>19</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Wingdings</vt:lpstr>
      <vt:lpstr>Office Theme</vt:lpstr>
      <vt:lpstr>Workforce Demand Forecasting for Transportation Operations</vt:lpstr>
      <vt:lpstr>Project Objective &amp; Data Landscape</vt:lpstr>
      <vt:lpstr>EDA Key Findings (Univariate Patterns)</vt:lpstr>
      <vt:lpstr>EDA Key Findings (Bivariate Patterns)</vt:lpstr>
      <vt:lpstr>Feature Engineering Approach</vt:lpstr>
      <vt:lpstr>Feature Engineering Approach</vt:lpstr>
      <vt:lpstr>Feature Engineering Approach</vt:lpstr>
      <vt:lpstr>Feature Engineering Approach</vt:lpstr>
      <vt:lpstr>Feature Engineering Approach</vt:lpstr>
      <vt:lpstr>Feature Engineering Approach</vt:lpstr>
      <vt:lpstr>Model Selection &amp; Methodology</vt:lpstr>
      <vt:lpstr>Model Selection &amp; Methodology</vt:lpstr>
      <vt:lpstr>Results &amp; Model Comparison</vt:lpstr>
      <vt:lpstr>Results &amp; Model Comparison</vt:lpstr>
      <vt:lpstr>Feature Importance &amp; Explainability</vt:lpstr>
      <vt:lpstr>Feature Importance &amp; Explainability</vt:lpstr>
      <vt:lpstr>Feature Importance &amp; Explainability</vt:lpstr>
      <vt:lpstr>Limitations &amp; Future Work</vt:lpstr>
      <vt:lpstr>Limitations &amp; 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raymond tacason</dc:creator>
  <cp:lastModifiedBy>raymond tacason</cp:lastModifiedBy>
  <cp:revision>1</cp:revision>
  <dcterms:created xsi:type="dcterms:W3CDTF">2026-04-28T17:44:35Z</dcterms:created>
  <dcterms:modified xsi:type="dcterms:W3CDTF">2026-04-28T20:18:54Z</dcterms:modified>
</cp:coreProperties>
</file>