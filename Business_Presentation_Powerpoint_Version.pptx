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70" r:id="rId6"/>
    <p:sldId id="261" r:id="rId7"/>
    <p:sldId id="263" r:id="rId8"/>
    <p:sldId id="264" r:id="rId9"/>
    <p:sldId id="266" r:id="rId10"/>
    <p:sldId id="267" r:id="rId11"/>
    <p:sldId id="268"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8BE452-442E-4708-A6F0-555BE0B9E9F5}" v="8" dt="2026-04-28T15:44:52.962"/>
  </p1510:revLst>
</p1510:revInfo>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4103" autoAdjust="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ymond tacason" userId="15cc48ea5a3bace6" providerId="LiveId" clId="{78F050C6-B562-4EBB-8EB6-72AA174480E0}"/>
    <pc:docChg chg="undo custSel addSld delSld modSld sldOrd">
      <pc:chgData name="raymond tacason" userId="15cc48ea5a3bace6" providerId="LiveId" clId="{78F050C6-B562-4EBB-8EB6-72AA174480E0}" dt="2026-04-28T15:47:05.361" v="46" actId="113"/>
      <pc:docMkLst>
        <pc:docMk/>
      </pc:docMkLst>
      <pc:sldChg chg="addSp delSp modSp del mod">
        <pc:chgData name="raymond tacason" userId="15cc48ea5a3bace6" providerId="LiveId" clId="{78F050C6-B562-4EBB-8EB6-72AA174480E0}" dt="2026-04-28T15:34:35.078" v="30" actId="47"/>
        <pc:sldMkLst>
          <pc:docMk/>
          <pc:sldMk cId="1320990866" sldId="260"/>
        </pc:sldMkLst>
        <pc:spChg chg="mod">
          <ac:chgData name="raymond tacason" userId="15cc48ea5a3bace6" providerId="LiveId" clId="{78F050C6-B562-4EBB-8EB6-72AA174480E0}" dt="2026-04-28T15:29:51.421" v="16" actId="26606"/>
          <ac:spMkLst>
            <pc:docMk/>
            <pc:sldMk cId="1320990866" sldId="260"/>
            <ac:spMk id="2" creationId="{D0937626-7AA7-FC16-B33F-277DED35472C}"/>
          </ac:spMkLst>
        </pc:spChg>
        <pc:spChg chg="mod">
          <ac:chgData name="raymond tacason" userId="15cc48ea5a3bace6" providerId="LiveId" clId="{78F050C6-B562-4EBB-8EB6-72AA174480E0}" dt="2026-04-28T15:29:51.421" v="16" actId="26606"/>
          <ac:spMkLst>
            <pc:docMk/>
            <pc:sldMk cId="1320990866" sldId="260"/>
            <ac:spMk id="3" creationId="{ED65C91F-FF2E-80BB-3C5A-60B18E0D0187}"/>
          </ac:spMkLst>
        </pc:spChg>
        <pc:spChg chg="add del">
          <ac:chgData name="raymond tacason" userId="15cc48ea5a3bace6" providerId="LiveId" clId="{78F050C6-B562-4EBB-8EB6-72AA174480E0}" dt="2026-04-28T15:29:51.421" v="16" actId="26606"/>
          <ac:spMkLst>
            <pc:docMk/>
            <pc:sldMk cId="1320990866" sldId="260"/>
            <ac:spMk id="12" creationId="{A2679492-7988-4050-9056-542444452411}"/>
          </ac:spMkLst>
        </pc:spChg>
        <pc:spChg chg="add del">
          <ac:chgData name="raymond tacason" userId="15cc48ea5a3bace6" providerId="LiveId" clId="{78F050C6-B562-4EBB-8EB6-72AA174480E0}" dt="2026-04-28T15:29:51.421" v="16" actId="26606"/>
          <ac:spMkLst>
            <pc:docMk/>
            <pc:sldMk cId="1320990866" sldId="260"/>
            <ac:spMk id="14" creationId="{B5ABDEAA-B248-4182-B67C-A925338E772D}"/>
          </ac:spMkLst>
        </pc:spChg>
        <pc:spChg chg="add del">
          <ac:chgData name="raymond tacason" userId="15cc48ea5a3bace6" providerId="LiveId" clId="{78F050C6-B562-4EBB-8EB6-72AA174480E0}" dt="2026-04-28T15:29:51.421" v="16" actId="26606"/>
          <ac:spMkLst>
            <pc:docMk/>
            <pc:sldMk cId="1320990866" sldId="260"/>
            <ac:spMk id="16" creationId="{B091B163-7D61-4891-ABCF-5C13D9C418D0}"/>
          </ac:spMkLst>
        </pc:spChg>
        <pc:spChg chg="add del">
          <ac:chgData name="raymond tacason" userId="15cc48ea5a3bace6" providerId="LiveId" clId="{78F050C6-B562-4EBB-8EB6-72AA174480E0}" dt="2026-04-28T15:29:51.421" v="16" actId="26606"/>
          <ac:spMkLst>
            <pc:docMk/>
            <pc:sldMk cId="1320990866" sldId="260"/>
            <ac:spMk id="23" creationId="{32AEEBC8-9D30-42EF-95F2-386C2653FBF0}"/>
          </ac:spMkLst>
        </pc:spChg>
        <pc:spChg chg="add del">
          <ac:chgData name="raymond tacason" userId="15cc48ea5a3bace6" providerId="LiveId" clId="{78F050C6-B562-4EBB-8EB6-72AA174480E0}" dt="2026-04-28T15:29:51.421" v="16" actId="26606"/>
          <ac:spMkLst>
            <pc:docMk/>
            <pc:sldMk cId="1320990866" sldId="260"/>
            <ac:spMk id="25" creationId="{3529E97A-97C3-40EA-8A04-5C02398D568F}"/>
          </ac:spMkLst>
        </pc:spChg>
        <pc:spChg chg="add del">
          <ac:chgData name="raymond tacason" userId="15cc48ea5a3bace6" providerId="LiveId" clId="{78F050C6-B562-4EBB-8EB6-72AA174480E0}" dt="2026-04-28T15:29:51.421" v="16" actId="26606"/>
          <ac:spMkLst>
            <pc:docMk/>
            <pc:sldMk cId="1320990866" sldId="260"/>
            <ac:spMk id="27" creationId="{59FA8C2E-A5A7-4490-927A-7CD58343EDBB}"/>
          </ac:spMkLst>
        </pc:spChg>
        <pc:picChg chg="del mod">
          <ac:chgData name="raymond tacason" userId="15cc48ea5a3bace6" providerId="LiveId" clId="{78F050C6-B562-4EBB-8EB6-72AA174480E0}" dt="2026-04-28T15:28:38.844" v="3" actId="478"/>
          <ac:picMkLst>
            <pc:docMk/>
            <pc:sldMk cId="1320990866" sldId="260"/>
            <ac:picMk id="5" creationId="{8886411F-C4DE-8288-9CFB-646119CB7DEF}"/>
          </ac:picMkLst>
        </pc:picChg>
        <pc:picChg chg="del">
          <ac:chgData name="raymond tacason" userId="15cc48ea5a3bace6" providerId="LiveId" clId="{78F050C6-B562-4EBB-8EB6-72AA174480E0}" dt="2026-04-28T15:29:09.857" v="7" actId="478"/>
          <ac:picMkLst>
            <pc:docMk/>
            <pc:sldMk cId="1320990866" sldId="260"/>
            <ac:picMk id="7" creationId="{5B2F555A-71F9-7785-0540-FD79AE3A99FD}"/>
          </ac:picMkLst>
        </pc:picChg>
        <pc:picChg chg="add del mod">
          <ac:chgData name="raymond tacason" userId="15cc48ea5a3bace6" providerId="LiveId" clId="{78F050C6-B562-4EBB-8EB6-72AA174480E0}" dt="2026-04-28T15:31:26.888" v="22" actId="21"/>
          <ac:picMkLst>
            <pc:docMk/>
            <pc:sldMk cId="1320990866" sldId="260"/>
            <ac:picMk id="9" creationId="{908F5893-72F4-C05F-E872-5170CAF8B517}"/>
          </ac:picMkLst>
        </pc:picChg>
        <pc:cxnChg chg="add del">
          <ac:chgData name="raymond tacason" userId="15cc48ea5a3bace6" providerId="LiveId" clId="{78F050C6-B562-4EBB-8EB6-72AA174480E0}" dt="2026-04-28T15:29:51.421" v="16" actId="26606"/>
          <ac:cxnSpMkLst>
            <pc:docMk/>
            <pc:sldMk cId="1320990866" sldId="260"/>
            <ac:cxnSpMk id="18" creationId="{C49DA8F6-BCC1-4447-B54C-57856834B94B}"/>
          </ac:cxnSpMkLst>
        </pc:cxnChg>
      </pc:sldChg>
      <pc:sldChg chg="addSp delSp modSp new mod setBg modNotesTx">
        <pc:chgData name="raymond tacason" userId="15cc48ea5a3bace6" providerId="LiveId" clId="{78F050C6-B562-4EBB-8EB6-72AA174480E0}" dt="2026-04-28T15:47:05.361" v="46" actId="113"/>
        <pc:sldMkLst>
          <pc:docMk/>
          <pc:sldMk cId="671446673" sldId="270"/>
        </pc:sldMkLst>
        <pc:spChg chg="mod">
          <ac:chgData name="raymond tacason" userId="15cc48ea5a3bace6" providerId="LiveId" clId="{78F050C6-B562-4EBB-8EB6-72AA174480E0}" dt="2026-04-28T15:47:05.361" v="46" actId="113"/>
          <ac:spMkLst>
            <pc:docMk/>
            <pc:sldMk cId="671446673" sldId="270"/>
            <ac:spMk id="2" creationId="{275C3D7F-BFD7-1B17-1FDC-8EB8570C20ED}"/>
          </ac:spMkLst>
        </pc:spChg>
        <pc:spChg chg="del">
          <ac:chgData name="raymond tacason" userId="15cc48ea5a3bace6" providerId="LiveId" clId="{78F050C6-B562-4EBB-8EB6-72AA174480E0}" dt="2026-04-28T15:44:41.260" v="34"/>
          <ac:spMkLst>
            <pc:docMk/>
            <pc:sldMk cId="671446673" sldId="270"/>
            <ac:spMk id="3" creationId="{F351B22E-F015-37CB-3009-1A80E72BB6C2}"/>
          </ac:spMkLst>
        </pc:spChg>
        <pc:spChg chg="add mod ord">
          <ac:chgData name="raymond tacason" userId="15cc48ea5a3bace6" providerId="LiveId" clId="{78F050C6-B562-4EBB-8EB6-72AA174480E0}" dt="2026-04-28T15:47:02.030" v="45" actId="255"/>
          <ac:spMkLst>
            <pc:docMk/>
            <pc:sldMk cId="671446673" sldId="270"/>
            <ac:spMk id="4" creationId="{813149F5-7D77-2DE2-5091-E55B57D69B12}"/>
          </ac:spMkLst>
        </pc:spChg>
        <pc:spChg chg="add">
          <ac:chgData name="raymond tacason" userId="15cc48ea5a3bace6" providerId="LiveId" clId="{78F050C6-B562-4EBB-8EB6-72AA174480E0}" dt="2026-04-28T15:46:42.730" v="44" actId="26606"/>
          <ac:spMkLst>
            <pc:docMk/>
            <pc:sldMk cId="671446673" sldId="270"/>
            <ac:spMk id="13" creationId="{B091B163-7D61-4891-ABCF-5C13D9C418D0}"/>
          </ac:spMkLst>
        </pc:spChg>
        <pc:spChg chg="add">
          <ac:chgData name="raymond tacason" userId="15cc48ea5a3bace6" providerId="LiveId" clId="{78F050C6-B562-4EBB-8EB6-72AA174480E0}" dt="2026-04-28T15:46:42.730" v="44" actId="26606"/>
          <ac:spMkLst>
            <pc:docMk/>
            <pc:sldMk cId="671446673" sldId="270"/>
            <ac:spMk id="20" creationId="{A2679492-7988-4050-9056-542444452411}"/>
          </ac:spMkLst>
        </pc:spChg>
        <pc:grpChg chg="add del">
          <ac:chgData name="raymond tacason" userId="15cc48ea5a3bace6" providerId="LiveId" clId="{78F050C6-B562-4EBB-8EB6-72AA174480E0}" dt="2026-04-28T15:46:39.142" v="41" actId="26606"/>
          <ac:grpSpMkLst>
            <pc:docMk/>
            <pc:sldMk cId="671446673" sldId="270"/>
            <ac:grpSpMk id="14" creationId="{1FD67D68-9B83-C338-8342-3348D8F22347}"/>
          </ac:grpSpMkLst>
        </pc:grpChg>
        <pc:grpChg chg="add del">
          <ac:chgData name="raymond tacason" userId="15cc48ea5a3bace6" providerId="LiveId" clId="{78F050C6-B562-4EBB-8EB6-72AA174480E0}" dt="2026-04-28T15:46:42.712" v="43" actId="26606"/>
          <ac:grpSpMkLst>
            <pc:docMk/>
            <pc:sldMk cId="671446673" sldId="270"/>
            <ac:grpSpMk id="16" creationId="{6258F736-B256-8039-9DC6-F4E49A5C5AD5}"/>
          </ac:grpSpMkLst>
        </pc:grpChg>
        <pc:picChg chg="add mod">
          <ac:chgData name="raymond tacason" userId="15cc48ea5a3bace6" providerId="LiveId" clId="{78F050C6-B562-4EBB-8EB6-72AA174480E0}" dt="2026-04-28T15:46:42.730" v="44" actId="26606"/>
          <ac:picMkLst>
            <pc:docMk/>
            <pc:sldMk cId="671446673" sldId="270"/>
            <ac:picMk id="6" creationId="{A4A1BB16-AA3A-26FE-539D-4A9D46C97A48}"/>
          </ac:picMkLst>
        </pc:picChg>
        <pc:cxnChg chg="add del">
          <ac:chgData name="raymond tacason" userId="15cc48ea5a3bace6" providerId="LiveId" clId="{78F050C6-B562-4EBB-8EB6-72AA174480E0}" dt="2026-04-28T15:46:28.008" v="39" actId="26606"/>
          <ac:cxnSpMkLst>
            <pc:docMk/>
            <pc:sldMk cId="671446673" sldId="270"/>
            <ac:cxnSpMk id="11" creationId="{FC23E3B9-5ABF-58B3-E2B0-E9A5DAA90037}"/>
          </ac:cxnSpMkLst>
        </pc:cxnChg>
        <pc:cxnChg chg="add">
          <ac:chgData name="raymond tacason" userId="15cc48ea5a3bace6" providerId="LiveId" clId="{78F050C6-B562-4EBB-8EB6-72AA174480E0}" dt="2026-04-28T15:46:42.730" v="44" actId="26606"/>
          <ac:cxnSpMkLst>
            <pc:docMk/>
            <pc:sldMk cId="671446673" sldId="270"/>
            <ac:cxnSpMk id="15" creationId="{C49DA8F6-BCC1-4447-B54C-57856834B94B}"/>
          </ac:cxnSpMkLst>
        </pc:cxnChg>
      </pc:sldChg>
      <pc:sldChg chg="addSp delSp modSp new del mod setBg modNotesTx">
        <pc:chgData name="raymond tacason" userId="15cc48ea5a3bace6" providerId="LiveId" clId="{78F050C6-B562-4EBB-8EB6-72AA174480E0}" dt="2026-04-28T15:34:42.966" v="31" actId="47"/>
        <pc:sldMkLst>
          <pc:docMk/>
          <pc:sldMk cId="760604932" sldId="270"/>
        </pc:sldMkLst>
        <pc:spChg chg="mod">
          <ac:chgData name="raymond tacason" userId="15cc48ea5a3bace6" providerId="LiveId" clId="{78F050C6-B562-4EBB-8EB6-72AA174480E0}" dt="2026-04-28T15:32:04.531" v="29" actId="26606"/>
          <ac:spMkLst>
            <pc:docMk/>
            <pc:sldMk cId="760604932" sldId="270"/>
            <ac:spMk id="2" creationId="{3C3EFB10-C3D0-C7CE-5F9D-9D2120810E1E}"/>
          </ac:spMkLst>
        </pc:spChg>
        <pc:spChg chg="del">
          <ac:chgData name="raymond tacason" userId="15cc48ea5a3bace6" providerId="LiveId" clId="{78F050C6-B562-4EBB-8EB6-72AA174480E0}" dt="2026-04-28T15:30:26.179" v="20"/>
          <ac:spMkLst>
            <pc:docMk/>
            <pc:sldMk cId="760604932" sldId="270"/>
            <ac:spMk id="3" creationId="{67DC9D51-3D42-F5B4-B439-7EE1BFF4DEB4}"/>
          </ac:spMkLst>
        </pc:spChg>
        <pc:spChg chg="add mod ord">
          <ac:chgData name="raymond tacason" userId="15cc48ea5a3bace6" providerId="LiveId" clId="{78F050C6-B562-4EBB-8EB6-72AA174480E0}" dt="2026-04-28T15:32:04.531" v="29" actId="26606"/>
          <ac:spMkLst>
            <pc:docMk/>
            <pc:sldMk cId="760604932" sldId="270"/>
            <ac:spMk id="4" creationId="{556EE9DE-F438-2956-83B9-F3DE313BAF05}"/>
          </ac:spMkLst>
        </pc:spChg>
        <pc:spChg chg="add del">
          <ac:chgData name="raymond tacason" userId="15cc48ea5a3bace6" providerId="LiveId" clId="{78F050C6-B562-4EBB-8EB6-72AA174480E0}" dt="2026-04-28T15:31:59.492" v="26" actId="26606"/>
          <ac:spMkLst>
            <pc:docMk/>
            <pc:sldMk cId="760604932" sldId="270"/>
            <ac:spMk id="14" creationId="{AE3A741D-C19B-960A-5803-1C5887147820}"/>
          </ac:spMkLst>
        </pc:spChg>
        <pc:spChg chg="add del">
          <ac:chgData name="raymond tacason" userId="15cc48ea5a3bace6" providerId="LiveId" clId="{78F050C6-B562-4EBB-8EB6-72AA174480E0}" dt="2026-04-28T15:31:59.492" v="26" actId="26606"/>
          <ac:spMkLst>
            <pc:docMk/>
            <pc:sldMk cId="760604932" sldId="270"/>
            <ac:spMk id="16" creationId="{9C3A50E9-9119-7BC3-083B-2D84CCC78E47}"/>
          </ac:spMkLst>
        </pc:spChg>
        <pc:spChg chg="add del">
          <ac:chgData name="raymond tacason" userId="15cc48ea5a3bace6" providerId="LiveId" clId="{78F050C6-B562-4EBB-8EB6-72AA174480E0}" dt="2026-04-28T15:31:59.492" v="26" actId="26606"/>
          <ac:spMkLst>
            <pc:docMk/>
            <pc:sldMk cId="760604932" sldId="270"/>
            <ac:spMk id="18" creationId="{DC39DE25-0E4E-0AA7-0932-1D78C2372786}"/>
          </ac:spMkLst>
        </pc:spChg>
        <pc:spChg chg="add del">
          <ac:chgData name="raymond tacason" userId="15cc48ea5a3bace6" providerId="LiveId" clId="{78F050C6-B562-4EBB-8EB6-72AA174480E0}" dt="2026-04-28T15:31:59.492" v="26" actId="26606"/>
          <ac:spMkLst>
            <pc:docMk/>
            <pc:sldMk cId="760604932" sldId="270"/>
            <ac:spMk id="20" creationId="{8D6EA299-0840-6DEA-E670-C49AEBC87E89}"/>
          </ac:spMkLst>
        </pc:spChg>
        <pc:grpChg chg="add del">
          <ac:chgData name="raymond tacason" userId="15cc48ea5a3bace6" providerId="LiveId" clId="{78F050C6-B562-4EBB-8EB6-72AA174480E0}" dt="2026-04-28T15:32:04.519" v="28" actId="26606"/>
          <ac:grpSpMkLst>
            <pc:docMk/>
            <pc:sldMk cId="760604932" sldId="270"/>
            <ac:grpSpMk id="22" creationId="{5EFBDE31-BB3E-6CFC-23CD-B5976DA38438}"/>
          </ac:grpSpMkLst>
        </pc:grpChg>
        <pc:grpChg chg="add">
          <ac:chgData name="raymond tacason" userId="15cc48ea5a3bace6" providerId="LiveId" clId="{78F050C6-B562-4EBB-8EB6-72AA174480E0}" dt="2026-04-28T15:32:04.531" v="29" actId="26606"/>
          <ac:grpSpMkLst>
            <pc:docMk/>
            <pc:sldMk cId="760604932" sldId="270"/>
            <ac:grpSpMk id="25" creationId="{1FD67D68-9B83-C338-8342-3348D8F22347}"/>
          </ac:grpSpMkLst>
        </pc:grpChg>
        <pc:picChg chg="add mod">
          <ac:chgData name="raymond tacason" userId="15cc48ea5a3bace6" providerId="LiveId" clId="{78F050C6-B562-4EBB-8EB6-72AA174480E0}" dt="2026-04-28T15:32:04.531" v="29" actId="26606"/>
          <ac:picMkLst>
            <pc:docMk/>
            <pc:sldMk cId="760604932" sldId="270"/>
            <ac:picMk id="9" creationId="{908F5893-72F4-C05F-E872-5170CAF8B517}"/>
          </ac:picMkLst>
        </pc:picChg>
      </pc:sldChg>
      <pc:sldChg chg="new del ord">
        <pc:chgData name="raymond tacason" userId="15cc48ea5a3bace6" providerId="LiveId" clId="{78F050C6-B562-4EBB-8EB6-72AA174480E0}" dt="2026-04-28T15:29:49.133" v="15" actId="680"/>
        <pc:sldMkLst>
          <pc:docMk/>
          <pc:sldMk cId="2124913747"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A6A6BD-1ECE-46DA-AF14-344B9ACF24B4}" type="datetimeFigureOut">
              <a:rPr lang="en-PH" smtClean="0"/>
              <a:t>28/04/2026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28457E-CE4A-4A58-AF6C-C03F6EB3B2CB}" type="slidenum">
              <a:rPr lang="en-PH" smtClean="0"/>
              <a:t>‹#›</a:t>
            </a:fld>
            <a:endParaRPr lang="en-PH"/>
          </a:p>
        </p:txBody>
      </p:sp>
    </p:spTree>
    <p:extLst>
      <p:ext uri="{BB962C8B-B14F-4D97-AF65-F5344CB8AC3E}">
        <p14:creationId xmlns:p14="http://schemas.microsoft.com/office/powerpoint/2010/main" val="164906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focuses on building a predictive workforce demand model for a transportation company. The goal is to optimize staffing levels by forecasting ridership‑driven demand, reducing operational inefficiencies, and improving service reliability. The model integrates historical ridership, weather, station activity, and shift patterns to support data‑driven scheduling.</a:t>
            </a:r>
            <a:endParaRPr lang="en-PH" dirty="0"/>
          </a:p>
        </p:txBody>
      </p:sp>
      <p:sp>
        <p:nvSpPr>
          <p:cNvPr id="4" name="Slide Number Placeholder 3"/>
          <p:cNvSpPr>
            <a:spLocks noGrp="1"/>
          </p:cNvSpPr>
          <p:nvPr>
            <p:ph type="sldNum" sz="quarter" idx="5"/>
          </p:nvPr>
        </p:nvSpPr>
        <p:spPr/>
        <p:txBody>
          <a:bodyPr/>
          <a:lstStyle/>
          <a:p>
            <a:fld id="{0528457E-CE4A-4A58-AF6C-C03F6EB3B2CB}" type="slidenum">
              <a:rPr lang="en-PH" smtClean="0"/>
              <a:t>1</a:t>
            </a:fld>
            <a:endParaRPr lang="en-PH"/>
          </a:p>
        </p:txBody>
      </p:sp>
    </p:spTree>
    <p:extLst>
      <p:ext uri="{BB962C8B-B14F-4D97-AF65-F5344CB8AC3E}">
        <p14:creationId xmlns:p14="http://schemas.microsoft.com/office/powerpoint/2010/main" val="30914283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Our operations depend on having the right number of staff at the right time. But demand fluctuates every day — ridership changes, weather shifts, stations behave differently, and shifts have unique patterns.</a:t>
            </a:r>
          </a:p>
          <a:p>
            <a:endParaRPr lang="en-US" dirty="0"/>
          </a:p>
          <a:p>
            <a:r>
              <a:rPr lang="en-US" dirty="0">
                <a:effectLst/>
              </a:rPr>
              <a:t>When staffing doesn’t match demand, we see two major problems:</a:t>
            </a:r>
            <a:endParaRPr lang="en-US" dirty="0"/>
          </a:p>
          <a:p>
            <a:pPr marL="171450" indent="-171450">
              <a:buFont typeface="Arial" panose="020B0604020202020204" pitchFamily="34" charset="0"/>
              <a:buChar char="•"/>
            </a:pPr>
            <a:r>
              <a:rPr lang="en-US" dirty="0">
                <a:effectLst/>
              </a:rPr>
              <a:t>Understaffing: delays, safety risks, customer dissatisfaction</a:t>
            </a:r>
            <a:endParaRPr lang="en-US" dirty="0"/>
          </a:p>
          <a:p>
            <a:pPr marL="171450" indent="-171450">
              <a:buFont typeface="Arial" panose="020B0604020202020204" pitchFamily="34" charset="0"/>
              <a:buChar char="•"/>
            </a:pPr>
            <a:r>
              <a:rPr lang="en-US" dirty="0">
                <a:effectLst/>
              </a:rPr>
              <a:t>Overstaffing: unnecessary labor cost and idle time</a:t>
            </a:r>
          </a:p>
          <a:p>
            <a:pPr marL="0" indent="0">
              <a:buFont typeface="Arial" panose="020B0604020202020204" pitchFamily="34" charset="0"/>
              <a:buNone/>
            </a:pPr>
            <a:endParaRPr lang="en-US" dirty="0"/>
          </a:p>
          <a:p>
            <a:r>
              <a:rPr lang="en-US" dirty="0">
                <a:effectLst/>
              </a:rPr>
              <a:t>Our goal is to build a forecasting system that anticipates staffing needs before they happen, so managers can schedule proactively instead of reactively.</a:t>
            </a:r>
            <a:endParaRPr lang="en-US" dirty="0"/>
          </a:p>
          <a:p>
            <a:endParaRPr lang="en-PH" dirty="0"/>
          </a:p>
        </p:txBody>
      </p:sp>
      <p:sp>
        <p:nvSpPr>
          <p:cNvPr id="4" name="Slide Number Placeholder 3"/>
          <p:cNvSpPr>
            <a:spLocks noGrp="1"/>
          </p:cNvSpPr>
          <p:nvPr>
            <p:ph type="sldNum" sz="quarter" idx="5"/>
          </p:nvPr>
        </p:nvSpPr>
        <p:spPr/>
        <p:txBody>
          <a:bodyPr/>
          <a:lstStyle/>
          <a:p>
            <a:fld id="{0528457E-CE4A-4A58-AF6C-C03F6EB3B2CB}" type="slidenum">
              <a:rPr lang="en-PH" smtClean="0"/>
              <a:t>2</a:t>
            </a:fld>
            <a:endParaRPr lang="en-PH"/>
          </a:p>
        </p:txBody>
      </p:sp>
    </p:spTree>
    <p:extLst>
      <p:ext uri="{BB962C8B-B14F-4D97-AF65-F5344CB8AC3E}">
        <p14:creationId xmlns:p14="http://schemas.microsoft.com/office/powerpoint/2010/main" val="15556036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Workforce scheduling is one of our largest controllable cost centers. When we get it wrong, the impact is immediate:</a:t>
            </a:r>
            <a:endParaRPr lang="en-US" dirty="0"/>
          </a:p>
          <a:p>
            <a:pPr marL="171450" indent="-171450">
              <a:buFont typeface="Arial" panose="020B0604020202020204" pitchFamily="34" charset="0"/>
              <a:buChar char="•"/>
            </a:pPr>
            <a:r>
              <a:rPr lang="en-US" dirty="0">
                <a:effectLst/>
              </a:rPr>
              <a:t>Operational delays cascade across routes</a:t>
            </a:r>
            <a:endParaRPr lang="en-US" dirty="0"/>
          </a:p>
          <a:p>
            <a:pPr marL="171450" indent="-171450">
              <a:buFont typeface="Arial" panose="020B0604020202020204" pitchFamily="34" charset="0"/>
              <a:buChar char="•"/>
            </a:pPr>
            <a:r>
              <a:rPr lang="en-US" dirty="0">
                <a:effectLst/>
              </a:rPr>
              <a:t>Stations become bottlenecks</a:t>
            </a:r>
            <a:endParaRPr lang="en-US" dirty="0"/>
          </a:p>
          <a:p>
            <a:pPr marL="171450" indent="-171450">
              <a:buFont typeface="Arial" panose="020B0604020202020204" pitchFamily="34" charset="0"/>
              <a:buChar char="•"/>
            </a:pPr>
            <a:r>
              <a:rPr lang="en-US" dirty="0">
                <a:effectLst/>
              </a:rPr>
              <a:t>Customer complaints increase</a:t>
            </a:r>
            <a:endParaRPr lang="en-US" dirty="0"/>
          </a:p>
          <a:p>
            <a:pPr marL="171450" indent="-171450">
              <a:buFont typeface="Arial" panose="020B0604020202020204" pitchFamily="34" charset="0"/>
              <a:buChar char="•"/>
            </a:pPr>
            <a:r>
              <a:rPr lang="en-US" dirty="0">
                <a:effectLst/>
              </a:rPr>
              <a:t>Overtime spikes</a:t>
            </a:r>
            <a:endParaRPr lang="en-US" dirty="0"/>
          </a:p>
          <a:p>
            <a:pPr marL="171450" indent="-171450">
              <a:buFont typeface="Arial" panose="020B0604020202020204" pitchFamily="34" charset="0"/>
              <a:buChar char="•"/>
            </a:pPr>
            <a:r>
              <a:rPr lang="en-US" dirty="0">
                <a:effectLst/>
              </a:rPr>
              <a:t>Managers spend time firefighting instead of planning</a:t>
            </a:r>
            <a:endParaRPr lang="en-US" dirty="0"/>
          </a:p>
          <a:p>
            <a:r>
              <a:rPr lang="en-US" dirty="0">
                <a:effectLst/>
              </a:rPr>
              <a:t>A forecasting model gives us a strategic advantage: We can reduce scheduling errors, improve reliability, and optimize labor cost — all while supporting better decision‑making.</a:t>
            </a:r>
            <a:endParaRPr lang="en-US" dirty="0"/>
          </a:p>
          <a:p>
            <a:endParaRPr lang="en-PH" dirty="0"/>
          </a:p>
        </p:txBody>
      </p:sp>
      <p:sp>
        <p:nvSpPr>
          <p:cNvPr id="4" name="Slide Number Placeholder 3"/>
          <p:cNvSpPr>
            <a:spLocks noGrp="1"/>
          </p:cNvSpPr>
          <p:nvPr>
            <p:ph type="sldNum" sz="quarter" idx="5"/>
          </p:nvPr>
        </p:nvSpPr>
        <p:spPr/>
        <p:txBody>
          <a:bodyPr/>
          <a:lstStyle/>
          <a:p>
            <a:fld id="{0528457E-CE4A-4A58-AF6C-C03F6EB3B2CB}" type="slidenum">
              <a:rPr lang="en-PH" smtClean="0"/>
              <a:t>3</a:t>
            </a:fld>
            <a:endParaRPr lang="en-PH"/>
          </a:p>
        </p:txBody>
      </p:sp>
    </p:spTree>
    <p:extLst>
      <p:ext uri="{BB962C8B-B14F-4D97-AF65-F5344CB8AC3E}">
        <p14:creationId xmlns:p14="http://schemas.microsoft.com/office/powerpoint/2010/main" val="3268496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0528457E-CE4A-4A58-AF6C-C03F6EB3B2CB}" type="slidenum">
              <a:rPr lang="en-PH" smtClean="0"/>
              <a:t>4</a:t>
            </a:fld>
            <a:endParaRPr lang="en-PH"/>
          </a:p>
        </p:txBody>
      </p:sp>
    </p:spTree>
    <p:extLst>
      <p:ext uri="{BB962C8B-B14F-4D97-AF65-F5344CB8AC3E}">
        <p14:creationId xmlns:p14="http://schemas.microsoft.com/office/powerpoint/2010/main" val="20917602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effectLst/>
              </a:rPr>
              <a:t>PCA helps simplify the dataset while keeping the most important information.</a:t>
            </a:r>
            <a:endParaRPr lang="en-US" dirty="0"/>
          </a:p>
          <a:p>
            <a:pPr marL="171450" indent="-171450">
              <a:buFont typeface="Arial" panose="020B0604020202020204" pitchFamily="34" charset="0"/>
              <a:buChar char="•"/>
            </a:pPr>
            <a:r>
              <a:rPr lang="en-US" dirty="0">
                <a:effectLst/>
              </a:rPr>
              <a:t>The first two components already show visible structure, meaning the data has meaningful patterns rather than noise.</a:t>
            </a:r>
            <a:endParaRPr lang="en-US" dirty="0"/>
          </a:p>
          <a:p>
            <a:pPr marL="171450" indent="-171450">
              <a:buFont typeface="Arial" panose="020B0604020202020204" pitchFamily="34" charset="0"/>
              <a:buChar char="•"/>
            </a:pPr>
            <a:r>
              <a:rPr lang="en-US" dirty="0">
                <a:effectLst/>
              </a:rPr>
              <a:t>This gives confidence that the model will learn real relationships, not random fluctuations.</a:t>
            </a:r>
            <a:endParaRPr lang="en-US" dirty="0"/>
          </a:p>
          <a:p>
            <a:pPr marL="171450" indent="-171450">
              <a:buFont typeface="Arial" panose="020B0604020202020204" pitchFamily="34" charset="0"/>
              <a:buChar char="•"/>
            </a:pPr>
            <a:r>
              <a:rPr lang="en-US" dirty="0">
                <a:effectLst/>
              </a:rPr>
              <a:t>PCA also reduces correlated features, which stabilizes the regression model and improves interpretability.</a:t>
            </a:r>
            <a:endParaRPr lang="en-US" dirty="0"/>
          </a:p>
          <a:p>
            <a:pPr marL="171450" indent="-171450">
              <a:buFont typeface="Arial" panose="020B0604020202020204" pitchFamily="34" charset="0"/>
              <a:buChar char="•"/>
            </a:pPr>
            <a:r>
              <a:rPr lang="en-US" dirty="0">
                <a:effectLst/>
              </a:rPr>
              <a:t>Overall, PCA validates the quality of our preprocessing pipeline and supports reliable forecasting and explainability in later steps.</a:t>
            </a:r>
            <a:endParaRPr lang="en-US" dirty="0"/>
          </a:p>
          <a:p>
            <a:endParaRPr lang="en-PH" dirty="0"/>
          </a:p>
        </p:txBody>
      </p:sp>
      <p:sp>
        <p:nvSpPr>
          <p:cNvPr id="4" name="Slide Number Placeholder 3"/>
          <p:cNvSpPr>
            <a:spLocks noGrp="1"/>
          </p:cNvSpPr>
          <p:nvPr>
            <p:ph type="sldNum" sz="quarter" idx="5"/>
          </p:nvPr>
        </p:nvSpPr>
        <p:spPr/>
        <p:txBody>
          <a:bodyPr/>
          <a:lstStyle/>
          <a:p>
            <a:fld id="{0528457E-CE4A-4A58-AF6C-C03F6EB3B2CB}" type="slidenum">
              <a:rPr lang="en-PH" smtClean="0"/>
              <a:t>5</a:t>
            </a:fld>
            <a:endParaRPr lang="en-PH"/>
          </a:p>
        </p:txBody>
      </p:sp>
    </p:spTree>
    <p:extLst>
      <p:ext uri="{BB962C8B-B14F-4D97-AF65-F5344CB8AC3E}">
        <p14:creationId xmlns:p14="http://schemas.microsoft.com/office/powerpoint/2010/main" val="39249823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Four regression models were evaluated: Random Forest, Decision Tree, </a:t>
            </a:r>
            <a:r>
              <a:rPr lang="en-US" dirty="0" err="1">
                <a:effectLst/>
              </a:rPr>
              <a:t>XGBoost</a:t>
            </a:r>
            <a:r>
              <a:rPr lang="en-US" dirty="0">
                <a:effectLst/>
              </a:rPr>
              <a:t>, and Linear Regression.</a:t>
            </a:r>
            <a:endParaRPr lang="en-US" dirty="0"/>
          </a:p>
          <a:p>
            <a:r>
              <a:rPr lang="en-US" dirty="0">
                <a:effectLst/>
              </a:rPr>
              <a:t>Random Forest achieved the best performance:</a:t>
            </a:r>
            <a:endParaRPr lang="en-US" dirty="0"/>
          </a:p>
          <a:p>
            <a:pPr marL="171450" indent="-171450">
              <a:buFont typeface="Arial" panose="020B0604020202020204" pitchFamily="34" charset="0"/>
              <a:buChar char="•"/>
            </a:pPr>
            <a:r>
              <a:rPr lang="en-US" b="1" dirty="0">
                <a:effectLst/>
              </a:rPr>
              <a:t>R² = 0.9983</a:t>
            </a:r>
            <a:r>
              <a:rPr lang="en-US" dirty="0">
                <a:effectLst/>
              </a:rPr>
              <a:t> → captures nearly all variance in ridership</a:t>
            </a:r>
            <a:endParaRPr lang="en-US" dirty="0"/>
          </a:p>
          <a:p>
            <a:pPr marL="171450" indent="-171450">
              <a:buFont typeface="Arial" panose="020B0604020202020204" pitchFamily="34" charset="0"/>
              <a:buChar char="•"/>
            </a:pPr>
            <a:r>
              <a:rPr lang="en-US" b="1" dirty="0">
                <a:effectLst/>
              </a:rPr>
              <a:t>Low RMSE and MAE</a:t>
            </a:r>
            <a:r>
              <a:rPr lang="en-US" dirty="0">
                <a:effectLst/>
              </a:rPr>
              <a:t> → minimal prediction error</a:t>
            </a:r>
            <a:endParaRPr lang="en-US" dirty="0"/>
          </a:p>
          <a:p>
            <a:pPr marL="171450" indent="-171450">
              <a:buFont typeface="Arial" panose="020B0604020202020204" pitchFamily="34" charset="0"/>
              <a:buChar char="•"/>
            </a:pPr>
            <a:r>
              <a:rPr lang="en-US" b="1" dirty="0">
                <a:effectLst/>
              </a:rPr>
              <a:t>Fast training time</a:t>
            </a:r>
            <a:r>
              <a:rPr lang="en-US" dirty="0">
                <a:effectLst/>
              </a:rPr>
              <a:t> → suitable for daily operational use</a:t>
            </a:r>
            <a:endParaRPr lang="en-US" dirty="0"/>
          </a:p>
          <a:p>
            <a:pPr marL="171450" indent="-171450">
              <a:buFont typeface="Arial" panose="020B0604020202020204" pitchFamily="34" charset="0"/>
              <a:buChar char="•"/>
            </a:pPr>
            <a:r>
              <a:rPr lang="en-US" b="1" dirty="0">
                <a:effectLst/>
              </a:rPr>
              <a:t>Stable across cross‑validation</a:t>
            </a:r>
            <a:r>
              <a:rPr lang="en-US" dirty="0">
                <a:effectLst/>
              </a:rPr>
              <a:t> → low risk of overfitting</a:t>
            </a:r>
            <a:endParaRPr lang="en-US" dirty="0"/>
          </a:p>
          <a:p>
            <a:r>
              <a:rPr lang="en-US" dirty="0">
                <a:effectLst/>
              </a:rPr>
              <a:t>These metrics indicate the model is highly reliable for forecasting staffing needs.</a:t>
            </a:r>
            <a:endParaRPr lang="en-US" dirty="0"/>
          </a:p>
          <a:p>
            <a:endParaRPr lang="en-PH" dirty="0"/>
          </a:p>
        </p:txBody>
      </p:sp>
      <p:sp>
        <p:nvSpPr>
          <p:cNvPr id="4" name="Slide Number Placeholder 3"/>
          <p:cNvSpPr>
            <a:spLocks noGrp="1"/>
          </p:cNvSpPr>
          <p:nvPr>
            <p:ph type="sldNum" sz="quarter" idx="5"/>
          </p:nvPr>
        </p:nvSpPr>
        <p:spPr/>
        <p:txBody>
          <a:bodyPr/>
          <a:lstStyle/>
          <a:p>
            <a:fld id="{0528457E-CE4A-4A58-AF6C-C03F6EB3B2CB}" type="slidenum">
              <a:rPr lang="en-PH" smtClean="0"/>
              <a:t>6</a:t>
            </a:fld>
            <a:endParaRPr lang="en-PH"/>
          </a:p>
        </p:txBody>
      </p:sp>
    </p:spTree>
    <p:extLst>
      <p:ext uri="{BB962C8B-B14F-4D97-AF65-F5344CB8AC3E}">
        <p14:creationId xmlns:p14="http://schemas.microsoft.com/office/powerpoint/2010/main" val="17145775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7B935-FF21-92FD-FFAC-66266A8820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F11D21-4F8D-AAE5-E43A-949000896D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52FF21-6764-1A58-6ED8-D7DBF7366A25}"/>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003A72C5-3B40-77D1-26A4-C837A1BF0157}"/>
              </a:ext>
            </a:extLst>
          </p:cNvPr>
          <p:cNvSpPr>
            <a:spLocks noGrp="1"/>
          </p:cNvSpPr>
          <p:nvPr>
            <p:ph type="sldNum" sz="quarter" idx="5"/>
          </p:nvPr>
        </p:nvSpPr>
        <p:spPr/>
        <p:txBody>
          <a:bodyPr/>
          <a:lstStyle/>
          <a:p>
            <a:fld id="{0528457E-CE4A-4A58-AF6C-C03F6EB3B2CB}" type="slidenum">
              <a:rPr lang="en-PH" smtClean="0"/>
              <a:t>7</a:t>
            </a:fld>
            <a:endParaRPr lang="en-PH"/>
          </a:p>
        </p:txBody>
      </p:sp>
    </p:spTree>
    <p:extLst>
      <p:ext uri="{BB962C8B-B14F-4D97-AF65-F5344CB8AC3E}">
        <p14:creationId xmlns:p14="http://schemas.microsoft.com/office/powerpoint/2010/main" val="35418454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0528457E-CE4A-4A58-AF6C-C03F6EB3B2CB}" type="slidenum">
              <a:rPr lang="en-PH" smtClean="0"/>
              <a:t>8</a:t>
            </a:fld>
            <a:endParaRPr lang="en-PH"/>
          </a:p>
        </p:txBody>
      </p:sp>
    </p:spTree>
    <p:extLst>
      <p:ext uri="{BB962C8B-B14F-4D97-AF65-F5344CB8AC3E}">
        <p14:creationId xmlns:p14="http://schemas.microsoft.com/office/powerpoint/2010/main" val="2635249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0528457E-CE4A-4A58-AF6C-C03F6EB3B2CB}" type="slidenum">
              <a:rPr lang="en-PH" smtClean="0"/>
              <a:t>9</a:t>
            </a:fld>
            <a:endParaRPr lang="en-PH"/>
          </a:p>
        </p:txBody>
      </p:sp>
    </p:spTree>
    <p:extLst>
      <p:ext uri="{BB962C8B-B14F-4D97-AF65-F5344CB8AC3E}">
        <p14:creationId xmlns:p14="http://schemas.microsoft.com/office/powerpoint/2010/main" val="17503994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5BC45-3314-46E9-9CF0-4477436D38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08D3E2-4DBD-1E81-974B-EA7BFBBD88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14E16C-E475-DFD0-E82A-533BFFAC2931}"/>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2C455AD4-997F-86DA-2917-41CEE25A75D9}"/>
              </a:ext>
            </a:extLst>
          </p:cNvPr>
          <p:cNvSpPr>
            <a:spLocks noGrp="1"/>
          </p:cNvSpPr>
          <p:nvPr>
            <p:ph type="sldNum" sz="quarter" idx="5"/>
          </p:nvPr>
        </p:nvSpPr>
        <p:spPr/>
        <p:txBody>
          <a:bodyPr/>
          <a:lstStyle/>
          <a:p>
            <a:fld id="{0528457E-CE4A-4A58-AF6C-C03F6EB3B2CB}" type="slidenum">
              <a:rPr lang="en-PH" smtClean="0"/>
              <a:t>10</a:t>
            </a:fld>
            <a:endParaRPr lang="en-PH"/>
          </a:p>
        </p:txBody>
      </p:sp>
    </p:spTree>
    <p:extLst>
      <p:ext uri="{BB962C8B-B14F-4D97-AF65-F5344CB8AC3E}">
        <p14:creationId xmlns:p14="http://schemas.microsoft.com/office/powerpoint/2010/main" val="28105097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0528457E-CE4A-4A58-AF6C-C03F6EB3B2CB}" type="slidenum">
              <a:rPr lang="en-PH" smtClean="0"/>
              <a:t>11</a:t>
            </a:fld>
            <a:endParaRPr lang="en-PH"/>
          </a:p>
        </p:txBody>
      </p:sp>
    </p:spTree>
    <p:extLst>
      <p:ext uri="{BB962C8B-B14F-4D97-AF65-F5344CB8AC3E}">
        <p14:creationId xmlns:p14="http://schemas.microsoft.com/office/powerpoint/2010/main" val="914819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modest improvements in scheduling accuracy yield significant annual savings. The forecasting system becomes a strategic asset that enhances operational efficiency and financial performance.</a:t>
            </a:r>
            <a:endParaRPr lang="en-PH" dirty="0"/>
          </a:p>
        </p:txBody>
      </p:sp>
      <p:sp>
        <p:nvSpPr>
          <p:cNvPr id="4" name="Slide Number Placeholder 3"/>
          <p:cNvSpPr>
            <a:spLocks noGrp="1"/>
          </p:cNvSpPr>
          <p:nvPr>
            <p:ph type="sldNum" sz="quarter" idx="5"/>
          </p:nvPr>
        </p:nvSpPr>
        <p:spPr/>
        <p:txBody>
          <a:bodyPr/>
          <a:lstStyle/>
          <a:p>
            <a:fld id="{0528457E-CE4A-4A58-AF6C-C03F6EB3B2CB}" type="slidenum">
              <a:rPr lang="en-PH" smtClean="0"/>
              <a:t>12</a:t>
            </a:fld>
            <a:endParaRPr lang="en-PH"/>
          </a:p>
        </p:txBody>
      </p:sp>
    </p:spTree>
    <p:extLst>
      <p:ext uri="{BB962C8B-B14F-4D97-AF65-F5344CB8AC3E}">
        <p14:creationId xmlns:p14="http://schemas.microsoft.com/office/powerpoint/2010/main" val="5828486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57AF4-BEB8-0755-B4DD-162EFEECFE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0B6F103E-EF90-9A4E-4DB5-AB203F9697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F2F506F9-4E39-EAA7-09B7-7845B7EA1A8D}"/>
              </a:ext>
            </a:extLst>
          </p:cNvPr>
          <p:cNvSpPr>
            <a:spLocks noGrp="1"/>
          </p:cNvSpPr>
          <p:nvPr>
            <p:ph type="dt" sz="half" idx="10"/>
          </p:nvPr>
        </p:nvSpPr>
        <p:spPr/>
        <p:txBody>
          <a:bodyPr/>
          <a:lstStyle/>
          <a:p>
            <a:fld id="{D1A6DAAF-4764-42AD-8163-22329E9EAD67}" type="datetimeFigureOut">
              <a:rPr lang="en-PH" smtClean="0"/>
              <a:t>28/04/2026</a:t>
            </a:fld>
            <a:endParaRPr lang="en-PH"/>
          </a:p>
        </p:txBody>
      </p:sp>
      <p:sp>
        <p:nvSpPr>
          <p:cNvPr id="5" name="Footer Placeholder 4">
            <a:extLst>
              <a:ext uri="{FF2B5EF4-FFF2-40B4-BE49-F238E27FC236}">
                <a16:creationId xmlns:a16="http://schemas.microsoft.com/office/drawing/2014/main" id="{EABEAF27-FA54-6443-9D59-6538D64DE6CC}"/>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BA4BCA10-4037-FF8F-5F9D-785B6CBB5EAF}"/>
              </a:ext>
            </a:extLst>
          </p:cNvPr>
          <p:cNvSpPr>
            <a:spLocks noGrp="1"/>
          </p:cNvSpPr>
          <p:nvPr>
            <p:ph type="sldNum" sz="quarter" idx="12"/>
          </p:nvPr>
        </p:nvSpPr>
        <p:spPr/>
        <p:txBody>
          <a:bodyPr/>
          <a:lstStyle/>
          <a:p>
            <a:fld id="{36CD1784-4ACB-4F24-86E3-51DFDC1C4E20}" type="slidenum">
              <a:rPr lang="en-PH" smtClean="0"/>
              <a:t>‹#›</a:t>
            </a:fld>
            <a:endParaRPr lang="en-PH"/>
          </a:p>
        </p:txBody>
      </p:sp>
    </p:spTree>
    <p:extLst>
      <p:ext uri="{BB962C8B-B14F-4D97-AF65-F5344CB8AC3E}">
        <p14:creationId xmlns:p14="http://schemas.microsoft.com/office/powerpoint/2010/main" val="3795109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1D717-108E-9D8C-440B-007AC46D7B74}"/>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3122AED6-6BE1-7614-339E-ADF080B1E1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E9FCF739-BDF1-6D8A-64E8-F8CA9D2AEB63}"/>
              </a:ext>
            </a:extLst>
          </p:cNvPr>
          <p:cNvSpPr>
            <a:spLocks noGrp="1"/>
          </p:cNvSpPr>
          <p:nvPr>
            <p:ph type="dt" sz="half" idx="10"/>
          </p:nvPr>
        </p:nvSpPr>
        <p:spPr/>
        <p:txBody>
          <a:bodyPr/>
          <a:lstStyle/>
          <a:p>
            <a:fld id="{D1A6DAAF-4764-42AD-8163-22329E9EAD67}" type="datetimeFigureOut">
              <a:rPr lang="en-PH" smtClean="0"/>
              <a:t>28/04/2026</a:t>
            </a:fld>
            <a:endParaRPr lang="en-PH"/>
          </a:p>
        </p:txBody>
      </p:sp>
      <p:sp>
        <p:nvSpPr>
          <p:cNvPr id="5" name="Footer Placeholder 4">
            <a:extLst>
              <a:ext uri="{FF2B5EF4-FFF2-40B4-BE49-F238E27FC236}">
                <a16:creationId xmlns:a16="http://schemas.microsoft.com/office/drawing/2014/main" id="{507980A9-7794-9E73-710A-34B569582F02}"/>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2F1FF2E8-5750-2901-9F29-41CE7DF7513D}"/>
              </a:ext>
            </a:extLst>
          </p:cNvPr>
          <p:cNvSpPr>
            <a:spLocks noGrp="1"/>
          </p:cNvSpPr>
          <p:nvPr>
            <p:ph type="sldNum" sz="quarter" idx="12"/>
          </p:nvPr>
        </p:nvSpPr>
        <p:spPr/>
        <p:txBody>
          <a:bodyPr/>
          <a:lstStyle/>
          <a:p>
            <a:fld id="{36CD1784-4ACB-4F24-86E3-51DFDC1C4E20}" type="slidenum">
              <a:rPr lang="en-PH" smtClean="0"/>
              <a:t>‹#›</a:t>
            </a:fld>
            <a:endParaRPr lang="en-PH"/>
          </a:p>
        </p:txBody>
      </p:sp>
    </p:spTree>
    <p:extLst>
      <p:ext uri="{BB962C8B-B14F-4D97-AF65-F5344CB8AC3E}">
        <p14:creationId xmlns:p14="http://schemas.microsoft.com/office/powerpoint/2010/main" val="2969323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DC5C7-9994-8FD1-7C20-1C7299715B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939692E1-6B4B-E3BE-3C83-4B9A34F650E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997547C-A41E-62F8-9810-816DA7C877AF}"/>
              </a:ext>
            </a:extLst>
          </p:cNvPr>
          <p:cNvSpPr>
            <a:spLocks noGrp="1"/>
          </p:cNvSpPr>
          <p:nvPr>
            <p:ph type="dt" sz="half" idx="10"/>
          </p:nvPr>
        </p:nvSpPr>
        <p:spPr/>
        <p:txBody>
          <a:bodyPr/>
          <a:lstStyle/>
          <a:p>
            <a:fld id="{D1A6DAAF-4764-42AD-8163-22329E9EAD67}" type="datetimeFigureOut">
              <a:rPr lang="en-PH" smtClean="0"/>
              <a:t>28/04/2026</a:t>
            </a:fld>
            <a:endParaRPr lang="en-PH"/>
          </a:p>
        </p:txBody>
      </p:sp>
      <p:sp>
        <p:nvSpPr>
          <p:cNvPr id="5" name="Footer Placeholder 4">
            <a:extLst>
              <a:ext uri="{FF2B5EF4-FFF2-40B4-BE49-F238E27FC236}">
                <a16:creationId xmlns:a16="http://schemas.microsoft.com/office/drawing/2014/main" id="{B676E632-52E3-7736-1276-F178495FDC10}"/>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DED225E5-F0AD-A6F0-36E2-E0AF604EB29E}"/>
              </a:ext>
            </a:extLst>
          </p:cNvPr>
          <p:cNvSpPr>
            <a:spLocks noGrp="1"/>
          </p:cNvSpPr>
          <p:nvPr>
            <p:ph type="sldNum" sz="quarter" idx="12"/>
          </p:nvPr>
        </p:nvSpPr>
        <p:spPr/>
        <p:txBody>
          <a:bodyPr/>
          <a:lstStyle/>
          <a:p>
            <a:fld id="{36CD1784-4ACB-4F24-86E3-51DFDC1C4E20}" type="slidenum">
              <a:rPr lang="en-PH" smtClean="0"/>
              <a:t>‹#›</a:t>
            </a:fld>
            <a:endParaRPr lang="en-PH"/>
          </a:p>
        </p:txBody>
      </p:sp>
    </p:spTree>
    <p:extLst>
      <p:ext uri="{BB962C8B-B14F-4D97-AF65-F5344CB8AC3E}">
        <p14:creationId xmlns:p14="http://schemas.microsoft.com/office/powerpoint/2010/main" val="19917483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213F4-A144-853A-3225-C8569976BDA6}"/>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8DD01A6A-DF7C-3F4A-B976-A690DF156C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370E99A6-0DC9-3AC4-F809-8AA7C92C8D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9D07CFAE-CF3D-5028-D982-CF1603583378}"/>
              </a:ext>
            </a:extLst>
          </p:cNvPr>
          <p:cNvSpPr>
            <a:spLocks noGrp="1"/>
          </p:cNvSpPr>
          <p:nvPr>
            <p:ph type="dt" sz="half" idx="10"/>
          </p:nvPr>
        </p:nvSpPr>
        <p:spPr/>
        <p:txBody>
          <a:bodyPr/>
          <a:lstStyle/>
          <a:p>
            <a:fld id="{D1A6DAAF-4764-42AD-8163-22329E9EAD67}" type="datetimeFigureOut">
              <a:rPr lang="en-PH" smtClean="0"/>
              <a:t>28/04/2026</a:t>
            </a:fld>
            <a:endParaRPr lang="en-PH"/>
          </a:p>
        </p:txBody>
      </p:sp>
      <p:sp>
        <p:nvSpPr>
          <p:cNvPr id="6" name="Footer Placeholder 5">
            <a:extLst>
              <a:ext uri="{FF2B5EF4-FFF2-40B4-BE49-F238E27FC236}">
                <a16:creationId xmlns:a16="http://schemas.microsoft.com/office/drawing/2014/main" id="{880C9B44-A376-A062-3037-CBEB2F70686F}"/>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C3EAE910-9EC4-376D-5643-FCCFCE0165FA}"/>
              </a:ext>
            </a:extLst>
          </p:cNvPr>
          <p:cNvSpPr>
            <a:spLocks noGrp="1"/>
          </p:cNvSpPr>
          <p:nvPr>
            <p:ph type="sldNum" sz="quarter" idx="12"/>
          </p:nvPr>
        </p:nvSpPr>
        <p:spPr/>
        <p:txBody>
          <a:bodyPr/>
          <a:lstStyle/>
          <a:p>
            <a:fld id="{36CD1784-4ACB-4F24-86E3-51DFDC1C4E20}" type="slidenum">
              <a:rPr lang="en-PH" smtClean="0"/>
              <a:t>‹#›</a:t>
            </a:fld>
            <a:endParaRPr lang="en-PH"/>
          </a:p>
        </p:txBody>
      </p:sp>
    </p:spTree>
    <p:extLst>
      <p:ext uri="{BB962C8B-B14F-4D97-AF65-F5344CB8AC3E}">
        <p14:creationId xmlns:p14="http://schemas.microsoft.com/office/powerpoint/2010/main" val="1812346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C327E-E93A-C464-7DC7-8E824090C4F6}"/>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DACD18A8-877E-A477-BDCC-585D491332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10243D-18B0-56F5-C705-030B7B740B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ACC3E121-C067-5952-8469-8CC8BE6B44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7CEAC7-4C68-550C-F4EB-B6BC3D58EB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5A207454-AACB-2732-8EC1-C50E01A9E179}"/>
              </a:ext>
            </a:extLst>
          </p:cNvPr>
          <p:cNvSpPr>
            <a:spLocks noGrp="1"/>
          </p:cNvSpPr>
          <p:nvPr>
            <p:ph type="dt" sz="half" idx="10"/>
          </p:nvPr>
        </p:nvSpPr>
        <p:spPr/>
        <p:txBody>
          <a:bodyPr/>
          <a:lstStyle/>
          <a:p>
            <a:fld id="{D1A6DAAF-4764-42AD-8163-22329E9EAD67}" type="datetimeFigureOut">
              <a:rPr lang="en-PH" smtClean="0"/>
              <a:t>28/04/2026</a:t>
            </a:fld>
            <a:endParaRPr lang="en-PH"/>
          </a:p>
        </p:txBody>
      </p:sp>
      <p:sp>
        <p:nvSpPr>
          <p:cNvPr id="8" name="Footer Placeholder 7">
            <a:extLst>
              <a:ext uri="{FF2B5EF4-FFF2-40B4-BE49-F238E27FC236}">
                <a16:creationId xmlns:a16="http://schemas.microsoft.com/office/drawing/2014/main" id="{80968992-0B5C-CD66-65D9-28A10644BD64}"/>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FF887FEC-C6F7-4A4A-7B9B-2C2BA2E36A6B}"/>
              </a:ext>
            </a:extLst>
          </p:cNvPr>
          <p:cNvSpPr>
            <a:spLocks noGrp="1"/>
          </p:cNvSpPr>
          <p:nvPr>
            <p:ph type="sldNum" sz="quarter" idx="12"/>
          </p:nvPr>
        </p:nvSpPr>
        <p:spPr/>
        <p:txBody>
          <a:bodyPr/>
          <a:lstStyle/>
          <a:p>
            <a:fld id="{36CD1784-4ACB-4F24-86E3-51DFDC1C4E20}" type="slidenum">
              <a:rPr lang="en-PH" smtClean="0"/>
              <a:t>‹#›</a:t>
            </a:fld>
            <a:endParaRPr lang="en-PH"/>
          </a:p>
        </p:txBody>
      </p:sp>
    </p:spTree>
    <p:extLst>
      <p:ext uri="{BB962C8B-B14F-4D97-AF65-F5344CB8AC3E}">
        <p14:creationId xmlns:p14="http://schemas.microsoft.com/office/powerpoint/2010/main" val="20275448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8C53F-AEEB-3D3B-F73F-DCDE85EA270B}"/>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631B76A5-B1FB-5D7B-D412-6172BD71EC43}"/>
              </a:ext>
            </a:extLst>
          </p:cNvPr>
          <p:cNvSpPr>
            <a:spLocks noGrp="1"/>
          </p:cNvSpPr>
          <p:nvPr>
            <p:ph type="dt" sz="half" idx="10"/>
          </p:nvPr>
        </p:nvSpPr>
        <p:spPr/>
        <p:txBody>
          <a:bodyPr/>
          <a:lstStyle/>
          <a:p>
            <a:fld id="{D1A6DAAF-4764-42AD-8163-22329E9EAD67}" type="datetimeFigureOut">
              <a:rPr lang="en-PH" smtClean="0"/>
              <a:t>28/04/2026</a:t>
            </a:fld>
            <a:endParaRPr lang="en-PH"/>
          </a:p>
        </p:txBody>
      </p:sp>
      <p:sp>
        <p:nvSpPr>
          <p:cNvPr id="4" name="Footer Placeholder 3">
            <a:extLst>
              <a:ext uri="{FF2B5EF4-FFF2-40B4-BE49-F238E27FC236}">
                <a16:creationId xmlns:a16="http://schemas.microsoft.com/office/drawing/2014/main" id="{9873EA01-4BE4-CA10-833E-2C9401B9C08E}"/>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EB1E387F-91C7-338C-A97B-3BC935E4722D}"/>
              </a:ext>
            </a:extLst>
          </p:cNvPr>
          <p:cNvSpPr>
            <a:spLocks noGrp="1"/>
          </p:cNvSpPr>
          <p:nvPr>
            <p:ph type="sldNum" sz="quarter" idx="12"/>
          </p:nvPr>
        </p:nvSpPr>
        <p:spPr/>
        <p:txBody>
          <a:bodyPr/>
          <a:lstStyle/>
          <a:p>
            <a:fld id="{36CD1784-4ACB-4F24-86E3-51DFDC1C4E20}" type="slidenum">
              <a:rPr lang="en-PH" smtClean="0"/>
              <a:t>‹#›</a:t>
            </a:fld>
            <a:endParaRPr lang="en-PH"/>
          </a:p>
        </p:txBody>
      </p:sp>
    </p:spTree>
    <p:extLst>
      <p:ext uri="{BB962C8B-B14F-4D97-AF65-F5344CB8AC3E}">
        <p14:creationId xmlns:p14="http://schemas.microsoft.com/office/powerpoint/2010/main" val="754332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9DF23A-3900-B108-FE78-D6B3F55F5817}"/>
              </a:ext>
            </a:extLst>
          </p:cNvPr>
          <p:cNvSpPr>
            <a:spLocks noGrp="1"/>
          </p:cNvSpPr>
          <p:nvPr>
            <p:ph type="dt" sz="half" idx="10"/>
          </p:nvPr>
        </p:nvSpPr>
        <p:spPr/>
        <p:txBody>
          <a:bodyPr/>
          <a:lstStyle/>
          <a:p>
            <a:fld id="{D1A6DAAF-4764-42AD-8163-22329E9EAD67}" type="datetimeFigureOut">
              <a:rPr lang="en-PH" smtClean="0"/>
              <a:t>28/04/2026</a:t>
            </a:fld>
            <a:endParaRPr lang="en-PH"/>
          </a:p>
        </p:txBody>
      </p:sp>
      <p:sp>
        <p:nvSpPr>
          <p:cNvPr id="3" name="Footer Placeholder 2">
            <a:extLst>
              <a:ext uri="{FF2B5EF4-FFF2-40B4-BE49-F238E27FC236}">
                <a16:creationId xmlns:a16="http://schemas.microsoft.com/office/drawing/2014/main" id="{9ED8B2C5-37FD-E241-C756-88EFFEED1D47}"/>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A9C7D25F-0DFF-2A3F-1888-71400DA6D794}"/>
              </a:ext>
            </a:extLst>
          </p:cNvPr>
          <p:cNvSpPr>
            <a:spLocks noGrp="1"/>
          </p:cNvSpPr>
          <p:nvPr>
            <p:ph type="sldNum" sz="quarter" idx="12"/>
          </p:nvPr>
        </p:nvSpPr>
        <p:spPr/>
        <p:txBody>
          <a:bodyPr/>
          <a:lstStyle/>
          <a:p>
            <a:fld id="{36CD1784-4ACB-4F24-86E3-51DFDC1C4E20}" type="slidenum">
              <a:rPr lang="en-PH" smtClean="0"/>
              <a:t>‹#›</a:t>
            </a:fld>
            <a:endParaRPr lang="en-PH"/>
          </a:p>
        </p:txBody>
      </p:sp>
    </p:spTree>
    <p:extLst>
      <p:ext uri="{BB962C8B-B14F-4D97-AF65-F5344CB8AC3E}">
        <p14:creationId xmlns:p14="http://schemas.microsoft.com/office/powerpoint/2010/main" val="23468824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96536-5C19-B3DF-1263-86A85C54C9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DABA6600-B141-A840-2FF8-8981372FB5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B9CB3A1E-D76D-C970-3A60-A503AD2CAB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5E1108-318D-911F-BC95-FABB86DB3000}"/>
              </a:ext>
            </a:extLst>
          </p:cNvPr>
          <p:cNvSpPr>
            <a:spLocks noGrp="1"/>
          </p:cNvSpPr>
          <p:nvPr>
            <p:ph type="dt" sz="half" idx="10"/>
          </p:nvPr>
        </p:nvSpPr>
        <p:spPr/>
        <p:txBody>
          <a:bodyPr/>
          <a:lstStyle/>
          <a:p>
            <a:fld id="{D1A6DAAF-4764-42AD-8163-22329E9EAD67}" type="datetimeFigureOut">
              <a:rPr lang="en-PH" smtClean="0"/>
              <a:t>28/04/2026</a:t>
            </a:fld>
            <a:endParaRPr lang="en-PH"/>
          </a:p>
        </p:txBody>
      </p:sp>
      <p:sp>
        <p:nvSpPr>
          <p:cNvPr id="6" name="Footer Placeholder 5">
            <a:extLst>
              <a:ext uri="{FF2B5EF4-FFF2-40B4-BE49-F238E27FC236}">
                <a16:creationId xmlns:a16="http://schemas.microsoft.com/office/drawing/2014/main" id="{6E05FB79-B7A9-805F-B5AF-3B92BFC9805F}"/>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86BCFD05-691F-FEB4-FE1E-361C5A1FF06F}"/>
              </a:ext>
            </a:extLst>
          </p:cNvPr>
          <p:cNvSpPr>
            <a:spLocks noGrp="1"/>
          </p:cNvSpPr>
          <p:nvPr>
            <p:ph type="sldNum" sz="quarter" idx="12"/>
          </p:nvPr>
        </p:nvSpPr>
        <p:spPr/>
        <p:txBody>
          <a:bodyPr/>
          <a:lstStyle/>
          <a:p>
            <a:fld id="{36CD1784-4ACB-4F24-86E3-51DFDC1C4E20}" type="slidenum">
              <a:rPr lang="en-PH" smtClean="0"/>
              <a:t>‹#›</a:t>
            </a:fld>
            <a:endParaRPr lang="en-PH"/>
          </a:p>
        </p:txBody>
      </p:sp>
    </p:spTree>
    <p:extLst>
      <p:ext uri="{BB962C8B-B14F-4D97-AF65-F5344CB8AC3E}">
        <p14:creationId xmlns:p14="http://schemas.microsoft.com/office/powerpoint/2010/main" val="1178784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B32E3-23FE-BB4F-5329-BF5F6D0D93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6BC9F911-15ED-B96E-FD2B-99A3FFEB32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E4DDE85E-AE3F-21D7-CA01-ADA55F0632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56DEA7-6635-9428-A17A-2DC3CD4600C5}"/>
              </a:ext>
            </a:extLst>
          </p:cNvPr>
          <p:cNvSpPr>
            <a:spLocks noGrp="1"/>
          </p:cNvSpPr>
          <p:nvPr>
            <p:ph type="dt" sz="half" idx="10"/>
          </p:nvPr>
        </p:nvSpPr>
        <p:spPr/>
        <p:txBody>
          <a:bodyPr/>
          <a:lstStyle/>
          <a:p>
            <a:fld id="{D1A6DAAF-4764-42AD-8163-22329E9EAD67}" type="datetimeFigureOut">
              <a:rPr lang="en-PH" smtClean="0"/>
              <a:t>28/04/2026</a:t>
            </a:fld>
            <a:endParaRPr lang="en-PH"/>
          </a:p>
        </p:txBody>
      </p:sp>
      <p:sp>
        <p:nvSpPr>
          <p:cNvPr id="6" name="Footer Placeholder 5">
            <a:extLst>
              <a:ext uri="{FF2B5EF4-FFF2-40B4-BE49-F238E27FC236}">
                <a16:creationId xmlns:a16="http://schemas.microsoft.com/office/drawing/2014/main" id="{C9E557A7-DEE4-AB5D-C84A-1E8497C4864A}"/>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EF213494-FC4B-2F11-3B43-692C5713EFC1}"/>
              </a:ext>
            </a:extLst>
          </p:cNvPr>
          <p:cNvSpPr>
            <a:spLocks noGrp="1"/>
          </p:cNvSpPr>
          <p:nvPr>
            <p:ph type="sldNum" sz="quarter" idx="12"/>
          </p:nvPr>
        </p:nvSpPr>
        <p:spPr/>
        <p:txBody>
          <a:bodyPr/>
          <a:lstStyle/>
          <a:p>
            <a:fld id="{36CD1784-4ACB-4F24-86E3-51DFDC1C4E20}" type="slidenum">
              <a:rPr lang="en-PH" smtClean="0"/>
              <a:t>‹#›</a:t>
            </a:fld>
            <a:endParaRPr lang="en-PH"/>
          </a:p>
        </p:txBody>
      </p:sp>
    </p:spTree>
    <p:extLst>
      <p:ext uri="{BB962C8B-B14F-4D97-AF65-F5344CB8AC3E}">
        <p14:creationId xmlns:p14="http://schemas.microsoft.com/office/powerpoint/2010/main" val="4052279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1330B-5DE0-E47E-1E13-CF290F5AB7AE}"/>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332D593D-9552-88DE-281D-EA60060A76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65472A05-A356-CCEF-1EB3-EC33C2393D2C}"/>
              </a:ext>
            </a:extLst>
          </p:cNvPr>
          <p:cNvSpPr>
            <a:spLocks noGrp="1"/>
          </p:cNvSpPr>
          <p:nvPr>
            <p:ph type="dt" sz="half" idx="10"/>
          </p:nvPr>
        </p:nvSpPr>
        <p:spPr/>
        <p:txBody>
          <a:bodyPr/>
          <a:lstStyle/>
          <a:p>
            <a:fld id="{D1A6DAAF-4764-42AD-8163-22329E9EAD67}" type="datetimeFigureOut">
              <a:rPr lang="en-PH" smtClean="0"/>
              <a:t>28/04/2026</a:t>
            </a:fld>
            <a:endParaRPr lang="en-PH"/>
          </a:p>
        </p:txBody>
      </p:sp>
      <p:sp>
        <p:nvSpPr>
          <p:cNvPr id="5" name="Footer Placeholder 4">
            <a:extLst>
              <a:ext uri="{FF2B5EF4-FFF2-40B4-BE49-F238E27FC236}">
                <a16:creationId xmlns:a16="http://schemas.microsoft.com/office/drawing/2014/main" id="{6D35703B-41D1-F7F7-7CBB-A10D89DDAF1F}"/>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1792320F-BB0F-3695-B37A-1616D79FC6B2}"/>
              </a:ext>
            </a:extLst>
          </p:cNvPr>
          <p:cNvSpPr>
            <a:spLocks noGrp="1"/>
          </p:cNvSpPr>
          <p:nvPr>
            <p:ph type="sldNum" sz="quarter" idx="12"/>
          </p:nvPr>
        </p:nvSpPr>
        <p:spPr/>
        <p:txBody>
          <a:bodyPr/>
          <a:lstStyle/>
          <a:p>
            <a:fld id="{36CD1784-4ACB-4F24-86E3-51DFDC1C4E20}" type="slidenum">
              <a:rPr lang="en-PH" smtClean="0"/>
              <a:t>‹#›</a:t>
            </a:fld>
            <a:endParaRPr lang="en-PH"/>
          </a:p>
        </p:txBody>
      </p:sp>
    </p:spTree>
    <p:extLst>
      <p:ext uri="{BB962C8B-B14F-4D97-AF65-F5344CB8AC3E}">
        <p14:creationId xmlns:p14="http://schemas.microsoft.com/office/powerpoint/2010/main" val="4946196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E5CD8D-7DE0-E447-E58C-4F6CC07E7CB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E79326CA-FD68-D22D-1F00-7BA1B79EFB4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E762D3C5-BDBD-1214-EC24-51DE79DD36ED}"/>
              </a:ext>
            </a:extLst>
          </p:cNvPr>
          <p:cNvSpPr>
            <a:spLocks noGrp="1"/>
          </p:cNvSpPr>
          <p:nvPr>
            <p:ph type="dt" sz="half" idx="10"/>
          </p:nvPr>
        </p:nvSpPr>
        <p:spPr/>
        <p:txBody>
          <a:bodyPr/>
          <a:lstStyle/>
          <a:p>
            <a:fld id="{D1A6DAAF-4764-42AD-8163-22329E9EAD67}" type="datetimeFigureOut">
              <a:rPr lang="en-PH" smtClean="0"/>
              <a:t>28/04/2026</a:t>
            </a:fld>
            <a:endParaRPr lang="en-PH"/>
          </a:p>
        </p:txBody>
      </p:sp>
      <p:sp>
        <p:nvSpPr>
          <p:cNvPr id="5" name="Footer Placeholder 4">
            <a:extLst>
              <a:ext uri="{FF2B5EF4-FFF2-40B4-BE49-F238E27FC236}">
                <a16:creationId xmlns:a16="http://schemas.microsoft.com/office/drawing/2014/main" id="{45ACB866-596A-DC55-7166-053FADD92F2B}"/>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832AD5F9-8B08-58AA-1F85-805820E6F6C6}"/>
              </a:ext>
            </a:extLst>
          </p:cNvPr>
          <p:cNvSpPr>
            <a:spLocks noGrp="1"/>
          </p:cNvSpPr>
          <p:nvPr>
            <p:ph type="sldNum" sz="quarter" idx="12"/>
          </p:nvPr>
        </p:nvSpPr>
        <p:spPr/>
        <p:txBody>
          <a:bodyPr/>
          <a:lstStyle/>
          <a:p>
            <a:fld id="{36CD1784-4ACB-4F24-86E3-51DFDC1C4E20}" type="slidenum">
              <a:rPr lang="en-PH" smtClean="0"/>
              <a:t>‹#›</a:t>
            </a:fld>
            <a:endParaRPr lang="en-PH"/>
          </a:p>
        </p:txBody>
      </p:sp>
    </p:spTree>
    <p:extLst>
      <p:ext uri="{BB962C8B-B14F-4D97-AF65-F5344CB8AC3E}">
        <p14:creationId xmlns:p14="http://schemas.microsoft.com/office/powerpoint/2010/main" val="2924421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63D559-2A9E-4A69-CFF1-BEE50BEE7E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045B1948-954B-5A44-B183-ECBA7464D2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AD2AA12B-DA42-6493-B0B5-9DFB991D9C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1A6DAAF-4764-42AD-8163-22329E9EAD67}" type="datetimeFigureOut">
              <a:rPr lang="en-PH" smtClean="0"/>
              <a:t>28/04/2026</a:t>
            </a:fld>
            <a:endParaRPr lang="en-PH"/>
          </a:p>
        </p:txBody>
      </p:sp>
      <p:sp>
        <p:nvSpPr>
          <p:cNvPr id="5" name="Footer Placeholder 4">
            <a:extLst>
              <a:ext uri="{FF2B5EF4-FFF2-40B4-BE49-F238E27FC236}">
                <a16:creationId xmlns:a16="http://schemas.microsoft.com/office/drawing/2014/main" id="{8D2CCE46-0664-CA33-5995-3F6C0C1BBF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H"/>
          </a:p>
        </p:txBody>
      </p:sp>
      <p:sp>
        <p:nvSpPr>
          <p:cNvPr id="6" name="Slide Number Placeholder 5">
            <a:extLst>
              <a:ext uri="{FF2B5EF4-FFF2-40B4-BE49-F238E27FC236}">
                <a16:creationId xmlns:a16="http://schemas.microsoft.com/office/drawing/2014/main" id="{0F78F610-0BA9-8D52-0E6C-FB16A24BDA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6CD1784-4ACB-4F24-86E3-51DFDC1C4E20}" type="slidenum">
              <a:rPr lang="en-PH" smtClean="0"/>
              <a:t>‹#›</a:t>
            </a:fld>
            <a:endParaRPr lang="en-PH"/>
          </a:p>
        </p:txBody>
      </p:sp>
    </p:spTree>
    <p:extLst>
      <p:ext uri="{BB962C8B-B14F-4D97-AF65-F5344CB8AC3E}">
        <p14:creationId xmlns:p14="http://schemas.microsoft.com/office/powerpoint/2010/main" val="22481463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2FE339D6-FCEB-3F01-6D2D-72044DB3D286}"/>
              </a:ext>
            </a:extLst>
          </p:cNvPr>
          <p:cNvSpPr>
            <a:spLocks noGrp="1"/>
          </p:cNvSpPr>
          <p:nvPr>
            <p:ph type="ctrTitle"/>
          </p:nvPr>
        </p:nvSpPr>
        <p:spPr>
          <a:xfrm>
            <a:off x="3880430" y="583345"/>
            <a:ext cx="7160357" cy="4164820"/>
          </a:xfrm>
        </p:spPr>
        <p:txBody>
          <a:bodyPr anchor="t">
            <a:normAutofit/>
          </a:bodyPr>
          <a:lstStyle/>
          <a:p>
            <a:pPr algn="r"/>
            <a:r>
              <a:rPr lang="en-US" sz="6200" b="1">
                <a:solidFill>
                  <a:srgbClr val="FFFFFF"/>
                </a:solidFill>
              </a:rPr>
              <a:t>Workforce Demand Forecasting for Transportation Operations</a:t>
            </a:r>
            <a:endParaRPr lang="en-PH" sz="6200" b="1">
              <a:solidFill>
                <a:srgbClr val="FFFFFF"/>
              </a:solidFill>
            </a:endParaRPr>
          </a:p>
        </p:txBody>
      </p:sp>
      <p:sp>
        <p:nvSpPr>
          <p:cNvPr id="3" name="Subtitle 2">
            <a:extLst>
              <a:ext uri="{FF2B5EF4-FFF2-40B4-BE49-F238E27FC236}">
                <a16:creationId xmlns:a16="http://schemas.microsoft.com/office/drawing/2014/main" id="{048CFC5C-1DB9-8EDA-23CF-B07358CC1717}"/>
              </a:ext>
            </a:extLst>
          </p:cNvPr>
          <p:cNvSpPr>
            <a:spLocks noGrp="1"/>
          </p:cNvSpPr>
          <p:nvPr>
            <p:ph type="subTitle" idx="1"/>
          </p:nvPr>
        </p:nvSpPr>
        <p:spPr>
          <a:xfrm>
            <a:off x="1208228" y="5972174"/>
            <a:ext cx="8578699" cy="504825"/>
          </a:xfrm>
        </p:spPr>
        <p:txBody>
          <a:bodyPr>
            <a:normAutofit/>
          </a:bodyPr>
          <a:lstStyle/>
          <a:p>
            <a:pPr algn="l"/>
            <a:r>
              <a:rPr lang="en-US" sz="1700">
                <a:solidFill>
                  <a:srgbClr val="FFFFFF"/>
                </a:solidFill>
              </a:rPr>
              <a:t>Using Data‑Driven Insights to Improve Scheduling Efficiency and Reduce Labor Costs</a:t>
            </a:r>
            <a:endParaRPr lang="en-PH" sz="1700">
              <a:solidFill>
                <a:srgbClr val="FFFFFF"/>
              </a:solidFill>
            </a:endParaRPr>
          </a:p>
        </p:txBody>
      </p:sp>
      <p:sp>
        <p:nvSpPr>
          <p:cNvPr id="42"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43"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4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45" name="Straight Connector 44">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46"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39"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41"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3267693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D3142344-B58F-EF7F-5A91-A2F8ED913CAA}"/>
              </a:ext>
            </a:extLst>
          </p:cNvPr>
          <p:cNvSpPr>
            <a:spLocks noGrp="1"/>
          </p:cNvSpPr>
          <p:nvPr>
            <p:ph type="title"/>
          </p:nvPr>
        </p:nvSpPr>
        <p:spPr>
          <a:xfrm>
            <a:off x="1188069" y="381935"/>
            <a:ext cx="4008583" cy="5974414"/>
          </a:xfrm>
        </p:spPr>
        <p:txBody>
          <a:bodyPr anchor="ctr">
            <a:normAutofit/>
          </a:bodyPr>
          <a:lstStyle/>
          <a:p>
            <a:r>
              <a:rPr lang="en-PH" sz="6200" b="1" dirty="0">
                <a:solidFill>
                  <a:srgbClr val="FFFFFF"/>
                </a:solidFill>
                <a:latin typeface="Arial" panose="020B0604020202020204" pitchFamily="34" charset="0"/>
                <a:cs typeface="Arial" panose="020B0604020202020204" pitchFamily="34" charset="0"/>
              </a:rPr>
              <a:t>The Business Problem</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6A9DA581-0AA8-5DEC-23CA-49216732CB23}"/>
              </a:ext>
            </a:extLst>
          </p:cNvPr>
          <p:cNvSpPr>
            <a:spLocks noGrp="1"/>
          </p:cNvSpPr>
          <p:nvPr>
            <p:ph idx="1"/>
          </p:nvPr>
        </p:nvSpPr>
        <p:spPr>
          <a:xfrm>
            <a:off x="6297233" y="518400"/>
            <a:ext cx="4771607" cy="5837949"/>
          </a:xfrm>
        </p:spPr>
        <p:txBody>
          <a:bodyPr anchor="ctr">
            <a:normAutofit lnSpcReduction="10000"/>
          </a:bodyPr>
          <a:lstStyle/>
          <a:p>
            <a:pPr marL="0" indent="0">
              <a:spcBef>
                <a:spcPts val="0"/>
              </a:spcBef>
              <a:buNone/>
            </a:pPr>
            <a:r>
              <a:rPr lang="en-US" sz="1900" dirty="0">
                <a:solidFill>
                  <a:schemeClr val="tx1">
                    <a:alpha val="80000"/>
                  </a:schemeClr>
                </a:solidFill>
                <a:effectLst/>
                <a:latin typeface="Arial" panose="020B0604020202020204" pitchFamily="34" charset="0"/>
                <a:cs typeface="Arial" panose="020B0604020202020204" pitchFamily="34" charset="0"/>
              </a:rPr>
              <a:t>Transportation companies rely on accurate workforce scheduling to keep operations running smoothly, avoid delays, and control labor costs. However, staffing needs shift daily due to:</a:t>
            </a:r>
          </a:p>
          <a:p>
            <a:pPr marL="0" indent="0">
              <a:spcBef>
                <a:spcPts val="0"/>
              </a:spcBef>
              <a:buNone/>
            </a:pPr>
            <a:endParaRPr lang="en-US" sz="1900" dirty="0">
              <a:solidFill>
                <a:schemeClr val="tx1">
                  <a:alpha val="80000"/>
                </a:schemeClr>
              </a:solidFill>
              <a:latin typeface="Arial" panose="020B0604020202020204" pitchFamily="34" charset="0"/>
              <a:cs typeface="Arial" panose="020B0604020202020204" pitchFamily="34" charset="0"/>
            </a:endParaRPr>
          </a:p>
          <a:p>
            <a:pPr>
              <a:spcBef>
                <a:spcPts val="0"/>
              </a:spcBef>
            </a:pPr>
            <a:r>
              <a:rPr lang="en-US" sz="1900" dirty="0">
                <a:solidFill>
                  <a:schemeClr val="tx1">
                    <a:alpha val="80000"/>
                  </a:schemeClr>
                </a:solidFill>
                <a:effectLst/>
                <a:latin typeface="Arial" panose="020B0604020202020204" pitchFamily="34" charset="0"/>
                <a:cs typeface="Arial" panose="020B0604020202020204" pitchFamily="34" charset="0"/>
              </a:rPr>
              <a:t>Seasonality and ridership fluctuations</a:t>
            </a:r>
            <a:endParaRPr lang="en-US" sz="1900" dirty="0">
              <a:solidFill>
                <a:schemeClr val="tx1">
                  <a:alpha val="80000"/>
                </a:schemeClr>
              </a:solidFill>
              <a:latin typeface="Arial" panose="020B0604020202020204" pitchFamily="34" charset="0"/>
              <a:cs typeface="Arial" panose="020B0604020202020204" pitchFamily="34" charset="0"/>
            </a:endParaRPr>
          </a:p>
          <a:p>
            <a:pPr>
              <a:spcBef>
                <a:spcPts val="0"/>
              </a:spcBef>
            </a:pPr>
            <a:r>
              <a:rPr lang="en-US" sz="1900" dirty="0">
                <a:solidFill>
                  <a:schemeClr val="tx1">
                    <a:alpha val="80000"/>
                  </a:schemeClr>
                </a:solidFill>
                <a:effectLst/>
                <a:latin typeface="Arial" panose="020B0604020202020204" pitchFamily="34" charset="0"/>
                <a:cs typeface="Arial" panose="020B0604020202020204" pitchFamily="34" charset="0"/>
              </a:rPr>
              <a:t>Route and station differences</a:t>
            </a:r>
            <a:endParaRPr lang="en-US" sz="1900" dirty="0">
              <a:solidFill>
                <a:schemeClr val="tx1">
                  <a:alpha val="80000"/>
                </a:schemeClr>
              </a:solidFill>
              <a:latin typeface="Arial" panose="020B0604020202020204" pitchFamily="34" charset="0"/>
              <a:cs typeface="Arial" panose="020B0604020202020204" pitchFamily="34" charset="0"/>
            </a:endParaRPr>
          </a:p>
          <a:p>
            <a:pPr>
              <a:spcBef>
                <a:spcPts val="0"/>
              </a:spcBef>
            </a:pPr>
            <a:r>
              <a:rPr lang="en-US" sz="1900" dirty="0">
                <a:solidFill>
                  <a:schemeClr val="tx1">
                    <a:alpha val="80000"/>
                  </a:schemeClr>
                </a:solidFill>
                <a:effectLst/>
                <a:latin typeface="Arial" panose="020B0604020202020204" pitchFamily="34" charset="0"/>
                <a:cs typeface="Arial" panose="020B0604020202020204" pitchFamily="34" charset="0"/>
              </a:rPr>
              <a:t>Weather conditions</a:t>
            </a:r>
          </a:p>
          <a:p>
            <a:pPr>
              <a:spcBef>
                <a:spcPts val="0"/>
              </a:spcBef>
            </a:pPr>
            <a:r>
              <a:rPr lang="en-US" sz="1900" dirty="0">
                <a:solidFill>
                  <a:schemeClr val="tx1">
                    <a:alpha val="80000"/>
                  </a:schemeClr>
                </a:solidFill>
                <a:effectLst/>
                <a:latin typeface="Arial" panose="020B0604020202020204" pitchFamily="34" charset="0"/>
                <a:cs typeface="Arial" panose="020B0604020202020204" pitchFamily="34" charset="0"/>
              </a:rPr>
              <a:t>Special events and unexpected disruptions</a:t>
            </a:r>
            <a:endParaRPr lang="en-US" sz="1900" dirty="0">
              <a:solidFill>
                <a:schemeClr val="tx1">
                  <a:alpha val="80000"/>
                </a:schemeClr>
              </a:solidFill>
              <a:latin typeface="Arial" panose="020B0604020202020204" pitchFamily="34" charset="0"/>
              <a:cs typeface="Arial" panose="020B0604020202020204" pitchFamily="34" charset="0"/>
            </a:endParaRPr>
          </a:p>
          <a:p>
            <a:pPr marL="0" indent="0">
              <a:spcBef>
                <a:spcPts val="0"/>
              </a:spcBef>
              <a:buNone/>
            </a:pPr>
            <a:endParaRPr lang="en-US" sz="1900" dirty="0">
              <a:solidFill>
                <a:schemeClr val="tx1">
                  <a:alpha val="80000"/>
                </a:schemeClr>
              </a:solidFill>
              <a:effectLst/>
              <a:latin typeface="Arial" panose="020B0604020202020204" pitchFamily="34" charset="0"/>
              <a:cs typeface="Arial" panose="020B0604020202020204" pitchFamily="34" charset="0"/>
            </a:endParaRPr>
          </a:p>
          <a:p>
            <a:pPr marL="0" indent="0">
              <a:spcBef>
                <a:spcPts val="0"/>
              </a:spcBef>
              <a:buNone/>
            </a:pPr>
            <a:r>
              <a:rPr lang="en-US" sz="1900" dirty="0">
                <a:solidFill>
                  <a:schemeClr val="tx1">
                    <a:alpha val="80000"/>
                  </a:schemeClr>
                </a:solidFill>
                <a:effectLst/>
                <a:latin typeface="Arial" panose="020B0604020202020204" pitchFamily="34" charset="0"/>
                <a:cs typeface="Arial" panose="020B0604020202020204" pitchFamily="34" charset="0"/>
              </a:rPr>
              <a:t>When schedules are not forecasted well:</a:t>
            </a:r>
          </a:p>
          <a:p>
            <a:pPr marL="0" indent="0">
              <a:spcBef>
                <a:spcPts val="0"/>
              </a:spcBef>
              <a:buNone/>
            </a:pPr>
            <a:endParaRPr lang="en-US" sz="1900" dirty="0">
              <a:solidFill>
                <a:schemeClr val="tx1">
                  <a:alpha val="80000"/>
                </a:schemeClr>
              </a:solidFill>
              <a:latin typeface="Arial" panose="020B0604020202020204" pitchFamily="34" charset="0"/>
              <a:cs typeface="Arial" panose="020B0604020202020204" pitchFamily="34" charset="0"/>
            </a:endParaRPr>
          </a:p>
          <a:p>
            <a:pPr>
              <a:spcBef>
                <a:spcPts val="0"/>
              </a:spcBef>
            </a:pPr>
            <a:r>
              <a:rPr lang="en-US" sz="1900" b="1" dirty="0">
                <a:solidFill>
                  <a:schemeClr val="tx1">
                    <a:alpha val="80000"/>
                  </a:schemeClr>
                </a:solidFill>
                <a:effectLst/>
                <a:latin typeface="Arial" panose="020B0604020202020204" pitchFamily="34" charset="0"/>
                <a:cs typeface="Arial" panose="020B0604020202020204" pitchFamily="34" charset="0"/>
              </a:rPr>
              <a:t>Understaffing</a:t>
            </a:r>
            <a:r>
              <a:rPr lang="en-US" sz="1900" dirty="0">
                <a:solidFill>
                  <a:schemeClr val="tx1">
                    <a:alpha val="80000"/>
                  </a:schemeClr>
                </a:solidFill>
                <a:effectLst/>
                <a:latin typeface="Arial" panose="020B0604020202020204" pitchFamily="34" charset="0"/>
                <a:cs typeface="Arial" panose="020B0604020202020204" pitchFamily="34" charset="0"/>
              </a:rPr>
              <a:t> leads to delays, safety risks, and service failures</a:t>
            </a:r>
            <a:endParaRPr lang="en-US" sz="1900" dirty="0">
              <a:solidFill>
                <a:schemeClr val="tx1">
                  <a:alpha val="80000"/>
                </a:schemeClr>
              </a:solidFill>
              <a:latin typeface="Arial" panose="020B0604020202020204" pitchFamily="34" charset="0"/>
              <a:cs typeface="Arial" panose="020B0604020202020204" pitchFamily="34" charset="0"/>
            </a:endParaRPr>
          </a:p>
          <a:p>
            <a:pPr>
              <a:spcBef>
                <a:spcPts val="0"/>
              </a:spcBef>
            </a:pPr>
            <a:r>
              <a:rPr lang="en-US" sz="1900" b="1" dirty="0">
                <a:solidFill>
                  <a:schemeClr val="tx1">
                    <a:alpha val="80000"/>
                  </a:schemeClr>
                </a:solidFill>
                <a:effectLst/>
                <a:latin typeface="Arial" panose="020B0604020202020204" pitchFamily="34" charset="0"/>
                <a:cs typeface="Arial" panose="020B0604020202020204" pitchFamily="34" charset="0"/>
              </a:rPr>
              <a:t>Overstaffing</a:t>
            </a:r>
            <a:r>
              <a:rPr lang="en-US" sz="1900" dirty="0">
                <a:solidFill>
                  <a:schemeClr val="tx1">
                    <a:alpha val="80000"/>
                  </a:schemeClr>
                </a:solidFill>
                <a:effectLst/>
                <a:latin typeface="Arial" panose="020B0604020202020204" pitchFamily="34" charset="0"/>
                <a:cs typeface="Arial" panose="020B0604020202020204" pitchFamily="34" charset="0"/>
              </a:rPr>
              <a:t> leads to unnecessary labor expenses</a:t>
            </a:r>
            <a:endParaRPr lang="en-US" sz="1900" dirty="0">
              <a:solidFill>
                <a:schemeClr val="tx1">
                  <a:alpha val="80000"/>
                </a:schemeClr>
              </a:solidFill>
              <a:latin typeface="Arial" panose="020B0604020202020204" pitchFamily="34" charset="0"/>
              <a:cs typeface="Arial" panose="020B0604020202020204" pitchFamily="34" charset="0"/>
            </a:endParaRPr>
          </a:p>
          <a:p>
            <a:pPr marL="0" indent="0">
              <a:spcBef>
                <a:spcPts val="0"/>
              </a:spcBef>
              <a:buNone/>
            </a:pPr>
            <a:endParaRPr lang="en-US" sz="1900" dirty="0">
              <a:solidFill>
                <a:schemeClr val="tx1">
                  <a:alpha val="80000"/>
                </a:schemeClr>
              </a:solidFill>
              <a:effectLst/>
              <a:latin typeface="Arial" panose="020B0604020202020204" pitchFamily="34" charset="0"/>
              <a:cs typeface="Arial" panose="020B0604020202020204" pitchFamily="34" charset="0"/>
            </a:endParaRPr>
          </a:p>
          <a:p>
            <a:pPr marL="0" indent="0">
              <a:spcBef>
                <a:spcPts val="0"/>
              </a:spcBef>
              <a:buNone/>
            </a:pPr>
            <a:r>
              <a:rPr lang="en-US" sz="1900" dirty="0">
                <a:solidFill>
                  <a:schemeClr val="tx1">
                    <a:alpha val="80000"/>
                  </a:schemeClr>
                </a:solidFill>
                <a:effectLst/>
                <a:latin typeface="Arial" panose="020B0604020202020204" pitchFamily="34" charset="0"/>
                <a:cs typeface="Arial" panose="020B0604020202020204" pitchFamily="34" charset="0"/>
              </a:rPr>
              <a:t>The goal is to create a </a:t>
            </a:r>
            <a:r>
              <a:rPr lang="en-US" sz="1900" b="1" dirty="0">
                <a:solidFill>
                  <a:schemeClr val="tx1">
                    <a:alpha val="80000"/>
                  </a:schemeClr>
                </a:solidFill>
                <a:effectLst/>
                <a:latin typeface="Arial" panose="020B0604020202020204" pitchFamily="34" charset="0"/>
                <a:cs typeface="Arial" panose="020B0604020202020204" pitchFamily="34" charset="0"/>
              </a:rPr>
              <a:t>predictive, data‑driven scheduling approach</a:t>
            </a:r>
            <a:r>
              <a:rPr lang="en-US" sz="1900" dirty="0">
                <a:solidFill>
                  <a:schemeClr val="tx1">
                    <a:alpha val="80000"/>
                  </a:schemeClr>
                </a:solidFill>
                <a:effectLst/>
                <a:latin typeface="Arial" panose="020B0604020202020204" pitchFamily="34" charset="0"/>
                <a:cs typeface="Arial" panose="020B0604020202020204" pitchFamily="34" charset="0"/>
              </a:rPr>
              <a:t> that reduces errors and improves operational reliability.</a:t>
            </a:r>
            <a:endParaRPr lang="en-US" sz="1900" dirty="0">
              <a:solidFill>
                <a:schemeClr val="tx1">
                  <a:alpha val="80000"/>
                </a:schemeClr>
              </a:solidFill>
              <a:latin typeface="Arial" panose="020B0604020202020204" pitchFamily="34" charset="0"/>
              <a:cs typeface="Arial" panose="020B0604020202020204" pitchFamily="34" charset="0"/>
            </a:endParaRPr>
          </a:p>
          <a:p>
            <a:endParaRPr lang="en-PH" sz="1900" dirty="0">
              <a:solidFill>
                <a:schemeClr val="tx1">
                  <a:alpha val="80000"/>
                </a:schemeClr>
              </a:solidFill>
            </a:endParaRP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3403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1BCFBECF-E023-2877-8385-75107E87B53C}"/>
              </a:ext>
            </a:extLst>
          </p:cNvPr>
          <p:cNvSpPr>
            <a:spLocks noGrp="1"/>
          </p:cNvSpPr>
          <p:nvPr>
            <p:ph type="title"/>
          </p:nvPr>
        </p:nvSpPr>
        <p:spPr>
          <a:xfrm>
            <a:off x="1188069" y="381935"/>
            <a:ext cx="4008583" cy="5974414"/>
          </a:xfrm>
        </p:spPr>
        <p:txBody>
          <a:bodyPr anchor="ctr">
            <a:normAutofit/>
          </a:bodyPr>
          <a:lstStyle/>
          <a:p>
            <a:r>
              <a:rPr lang="en-US" sz="8000" dirty="0">
                <a:solidFill>
                  <a:srgbClr val="FFFFFF"/>
                </a:solidFill>
              </a:rPr>
              <a:t>Why This Matters (Cost &amp; Impact)</a:t>
            </a:r>
            <a:endParaRPr lang="en-PH" sz="8000" dirty="0">
              <a:solidFill>
                <a:srgbClr val="FFFFFF"/>
              </a:solidFill>
            </a:endParaRP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8C1DF1E3-84DF-94ED-3032-78733A1FD213}"/>
              </a:ext>
            </a:extLst>
          </p:cNvPr>
          <p:cNvSpPr>
            <a:spLocks noGrp="1"/>
          </p:cNvSpPr>
          <p:nvPr>
            <p:ph idx="1"/>
          </p:nvPr>
        </p:nvSpPr>
        <p:spPr>
          <a:xfrm>
            <a:off x="6297233" y="518400"/>
            <a:ext cx="4771607" cy="5837949"/>
          </a:xfrm>
        </p:spPr>
        <p:txBody>
          <a:bodyPr anchor="ctr">
            <a:normAutofit/>
          </a:bodyPr>
          <a:lstStyle/>
          <a:p>
            <a:pPr marL="0" indent="0">
              <a:buNone/>
            </a:pPr>
            <a:r>
              <a:rPr lang="en-US" sz="1900" dirty="0">
                <a:solidFill>
                  <a:schemeClr val="tx1">
                    <a:alpha val="80000"/>
                  </a:schemeClr>
                </a:solidFill>
                <a:effectLst/>
              </a:rPr>
              <a:t>Poor scheduling directly impacts:</a:t>
            </a:r>
            <a:endParaRPr lang="en-US" sz="1900" dirty="0">
              <a:solidFill>
                <a:schemeClr val="tx1">
                  <a:alpha val="80000"/>
                </a:schemeClr>
              </a:solidFill>
            </a:endParaRPr>
          </a:p>
          <a:p>
            <a:r>
              <a:rPr lang="en-US" sz="1900" b="1" dirty="0">
                <a:solidFill>
                  <a:schemeClr val="tx1">
                    <a:alpha val="80000"/>
                  </a:schemeClr>
                </a:solidFill>
                <a:effectLst/>
              </a:rPr>
              <a:t>Operational efficiency</a:t>
            </a:r>
            <a:r>
              <a:rPr lang="en-US" sz="1900" dirty="0">
                <a:solidFill>
                  <a:schemeClr val="tx1">
                    <a:alpha val="80000"/>
                  </a:schemeClr>
                </a:solidFill>
                <a:effectLst/>
              </a:rPr>
              <a:t> — delays cascade across routes</a:t>
            </a:r>
            <a:endParaRPr lang="en-US" sz="1900" dirty="0">
              <a:solidFill>
                <a:schemeClr val="tx1">
                  <a:alpha val="80000"/>
                </a:schemeClr>
              </a:solidFill>
            </a:endParaRPr>
          </a:p>
          <a:p>
            <a:r>
              <a:rPr lang="en-US" sz="1900" b="1" dirty="0">
                <a:solidFill>
                  <a:schemeClr val="tx1">
                    <a:alpha val="80000"/>
                  </a:schemeClr>
                </a:solidFill>
                <a:effectLst/>
              </a:rPr>
              <a:t>Customer satisfaction</a:t>
            </a:r>
            <a:r>
              <a:rPr lang="en-US" sz="1900" dirty="0">
                <a:solidFill>
                  <a:schemeClr val="tx1">
                    <a:alpha val="80000"/>
                  </a:schemeClr>
                </a:solidFill>
                <a:effectLst/>
              </a:rPr>
              <a:t> — long wait times and inconsistent service</a:t>
            </a:r>
            <a:endParaRPr lang="en-US" sz="1900" dirty="0">
              <a:solidFill>
                <a:schemeClr val="tx1">
                  <a:alpha val="80000"/>
                </a:schemeClr>
              </a:solidFill>
            </a:endParaRPr>
          </a:p>
          <a:p>
            <a:r>
              <a:rPr lang="en-US" sz="1900" b="1" dirty="0">
                <a:solidFill>
                  <a:schemeClr val="tx1">
                    <a:alpha val="80000"/>
                  </a:schemeClr>
                </a:solidFill>
                <a:effectLst/>
              </a:rPr>
              <a:t>Labor cost control</a:t>
            </a:r>
            <a:r>
              <a:rPr lang="en-US" sz="1900" dirty="0">
                <a:solidFill>
                  <a:schemeClr val="tx1">
                    <a:alpha val="80000"/>
                  </a:schemeClr>
                </a:solidFill>
                <a:effectLst/>
              </a:rPr>
              <a:t> — overtime, idle time, and misallocated staff</a:t>
            </a:r>
            <a:endParaRPr lang="en-US" sz="1900" dirty="0">
              <a:solidFill>
                <a:schemeClr val="tx1">
                  <a:alpha val="80000"/>
                </a:schemeClr>
              </a:solidFill>
            </a:endParaRPr>
          </a:p>
          <a:p>
            <a:r>
              <a:rPr lang="en-US" sz="1900" b="1" dirty="0">
                <a:solidFill>
                  <a:schemeClr val="tx1">
                    <a:alpha val="80000"/>
                  </a:schemeClr>
                </a:solidFill>
                <a:effectLst/>
              </a:rPr>
              <a:t>Safety and compliance</a:t>
            </a:r>
            <a:r>
              <a:rPr lang="en-US" sz="1900" dirty="0">
                <a:solidFill>
                  <a:schemeClr val="tx1">
                    <a:alpha val="80000"/>
                  </a:schemeClr>
                </a:solidFill>
                <a:effectLst/>
              </a:rPr>
              <a:t> — understaffed stations increase risk</a:t>
            </a:r>
            <a:endParaRPr lang="en-US" sz="1900" dirty="0">
              <a:solidFill>
                <a:schemeClr val="tx1">
                  <a:alpha val="80000"/>
                </a:schemeClr>
              </a:solidFill>
            </a:endParaRPr>
          </a:p>
          <a:p>
            <a:pPr marL="0" indent="0">
              <a:buNone/>
            </a:pPr>
            <a:r>
              <a:rPr lang="en-US" sz="1900" dirty="0">
                <a:solidFill>
                  <a:schemeClr val="tx1">
                    <a:alpha val="80000"/>
                  </a:schemeClr>
                </a:solidFill>
                <a:effectLst/>
              </a:rPr>
              <a:t>A forecasting model that anticipates staffing needs can reduce:</a:t>
            </a:r>
            <a:endParaRPr lang="en-US" sz="1900" dirty="0">
              <a:solidFill>
                <a:schemeClr val="tx1">
                  <a:alpha val="80000"/>
                </a:schemeClr>
              </a:solidFill>
            </a:endParaRPr>
          </a:p>
          <a:p>
            <a:r>
              <a:rPr lang="en-US" sz="1900" dirty="0">
                <a:solidFill>
                  <a:schemeClr val="tx1">
                    <a:alpha val="80000"/>
                  </a:schemeClr>
                </a:solidFill>
                <a:effectLst/>
              </a:rPr>
              <a:t>Overtime costs</a:t>
            </a:r>
            <a:endParaRPr lang="en-US" sz="1900" dirty="0">
              <a:solidFill>
                <a:schemeClr val="tx1">
                  <a:alpha val="80000"/>
                </a:schemeClr>
              </a:solidFill>
            </a:endParaRPr>
          </a:p>
          <a:p>
            <a:r>
              <a:rPr lang="en-US" sz="1900" dirty="0">
                <a:solidFill>
                  <a:schemeClr val="tx1">
                    <a:alpha val="80000"/>
                  </a:schemeClr>
                </a:solidFill>
                <a:effectLst/>
              </a:rPr>
              <a:t>Last‑minute schedule changes</a:t>
            </a:r>
            <a:endParaRPr lang="en-US" sz="1900" dirty="0">
              <a:solidFill>
                <a:schemeClr val="tx1">
                  <a:alpha val="80000"/>
                </a:schemeClr>
              </a:solidFill>
            </a:endParaRPr>
          </a:p>
          <a:p>
            <a:r>
              <a:rPr lang="en-US" sz="1900" dirty="0">
                <a:solidFill>
                  <a:schemeClr val="tx1">
                    <a:alpha val="80000"/>
                  </a:schemeClr>
                </a:solidFill>
                <a:effectLst/>
              </a:rPr>
              <a:t>Service disruptions</a:t>
            </a:r>
            <a:endParaRPr lang="en-US" sz="1900" dirty="0">
              <a:solidFill>
                <a:schemeClr val="tx1">
                  <a:alpha val="80000"/>
                </a:schemeClr>
              </a:solidFill>
            </a:endParaRPr>
          </a:p>
          <a:p>
            <a:r>
              <a:rPr lang="en-US" sz="1900" dirty="0">
                <a:solidFill>
                  <a:schemeClr val="tx1">
                    <a:alpha val="80000"/>
                  </a:schemeClr>
                </a:solidFill>
                <a:effectLst/>
              </a:rPr>
              <a:t>Managerial workload</a:t>
            </a:r>
            <a:endParaRPr lang="en-US" sz="1900" dirty="0">
              <a:solidFill>
                <a:schemeClr val="tx1">
                  <a:alpha val="80000"/>
                </a:schemeClr>
              </a:solidFill>
            </a:endParaRPr>
          </a:p>
          <a:p>
            <a:pPr marL="0" indent="0">
              <a:buNone/>
            </a:pPr>
            <a:r>
              <a:rPr lang="en-US" sz="1900" dirty="0">
                <a:solidFill>
                  <a:schemeClr val="tx1">
                    <a:alpha val="80000"/>
                  </a:schemeClr>
                </a:solidFill>
                <a:effectLst/>
              </a:rPr>
              <a:t>This creates measurable financial and operational value.</a:t>
            </a:r>
            <a:endParaRPr lang="en-US" sz="1900" dirty="0">
              <a:solidFill>
                <a:schemeClr val="tx1">
                  <a:alpha val="80000"/>
                </a:schemeClr>
              </a:solidFill>
            </a:endParaRPr>
          </a:p>
          <a:p>
            <a:endParaRPr lang="en-PH" sz="1900" dirty="0">
              <a:solidFill>
                <a:schemeClr val="tx1">
                  <a:alpha val="80000"/>
                </a:schemeClr>
              </a:solidFill>
            </a:endParaRP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1190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3AEE9C14-9500-590C-A3F9-D607E6AE058B}"/>
              </a:ext>
            </a:extLst>
          </p:cNvPr>
          <p:cNvSpPr>
            <a:spLocks noGrp="1"/>
          </p:cNvSpPr>
          <p:nvPr>
            <p:ph type="title"/>
          </p:nvPr>
        </p:nvSpPr>
        <p:spPr>
          <a:xfrm>
            <a:off x="1188069" y="381935"/>
            <a:ext cx="4008583" cy="5974414"/>
          </a:xfrm>
        </p:spPr>
        <p:txBody>
          <a:bodyPr anchor="ctr">
            <a:normAutofit/>
          </a:bodyPr>
          <a:lstStyle/>
          <a:p>
            <a:r>
              <a:rPr lang="en-PH" sz="7400">
                <a:solidFill>
                  <a:srgbClr val="FFFFFF"/>
                </a:solidFill>
              </a:rPr>
              <a:t>Our Approach</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B4B16729-F5EE-2037-60F9-5BAA17B556D9}"/>
              </a:ext>
            </a:extLst>
          </p:cNvPr>
          <p:cNvSpPr>
            <a:spLocks noGrp="1"/>
          </p:cNvSpPr>
          <p:nvPr>
            <p:ph idx="1"/>
          </p:nvPr>
        </p:nvSpPr>
        <p:spPr>
          <a:xfrm>
            <a:off x="6297233" y="518400"/>
            <a:ext cx="4771607" cy="5837949"/>
          </a:xfrm>
        </p:spPr>
        <p:txBody>
          <a:bodyPr anchor="ctr">
            <a:normAutofit/>
          </a:bodyPr>
          <a:lstStyle/>
          <a:p>
            <a:pPr marL="0" indent="0">
              <a:buNone/>
            </a:pPr>
            <a:r>
              <a:rPr lang="en-US" sz="2000" dirty="0">
                <a:solidFill>
                  <a:schemeClr val="tx1">
                    <a:alpha val="80000"/>
                  </a:schemeClr>
                </a:solidFill>
                <a:effectLst/>
              </a:rPr>
              <a:t>We followed a simple, business‑friendly methodology:</a:t>
            </a:r>
            <a:endParaRPr lang="en-US" sz="2000" dirty="0">
              <a:solidFill>
                <a:schemeClr val="tx1">
                  <a:alpha val="80000"/>
                </a:schemeClr>
              </a:solidFill>
            </a:endParaRPr>
          </a:p>
          <a:p>
            <a:pPr marL="514350" indent="-514350">
              <a:buFont typeface="+mj-lt"/>
              <a:buAutoNum type="arabicPeriod"/>
            </a:pPr>
            <a:r>
              <a:rPr lang="en-US" sz="2000" b="1" dirty="0">
                <a:solidFill>
                  <a:schemeClr val="tx1">
                    <a:alpha val="80000"/>
                  </a:schemeClr>
                </a:solidFill>
                <a:effectLst/>
              </a:rPr>
              <a:t>Understand the data</a:t>
            </a:r>
            <a:r>
              <a:rPr lang="en-US" sz="2000" dirty="0">
                <a:solidFill>
                  <a:schemeClr val="tx1">
                    <a:alpha val="80000"/>
                  </a:schemeClr>
                </a:solidFill>
                <a:effectLst/>
              </a:rPr>
              <a:t> Ridership, weather, station activity, shift patterns, and calendar effects.</a:t>
            </a:r>
            <a:endParaRPr lang="en-US" sz="2000" dirty="0">
              <a:solidFill>
                <a:schemeClr val="tx1">
                  <a:alpha val="80000"/>
                </a:schemeClr>
              </a:solidFill>
            </a:endParaRPr>
          </a:p>
          <a:p>
            <a:pPr marL="514350" indent="-514350">
              <a:buFont typeface="+mj-lt"/>
              <a:buAutoNum type="arabicPeriod"/>
            </a:pPr>
            <a:r>
              <a:rPr lang="en-US" sz="2000" b="1" dirty="0">
                <a:solidFill>
                  <a:schemeClr val="tx1">
                    <a:alpha val="80000"/>
                  </a:schemeClr>
                </a:solidFill>
                <a:effectLst/>
              </a:rPr>
              <a:t>Identify patterns</a:t>
            </a:r>
            <a:r>
              <a:rPr lang="en-US" sz="2000" dirty="0">
                <a:solidFill>
                  <a:schemeClr val="tx1">
                    <a:alpha val="80000"/>
                  </a:schemeClr>
                </a:solidFill>
                <a:effectLst/>
              </a:rPr>
              <a:t> Group similar operational days using clustering.</a:t>
            </a:r>
            <a:endParaRPr lang="en-US" sz="2000" dirty="0">
              <a:solidFill>
                <a:schemeClr val="tx1">
                  <a:alpha val="80000"/>
                </a:schemeClr>
              </a:solidFill>
            </a:endParaRPr>
          </a:p>
          <a:p>
            <a:pPr marL="514350" indent="-514350">
              <a:buFont typeface="+mj-lt"/>
              <a:buAutoNum type="arabicPeriod"/>
            </a:pPr>
            <a:r>
              <a:rPr lang="en-US" sz="2000" b="1" dirty="0">
                <a:solidFill>
                  <a:schemeClr val="tx1">
                    <a:alpha val="80000"/>
                  </a:schemeClr>
                </a:solidFill>
                <a:effectLst/>
              </a:rPr>
              <a:t>Build a forecasting model</a:t>
            </a:r>
            <a:r>
              <a:rPr lang="en-US" sz="2000" dirty="0">
                <a:solidFill>
                  <a:schemeClr val="tx1">
                    <a:alpha val="80000"/>
                  </a:schemeClr>
                </a:solidFill>
                <a:effectLst/>
              </a:rPr>
              <a:t> Predict expected ridership and staffing needs using historical patterns.</a:t>
            </a:r>
            <a:endParaRPr lang="en-US" sz="2000" dirty="0">
              <a:solidFill>
                <a:schemeClr val="tx1">
                  <a:alpha val="80000"/>
                </a:schemeClr>
              </a:solidFill>
            </a:endParaRPr>
          </a:p>
          <a:p>
            <a:pPr marL="514350" indent="-514350">
              <a:buFont typeface="+mj-lt"/>
              <a:buAutoNum type="arabicPeriod"/>
            </a:pPr>
            <a:r>
              <a:rPr lang="en-US" sz="2000" b="1" dirty="0">
                <a:solidFill>
                  <a:schemeClr val="tx1">
                    <a:alpha val="80000"/>
                  </a:schemeClr>
                </a:solidFill>
                <a:effectLst/>
              </a:rPr>
              <a:t>Explain the model’s decisions</a:t>
            </a:r>
            <a:r>
              <a:rPr lang="en-US" sz="2000" dirty="0">
                <a:solidFill>
                  <a:schemeClr val="tx1">
                    <a:alpha val="80000"/>
                  </a:schemeClr>
                </a:solidFill>
                <a:effectLst/>
              </a:rPr>
              <a:t> Use SHAP to show which factors drive demand.</a:t>
            </a:r>
            <a:endParaRPr lang="en-US" sz="2000" dirty="0">
              <a:solidFill>
                <a:schemeClr val="tx1">
                  <a:alpha val="80000"/>
                </a:schemeClr>
              </a:solidFill>
            </a:endParaRPr>
          </a:p>
          <a:p>
            <a:pPr marL="514350" indent="-514350">
              <a:buFont typeface="+mj-lt"/>
              <a:buAutoNum type="arabicPeriod"/>
            </a:pPr>
            <a:r>
              <a:rPr lang="en-US" sz="2000" b="1" dirty="0">
                <a:solidFill>
                  <a:schemeClr val="tx1">
                    <a:alpha val="80000"/>
                  </a:schemeClr>
                </a:solidFill>
                <a:effectLst/>
              </a:rPr>
              <a:t>Validate and refine</a:t>
            </a:r>
            <a:r>
              <a:rPr lang="en-US" sz="2000" dirty="0">
                <a:solidFill>
                  <a:schemeClr val="tx1">
                    <a:alpha val="80000"/>
                  </a:schemeClr>
                </a:solidFill>
                <a:effectLst/>
              </a:rPr>
              <a:t> Compare multiple models and select the most accurate and stable one.</a:t>
            </a:r>
            <a:endParaRPr lang="en-US" sz="2000" dirty="0">
              <a:solidFill>
                <a:schemeClr val="tx1">
                  <a:alpha val="80000"/>
                </a:schemeClr>
              </a:solidFill>
            </a:endParaRPr>
          </a:p>
          <a:p>
            <a:pPr marL="0" indent="0">
              <a:buNone/>
            </a:pPr>
            <a:r>
              <a:rPr lang="en-US" sz="2000" dirty="0">
                <a:solidFill>
                  <a:schemeClr val="tx1">
                    <a:alpha val="80000"/>
                  </a:schemeClr>
                </a:solidFill>
                <a:effectLst/>
              </a:rPr>
              <a:t>This approach ensures transparency, accuracy, and operational relevance.</a:t>
            </a:r>
            <a:endParaRPr lang="en-US" sz="2000" dirty="0">
              <a:solidFill>
                <a:schemeClr val="tx1">
                  <a:alpha val="80000"/>
                </a:schemeClr>
              </a:solidFill>
            </a:endParaRPr>
          </a:p>
          <a:p>
            <a:endParaRPr lang="en-PH" sz="2000" dirty="0">
              <a:solidFill>
                <a:schemeClr val="tx1">
                  <a:alpha val="80000"/>
                </a:schemeClr>
              </a:solidFill>
            </a:endParaRP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2694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5C3D7F-BFD7-1B17-1FDC-8EB8570C20ED}"/>
              </a:ext>
            </a:extLst>
          </p:cNvPr>
          <p:cNvSpPr>
            <a:spLocks noGrp="1"/>
          </p:cNvSpPr>
          <p:nvPr>
            <p:ph type="title"/>
          </p:nvPr>
        </p:nvSpPr>
        <p:spPr>
          <a:xfrm>
            <a:off x="6412091" y="501651"/>
            <a:ext cx="4395340" cy="1716255"/>
          </a:xfrm>
        </p:spPr>
        <p:txBody>
          <a:bodyPr anchor="b">
            <a:normAutofit/>
          </a:bodyPr>
          <a:lstStyle/>
          <a:p>
            <a:r>
              <a:rPr lang="en-US" sz="3900" b="1" dirty="0"/>
              <a:t>PCA Summary — Data Structure &amp; Readiness</a:t>
            </a:r>
            <a:endParaRPr lang="en-PH" sz="3900" b="1" dirty="0"/>
          </a:p>
        </p:txBody>
      </p:sp>
      <p:sp>
        <p:nvSpPr>
          <p:cNvPr id="13" name="Rectangle 12">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A4A1BB16-AA3A-26FE-539D-4A9D46C97A48}"/>
              </a:ext>
            </a:extLst>
          </p:cNvPr>
          <p:cNvPicPr>
            <a:picLocks noChangeAspect="1"/>
          </p:cNvPicPr>
          <p:nvPr/>
        </p:nvPicPr>
        <p:blipFill>
          <a:blip r:embed="rId3"/>
          <a:stretch>
            <a:fillRect/>
          </a:stretch>
        </p:blipFill>
        <p:spPr>
          <a:xfrm>
            <a:off x="279143" y="1653648"/>
            <a:ext cx="5221625" cy="3550704"/>
          </a:xfrm>
          <a:prstGeom prst="rect">
            <a:avLst/>
          </a:prstGeom>
        </p:spPr>
      </p:pic>
      <p:sp>
        <p:nvSpPr>
          <p:cNvPr id="4" name="Rectangle 1">
            <a:extLst>
              <a:ext uri="{FF2B5EF4-FFF2-40B4-BE49-F238E27FC236}">
                <a16:creationId xmlns:a16="http://schemas.microsoft.com/office/drawing/2014/main" id="{813149F5-7D77-2DE2-5091-E55B57D69B12}"/>
              </a:ext>
            </a:extLst>
          </p:cNvPr>
          <p:cNvSpPr>
            <a:spLocks noGrp="1" noChangeArrowheads="1"/>
          </p:cNvSpPr>
          <p:nvPr>
            <p:ph idx="1"/>
          </p:nvPr>
        </p:nvSpPr>
        <p:spPr bwMode="auto">
          <a:xfrm>
            <a:off x="6392583" y="2645922"/>
            <a:ext cx="4434721" cy="371042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dirty="0">
                <a:ln>
                  <a:noFill/>
                </a:ln>
                <a:solidFill>
                  <a:schemeClr val="tx1">
                    <a:alpha val="80000"/>
                  </a:schemeClr>
                </a:solidFill>
                <a:effectLst/>
                <a:latin typeface="Arial" panose="020B0604020202020204" pitchFamily="34" charset="0"/>
              </a:rPr>
              <a:t>PCA reduced the dataset to </a:t>
            </a:r>
            <a:r>
              <a:rPr kumimoji="0" lang="en-US" altLang="en-US" sz="1800" b="1" i="0" u="none" strike="noStrike" cap="none" normalizeH="0" baseline="0" dirty="0">
                <a:ln>
                  <a:noFill/>
                </a:ln>
                <a:solidFill>
                  <a:schemeClr val="tx1">
                    <a:alpha val="80000"/>
                  </a:schemeClr>
                </a:solidFill>
                <a:effectLst/>
                <a:latin typeface="Arial" panose="020B0604020202020204" pitchFamily="34" charset="0"/>
              </a:rPr>
              <a:t>6 components</a:t>
            </a:r>
            <a:r>
              <a:rPr kumimoji="0" lang="en-US" altLang="en-US" sz="1800" b="0" i="0" u="none" strike="noStrike" cap="none" normalizeH="0" baseline="0" dirty="0">
                <a:ln>
                  <a:noFill/>
                </a:ln>
                <a:solidFill>
                  <a:schemeClr val="tx1">
                    <a:alpha val="80000"/>
                  </a:schemeClr>
                </a:solidFill>
                <a:effectLst/>
                <a:latin typeface="Arial" panose="020B0604020202020204" pitchFamily="34" charset="0"/>
              </a:rPr>
              <a:t>, preserving </a:t>
            </a:r>
            <a:r>
              <a:rPr kumimoji="0" lang="en-US" altLang="en-US" sz="1800" b="1" i="0" u="none" strike="noStrike" cap="none" normalizeH="0" baseline="0" dirty="0">
                <a:ln>
                  <a:noFill/>
                </a:ln>
                <a:solidFill>
                  <a:schemeClr val="tx1">
                    <a:alpha val="80000"/>
                  </a:schemeClr>
                </a:solidFill>
                <a:effectLst/>
                <a:latin typeface="Arial" panose="020B0604020202020204" pitchFamily="34" charset="0"/>
              </a:rPr>
              <a:t>91% of total variance</a:t>
            </a:r>
            <a:endParaRPr kumimoji="0" lang="en-US" altLang="en-US" sz="1800" b="0" i="0" u="none" strike="noStrike" cap="none" normalizeH="0" baseline="0" dirty="0">
              <a:ln>
                <a:noFill/>
              </a:ln>
              <a:solidFill>
                <a:schemeClr val="tx1">
                  <a:alpha val="80000"/>
                </a:schemeClr>
              </a:solidFill>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dirty="0">
                <a:ln>
                  <a:noFill/>
                </a:ln>
                <a:solidFill>
                  <a:schemeClr val="tx1">
                    <a:alpha val="80000"/>
                  </a:schemeClr>
                </a:solidFill>
                <a:effectLst/>
                <a:latin typeface="Arial" panose="020B0604020202020204" pitchFamily="34" charset="0"/>
              </a:rPr>
              <a:t>The PC1–PC2 scatter plot shows </a:t>
            </a:r>
            <a:r>
              <a:rPr kumimoji="0" lang="en-US" altLang="en-US" sz="1800" b="1" i="0" u="none" strike="noStrike" cap="none" normalizeH="0" baseline="0" dirty="0">
                <a:ln>
                  <a:noFill/>
                </a:ln>
                <a:solidFill>
                  <a:schemeClr val="tx1">
                    <a:alpha val="80000"/>
                  </a:schemeClr>
                </a:solidFill>
                <a:effectLst/>
                <a:latin typeface="Arial" panose="020B0604020202020204" pitchFamily="34" charset="0"/>
              </a:rPr>
              <a:t>clear structure</a:t>
            </a:r>
            <a:r>
              <a:rPr kumimoji="0" lang="en-US" altLang="en-US" sz="1800" b="0" i="0" u="none" strike="noStrike" cap="none" normalizeH="0" baseline="0" dirty="0">
                <a:ln>
                  <a:noFill/>
                </a:ln>
                <a:solidFill>
                  <a:schemeClr val="tx1">
                    <a:alpha val="80000"/>
                  </a:schemeClr>
                </a:solidFill>
                <a:effectLst/>
                <a:latin typeface="Arial" panose="020B0604020202020204" pitchFamily="34" charset="0"/>
              </a:rPr>
              <a:t>, confirming strong signal in the data</a:t>
            </a: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dirty="0">
                <a:ln>
                  <a:noFill/>
                </a:ln>
                <a:solidFill>
                  <a:schemeClr val="tx1">
                    <a:alpha val="80000"/>
                  </a:schemeClr>
                </a:solidFill>
                <a:effectLst/>
                <a:latin typeface="Arial" panose="020B0604020202020204" pitchFamily="34" charset="0"/>
              </a:rPr>
              <a:t>PCA removed </a:t>
            </a:r>
            <a:r>
              <a:rPr kumimoji="0" lang="en-US" altLang="en-US" sz="1800" b="1" i="0" u="none" strike="noStrike" cap="none" normalizeH="0" baseline="0" dirty="0">
                <a:ln>
                  <a:noFill/>
                </a:ln>
                <a:solidFill>
                  <a:schemeClr val="tx1">
                    <a:alpha val="80000"/>
                  </a:schemeClr>
                </a:solidFill>
                <a:effectLst/>
                <a:latin typeface="Arial" panose="020B0604020202020204" pitchFamily="34" charset="0"/>
              </a:rPr>
              <a:t>multicollinearity</a:t>
            </a:r>
            <a:r>
              <a:rPr kumimoji="0" lang="en-US" altLang="en-US" sz="1800" b="0" i="0" u="none" strike="noStrike" cap="none" normalizeH="0" baseline="0" dirty="0">
                <a:ln>
                  <a:noFill/>
                </a:ln>
                <a:solidFill>
                  <a:schemeClr val="tx1">
                    <a:alpha val="80000"/>
                  </a:schemeClr>
                </a:solidFill>
                <a:effectLst/>
                <a:latin typeface="Arial" panose="020B0604020202020204" pitchFamily="34" charset="0"/>
              </a:rPr>
              <a:t> and reduced redundancy across features</a:t>
            </a: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dirty="0">
                <a:ln>
                  <a:noFill/>
                </a:ln>
                <a:solidFill>
                  <a:schemeClr val="tx1">
                    <a:alpha val="80000"/>
                  </a:schemeClr>
                </a:solidFill>
                <a:effectLst/>
                <a:latin typeface="Arial" panose="020B0604020202020204" pitchFamily="34" charset="0"/>
              </a:rPr>
              <a:t>The transformed feature space improves </a:t>
            </a:r>
            <a:r>
              <a:rPr kumimoji="0" lang="en-US" altLang="en-US" sz="1800" b="1" i="0" u="none" strike="noStrike" cap="none" normalizeH="0" baseline="0" dirty="0">
                <a:ln>
                  <a:noFill/>
                </a:ln>
                <a:solidFill>
                  <a:schemeClr val="tx1">
                    <a:alpha val="80000"/>
                  </a:schemeClr>
                </a:solidFill>
                <a:effectLst/>
                <a:latin typeface="Arial" panose="020B0604020202020204" pitchFamily="34" charset="0"/>
              </a:rPr>
              <a:t>model stability</a:t>
            </a:r>
            <a:r>
              <a:rPr kumimoji="0" lang="en-US" altLang="en-US" sz="1800" b="0" i="0" u="none" strike="noStrike" cap="none" normalizeH="0" baseline="0" dirty="0">
                <a:ln>
                  <a:noFill/>
                </a:ln>
                <a:solidFill>
                  <a:schemeClr val="tx1">
                    <a:alpha val="80000"/>
                  </a:schemeClr>
                </a:solidFill>
                <a:effectLst/>
                <a:latin typeface="Arial" panose="020B0604020202020204" pitchFamily="34" charset="0"/>
              </a:rPr>
              <a:t> and </a:t>
            </a:r>
            <a:r>
              <a:rPr kumimoji="0" lang="en-US" altLang="en-US" sz="1800" b="1" i="0" u="none" strike="noStrike" cap="none" normalizeH="0" baseline="0" dirty="0">
                <a:ln>
                  <a:noFill/>
                </a:ln>
                <a:solidFill>
                  <a:schemeClr val="tx1">
                    <a:alpha val="80000"/>
                  </a:schemeClr>
                </a:solidFill>
                <a:effectLst/>
                <a:latin typeface="Arial" panose="020B0604020202020204" pitchFamily="34" charset="0"/>
              </a:rPr>
              <a:t>explainability</a:t>
            </a:r>
            <a:endParaRPr kumimoji="0" lang="en-US" altLang="en-US" sz="1800" b="0" i="0" u="none" strike="noStrike" cap="none" normalizeH="0" baseline="0" dirty="0">
              <a:ln>
                <a:noFill/>
              </a:ln>
              <a:solidFill>
                <a:schemeClr val="tx1">
                  <a:alpha val="80000"/>
                </a:schemeClr>
              </a:solidFill>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r>
              <a:rPr kumimoji="0" lang="en-US" altLang="en-US" sz="1800" b="0" i="0" u="none" strike="noStrike" cap="none" normalizeH="0" baseline="0" dirty="0">
                <a:ln>
                  <a:noFill/>
                </a:ln>
                <a:solidFill>
                  <a:schemeClr val="tx1">
                    <a:alpha val="80000"/>
                  </a:schemeClr>
                </a:solidFill>
                <a:effectLst/>
                <a:latin typeface="Arial" panose="020B0604020202020204" pitchFamily="34" charset="0"/>
              </a:rPr>
              <a:t>Confirms the dataset is </a:t>
            </a:r>
            <a:r>
              <a:rPr kumimoji="0" lang="en-US" altLang="en-US" sz="1800" b="1" i="0" u="none" strike="noStrike" cap="none" normalizeH="0" baseline="0" dirty="0">
                <a:ln>
                  <a:noFill/>
                </a:ln>
                <a:solidFill>
                  <a:schemeClr val="tx1">
                    <a:alpha val="80000"/>
                  </a:schemeClr>
                </a:solidFill>
                <a:effectLst/>
                <a:latin typeface="Arial" panose="020B0604020202020204" pitchFamily="34" charset="0"/>
              </a:rPr>
              <a:t>ready for accurate forecasting and SHAP interpretation</a:t>
            </a:r>
            <a:endParaRPr kumimoji="0" lang="en-US" altLang="en-US" sz="1800" b="0" i="0" u="none" strike="noStrike" cap="none" normalizeH="0" baseline="0" dirty="0">
              <a:ln>
                <a:noFill/>
              </a:ln>
              <a:solidFill>
                <a:schemeClr val="tx1">
                  <a:alpha val="80000"/>
                </a:schemeClr>
              </a:solidFill>
              <a:effectLst/>
              <a:latin typeface="Arial" panose="020B0604020202020204" pitchFamily="34" charset="0"/>
            </a:endParaRPr>
          </a:p>
        </p:txBody>
      </p:sp>
      <p:cxnSp>
        <p:nvCxnSpPr>
          <p:cNvPr id="15" name="Straight Connector 14">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1446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0D08BB-1B68-A941-2E62-0AD29B65A794}"/>
              </a:ext>
            </a:extLst>
          </p:cNvPr>
          <p:cNvSpPr>
            <a:spLocks noGrp="1"/>
          </p:cNvSpPr>
          <p:nvPr>
            <p:ph type="title"/>
          </p:nvPr>
        </p:nvSpPr>
        <p:spPr>
          <a:xfrm>
            <a:off x="6372710" y="250826"/>
            <a:ext cx="4395340" cy="1716255"/>
          </a:xfrm>
        </p:spPr>
        <p:txBody>
          <a:bodyPr anchor="b">
            <a:normAutofit/>
          </a:bodyPr>
          <a:lstStyle/>
          <a:p>
            <a:r>
              <a:rPr lang="en-PH" sz="3900" b="1" dirty="0"/>
              <a:t>Model Results (Forecasting Accuracy)</a:t>
            </a:r>
          </a:p>
        </p:txBody>
      </p:sp>
      <p:sp>
        <p:nvSpPr>
          <p:cNvPr id="14" name="Rectangle 13">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E1AAB7B-8D4B-383D-F0DE-4ED80D1A38BA}"/>
              </a:ext>
            </a:extLst>
          </p:cNvPr>
          <p:cNvSpPr>
            <a:spLocks noGrp="1"/>
          </p:cNvSpPr>
          <p:nvPr>
            <p:ph idx="1"/>
          </p:nvPr>
        </p:nvSpPr>
        <p:spPr>
          <a:xfrm>
            <a:off x="6372710" y="2217906"/>
            <a:ext cx="5120950" cy="3710427"/>
          </a:xfrm>
        </p:spPr>
        <p:txBody>
          <a:bodyPr anchor="t">
            <a:normAutofit fontScale="55000" lnSpcReduction="20000"/>
          </a:bodyPr>
          <a:lstStyle/>
          <a:p>
            <a:pPr marL="0" indent="0">
              <a:buNone/>
            </a:pPr>
            <a:r>
              <a:rPr lang="en-US" sz="2900" dirty="0">
                <a:solidFill>
                  <a:schemeClr val="tx1">
                    <a:alpha val="80000"/>
                  </a:schemeClr>
                </a:solidFill>
              </a:rPr>
              <a:t>We evaluated four forecasting models. </a:t>
            </a:r>
            <a:r>
              <a:rPr lang="en-US" sz="2900" b="1" dirty="0">
                <a:solidFill>
                  <a:schemeClr val="tx1">
                    <a:alpha val="80000"/>
                  </a:schemeClr>
                </a:solidFill>
              </a:rPr>
              <a:t>Random Forest delivered the best performance</a:t>
            </a:r>
            <a:r>
              <a:rPr lang="en-US" sz="2900" dirty="0">
                <a:solidFill>
                  <a:schemeClr val="tx1">
                    <a:alpha val="80000"/>
                  </a:schemeClr>
                </a:solidFill>
              </a:rPr>
              <a:t>, with extremely high accuracy.</a:t>
            </a:r>
          </a:p>
          <a:p>
            <a:pPr marL="0" indent="0">
              <a:buNone/>
            </a:pPr>
            <a:endParaRPr lang="en-PH" sz="2900" dirty="0">
              <a:solidFill>
                <a:schemeClr val="tx1">
                  <a:alpha val="80000"/>
                </a:schemeClr>
              </a:solidFill>
            </a:endParaRPr>
          </a:p>
          <a:p>
            <a:pPr marL="0" indent="0">
              <a:buNone/>
            </a:pPr>
            <a:r>
              <a:rPr lang="en-US" sz="2900" b="1" dirty="0">
                <a:solidFill>
                  <a:schemeClr val="tx1">
                    <a:alpha val="80000"/>
                  </a:schemeClr>
                </a:solidFill>
              </a:rPr>
              <a:t>Interpretation</a:t>
            </a:r>
          </a:p>
          <a:p>
            <a:r>
              <a:rPr lang="en-US" sz="2900" dirty="0">
                <a:solidFill>
                  <a:schemeClr val="tx1">
                    <a:alpha val="80000"/>
                  </a:schemeClr>
                </a:solidFill>
                <a:effectLst/>
              </a:rPr>
              <a:t>The Random Forest model explains </a:t>
            </a:r>
            <a:r>
              <a:rPr lang="en-US" sz="2900" b="1" dirty="0">
                <a:solidFill>
                  <a:schemeClr val="tx1">
                    <a:alpha val="80000"/>
                  </a:schemeClr>
                </a:solidFill>
                <a:effectLst/>
              </a:rPr>
              <a:t>99.8% of ridership variation</a:t>
            </a:r>
            <a:endParaRPr lang="en-US" sz="2900" dirty="0">
              <a:solidFill>
                <a:schemeClr val="tx1">
                  <a:alpha val="80000"/>
                </a:schemeClr>
              </a:solidFill>
            </a:endParaRPr>
          </a:p>
          <a:p>
            <a:r>
              <a:rPr lang="en-US" sz="2900" dirty="0">
                <a:solidFill>
                  <a:schemeClr val="tx1">
                    <a:alpha val="80000"/>
                  </a:schemeClr>
                </a:solidFill>
                <a:effectLst/>
              </a:rPr>
              <a:t>Errors are extremely low relative to total ridership</a:t>
            </a:r>
            <a:endParaRPr lang="en-US" sz="2900" dirty="0">
              <a:solidFill>
                <a:schemeClr val="tx1">
                  <a:alpha val="80000"/>
                </a:schemeClr>
              </a:solidFill>
            </a:endParaRPr>
          </a:p>
          <a:p>
            <a:r>
              <a:rPr lang="en-US" sz="2900" dirty="0">
                <a:solidFill>
                  <a:schemeClr val="tx1">
                    <a:alpha val="80000"/>
                  </a:schemeClr>
                </a:solidFill>
                <a:effectLst/>
              </a:rPr>
              <a:t>The model is stable and fast enough for daily operational use</a:t>
            </a:r>
            <a:endParaRPr lang="en-US" sz="2900" dirty="0">
              <a:solidFill>
                <a:schemeClr val="tx1">
                  <a:alpha val="80000"/>
                </a:schemeClr>
              </a:solidFill>
            </a:endParaRPr>
          </a:p>
          <a:p>
            <a:r>
              <a:rPr lang="en-US" sz="2900" dirty="0">
                <a:solidFill>
                  <a:schemeClr val="tx1">
                    <a:alpha val="80000"/>
                  </a:schemeClr>
                </a:solidFill>
                <a:effectLst/>
              </a:rPr>
              <a:t>Performance is consistent across cross‑validation folds</a:t>
            </a:r>
            <a:endParaRPr lang="en-US" sz="2900" dirty="0">
              <a:solidFill>
                <a:schemeClr val="tx1">
                  <a:alpha val="80000"/>
                </a:schemeClr>
              </a:solidFill>
            </a:endParaRPr>
          </a:p>
          <a:p>
            <a:r>
              <a:rPr lang="en-US" sz="2900" dirty="0">
                <a:solidFill>
                  <a:schemeClr val="tx1">
                    <a:alpha val="80000"/>
                  </a:schemeClr>
                </a:solidFill>
                <a:effectLst/>
              </a:rPr>
              <a:t>This level of accuracy enables confident, automated scheduling.</a:t>
            </a:r>
            <a:endParaRPr lang="en-US" sz="2900" dirty="0">
              <a:solidFill>
                <a:schemeClr val="tx1">
                  <a:alpha val="80000"/>
                </a:schemeClr>
              </a:solidFill>
            </a:endParaRPr>
          </a:p>
          <a:p>
            <a:pPr marL="0" indent="0">
              <a:buNone/>
            </a:pPr>
            <a:endParaRPr lang="en-PH" sz="1100" dirty="0">
              <a:solidFill>
                <a:schemeClr val="tx1">
                  <a:alpha val="80000"/>
                </a:schemeClr>
              </a:solidFill>
            </a:endParaRPr>
          </a:p>
        </p:txBody>
      </p:sp>
      <p:cxnSp>
        <p:nvCxnSpPr>
          <p:cNvPr id="16" name="Straight Connector 15">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7" name="Table 6">
            <a:extLst>
              <a:ext uri="{FF2B5EF4-FFF2-40B4-BE49-F238E27FC236}">
                <a16:creationId xmlns:a16="http://schemas.microsoft.com/office/drawing/2014/main" id="{0D0F97A8-24DE-03DA-49D6-D44DF8DCEBA6}"/>
              </a:ext>
            </a:extLst>
          </p:cNvPr>
          <p:cNvGraphicFramePr>
            <a:graphicFrameLocks noGrp="1"/>
          </p:cNvGraphicFramePr>
          <p:nvPr>
            <p:extLst>
              <p:ext uri="{D42A27DB-BD31-4B8C-83A1-F6EECF244321}">
                <p14:modId xmlns:p14="http://schemas.microsoft.com/office/powerpoint/2010/main" val="1577870270"/>
              </p:ext>
            </p:extLst>
          </p:nvPr>
        </p:nvGraphicFramePr>
        <p:xfrm>
          <a:off x="279143" y="2110849"/>
          <a:ext cx="5221626" cy="3573650"/>
        </p:xfrm>
        <a:graphic>
          <a:graphicData uri="http://schemas.openxmlformats.org/drawingml/2006/table">
            <a:tbl>
              <a:tblPr firstRow="1" bandRow="1">
                <a:noFill/>
              </a:tblPr>
              <a:tblGrid>
                <a:gridCol w="1376037">
                  <a:extLst>
                    <a:ext uri="{9D8B030D-6E8A-4147-A177-3AD203B41FA5}">
                      <a16:colId xmlns:a16="http://schemas.microsoft.com/office/drawing/2014/main" val="1508669503"/>
                    </a:ext>
                  </a:extLst>
                </a:gridCol>
                <a:gridCol w="1006997">
                  <a:extLst>
                    <a:ext uri="{9D8B030D-6E8A-4147-A177-3AD203B41FA5}">
                      <a16:colId xmlns:a16="http://schemas.microsoft.com/office/drawing/2014/main" val="1241707951"/>
                    </a:ext>
                  </a:extLst>
                </a:gridCol>
                <a:gridCol w="879676">
                  <a:extLst>
                    <a:ext uri="{9D8B030D-6E8A-4147-A177-3AD203B41FA5}">
                      <a16:colId xmlns:a16="http://schemas.microsoft.com/office/drawing/2014/main" val="2020841671"/>
                    </a:ext>
                  </a:extLst>
                </a:gridCol>
                <a:gridCol w="879676">
                  <a:extLst>
                    <a:ext uri="{9D8B030D-6E8A-4147-A177-3AD203B41FA5}">
                      <a16:colId xmlns:a16="http://schemas.microsoft.com/office/drawing/2014/main" val="337674543"/>
                    </a:ext>
                  </a:extLst>
                </a:gridCol>
                <a:gridCol w="1079240">
                  <a:extLst>
                    <a:ext uri="{9D8B030D-6E8A-4147-A177-3AD203B41FA5}">
                      <a16:colId xmlns:a16="http://schemas.microsoft.com/office/drawing/2014/main" val="980762558"/>
                    </a:ext>
                  </a:extLst>
                </a:gridCol>
              </a:tblGrid>
              <a:tr h="459146">
                <a:tc>
                  <a:txBody>
                    <a:bodyPr/>
                    <a:lstStyle/>
                    <a:p>
                      <a:pPr>
                        <a:buNone/>
                      </a:pPr>
                      <a:r>
                        <a:rPr lang="en-PH" sz="1600" b="0" cap="all" spc="150">
                          <a:solidFill>
                            <a:schemeClr val="lt1"/>
                          </a:solidFill>
                        </a:rPr>
                        <a:t>Model</a:t>
                      </a:r>
                    </a:p>
                  </a:txBody>
                  <a:tcPr marL="113525" marR="113525" marT="113525" marB="113525" anchor="ctr">
                    <a:lnL w="12700" cmpd="sng">
                      <a:noFill/>
                    </a:lnL>
                    <a:lnR w="12700" cmpd="sng">
                      <a:noFill/>
                    </a:lnR>
                    <a:lnT w="12700" cmpd="sng">
                      <a:noFill/>
                    </a:lnT>
                    <a:lnB w="38100" cmpd="sng">
                      <a:noFill/>
                    </a:lnB>
                    <a:solidFill>
                      <a:srgbClr val="505356"/>
                    </a:solidFill>
                  </a:tcPr>
                </a:tc>
                <a:tc>
                  <a:txBody>
                    <a:bodyPr/>
                    <a:lstStyle/>
                    <a:p>
                      <a:pPr>
                        <a:buNone/>
                      </a:pPr>
                      <a:r>
                        <a:rPr lang="en-PH" sz="1600" b="0" cap="all" spc="150">
                          <a:solidFill>
                            <a:schemeClr val="lt1"/>
                          </a:solidFill>
                        </a:rPr>
                        <a:t>RMSE</a:t>
                      </a:r>
                    </a:p>
                  </a:txBody>
                  <a:tcPr marL="113525" marR="113525" marT="113525" marB="113525" anchor="ctr">
                    <a:lnL w="12700" cmpd="sng">
                      <a:noFill/>
                    </a:lnL>
                    <a:lnR w="12700" cmpd="sng">
                      <a:noFill/>
                    </a:lnR>
                    <a:lnT w="12700" cmpd="sng">
                      <a:noFill/>
                    </a:lnT>
                    <a:lnB w="38100" cmpd="sng">
                      <a:noFill/>
                    </a:lnB>
                    <a:solidFill>
                      <a:srgbClr val="505356"/>
                    </a:solidFill>
                  </a:tcPr>
                </a:tc>
                <a:tc>
                  <a:txBody>
                    <a:bodyPr/>
                    <a:lstStyle/>
                    <a:p>
                      <a:pPr>
                        <a:buNone/>
                      </a:pPr>
                      <a:r>
                        <a:rPr lang="en-PH" sz="1600" b="0" cap="all" spc="150" dirty="0">
                          <a:solidFill>
                            <a:schemeClr val="lt1"/>
                          </a:solidFill>
                        </a:rPr>
                        <a:t>MAE</a:t>
                      </a:r>
                    </a:p>
                  </a:txBody>
                  <a:tcPr marL="113525" marR="113525" marT="113525" marB="113525" anchor="ctr">
                    <a:lnL w="12700" cmpd="sng">
                      <a:noFill/>
                    </a:lnL>
                    <a:lnR w="12700" cmpd="sng">
                      <a:noFill/>
                    </a:lnR>
                    <a:lnT w="12700" cmpd="sng">
                      <a:noFill/>
                    </a:lnT>
                    <a:lnB w="38100" cmpd="sng">
                      <a:noFill/>
                    </a:lnB>
                    <a:solidFill>
                      <a:srgbClr val="505356"/>
                    </a:solidFill>
                  </a:tcPr>
                </a:tc>
                <a:tc>
                  <a:txBody>
                    <a:bodyPr/>
                    <a:lstStyle/>
                    <a:p>
                      <a:pPr>
                        <a:buNone/>
                      </a:pPr>
                      <a:r>
                        <a:rPr lang="en-PH" sz="1600" b="0" cap="all" spc="150">
                          <a:solidFill>
                            <a:schemeClr val="lt1"/>
                          </a:solidFill>
                        </a:rPr>
                        <a:t>R²</a:t>
                      </a:r>
                    </a:p>
                  </a:txBody>
                  <a:tcPr marL="113525" marR="113525" marT="113525" marB="113525" anchor="ctr">
                    <a:lnL w="12700" cmpd="sng">
                      <a:noFill/>
                    </a:lnL>
                    <a:lnR w="12700" cmpd="sng">
                      <a:noFill/>
                    </a:lnR>
                    <a:lnT w="12700" cmpd="sng">
                      <a:noFill/>
                    </a:lnT>
                    <a:lnB w="38100" cmpd="sng">
                      <a:noFill/>
                    </a:lnB>
                    <a:solidFill>
                      <a:srgbClr val="505356"/>
                    </a:solidFill>
                  </a:tcPr>
                </a:tc>
                <a:tc>
                  <a:txBody>
                    <a:bodyPr/>
                    <a:lstStyle/>
                    <a:p>
                      <a:pPr>
                        <a:buNone/>
                      </a:pPr>
                      <a:r>
                        <a:rPr lang="en-PH" sz="1600" b="0" cap="all" spc="150">
                          <a:solidFill>
                            <a:schemeClr val="lt1"/>
                          </a:solidFill>
                        </a:rPr>
                        <a:t>Training Time</a:t>
                      </a:r>
                    </a:p>
                  </a:txBody>
                  <a:tcPr marL="113525" marR="113525" marT="113525" marB="113525" anchor="ctr">
                    <a:lnL w="12700" cmpd="sng">
                      <a:noFill/>
                    </a:lnL>
                    <a:lnR w="12700" cmpd="sng">
                      <a:noFill/>
                    </a:lnR>
                    <a:lnT w="12700" cmpd="sng">
                      <a:noFill/>
                    </a:lnT>
                    <a:lnB w="38100" cmpd="sng">
                      <a:noFill/>
                    </a:lnB>
                    <a:solidFill>
                      <a:srgbClr val="505356"/>
                    </a:solidFill>
                  </a:tcPr>
                </a:tc>
                <a:extLst>
                  <a:ext uri="{0D108BD9-81ED-4DB2-BD59-A6C34878D82A}">
                    <a16:rowId xmlns:a16="http://schemas.microsoft.com/office/drawing/2014/main" val="4111926624"/>
                  </a:ext>
                </a:extLst>
              </a:tr>
              <a:tr h="585285">
                <a:tc>
                  <a:txBody>
                    <a:bodyPr/>
                    <a:lstStyle/>
                    <a:p>
                      <a:pPr>
                        <a:buNone/>
                      </a:pPr>
                      <a:r>
                        <a:rPr lang="en-PH" sz="1600" b="0" cap="none" spc="0" dirty="0">
                          <a:solidFill>
                            <a:schemeClr val="bg1"/>
                          </a:solidFill>
                        </a:rPr>
                        <a:t>Random Forest</a:t>
                      </a:r>
                    </a:p>
                  </a:txBody>
                  <a:tcPr marL="113525" marR="113525" marT="113525" marB="113525" anchor="ctr">
                    <a:lnL w="12700" cmpd="sng">
                      <a:noFill/>
                      <a:prstDash val="solid"/>
                    </a:lnL>
                    <a:lnR w="12700" cmpd="sng">
                      <a:noFill/>
                      <a:prstDash val="solid"/>
                    </a:lnR>
                    <a:lnT w="38100" cmpd="sng">
                      <a:noFill/>
                    </a:lnT>
                    <a:lnB w="12700" cmpd="sng">
                      <a:noFill/>
                      <a:prstDash val="solid"/>
                    </a:lnB>
                    <a:noFill/>
                  </a:tcPr>
                </a:tc>
                <a:tc>
                  <a:txBody>
                    <a:bodyPr/>
                    <a:lstStyle/>
                    <a:p>
                      <a:pPr>
                        <a:buNone/>
                      </a:pPr>
                      <a:r>
                        <a:rPr lang="en-PH" sz="1600" b="0" cap="none" spc="0">
                          <a:solidFill>
                            <a:schemeClr val="bg1"/>
                          </a:solidFill>
                        </a:rPr>
                        <a:t>64.66</a:t>
                      </a:r>
                    </a:p>
                  </a:txBody>
                  <a:tcPr marL="113525" marR="113525" marT="113525" marB="113525" anchor="ctr">
                    <a:lnL w="12700" cmpd="sng">
                      <a:noFill/>
                      <a:prstDash val="solid"/>
                    </a:lnL>
                    <a:lnR w="12700" cmpd="sng">
                      <a:noFill/>
                      <a:prstDash val="solid"/>
                    </a:lnR>
                    <a:lnT w="38100" cmpd="sng">
                      <a:noFill/>
                    </a:lnT>
                    <a:lnB w="12700" cmpd="sng">
                      <a:noFill/>
                      <a:prstDash val="solid"/>
                    </a:lnB>
                    <a:noFill/>
                  </a:tcPr>
                </a:tc>
                <a:tc>
                  <a:txBody>
                    <a:bodyPr/>
                    <a:lstStyle/>
                    <a:p>
                      <a:pPr>
                        <a:buNone/>
                      </a:pPr>
                      <a:r>
                        <a:rPr lang="en-PH" sz="1600" b="0" cap="none" spc="0">
                          <a:solidFill>
                            <a:schemeClr val="bg1"/>
                          </a:solidFill>
                        </a:rPr>
                        <a:t>39.95</a:t>
                      </a:r>
                    </a:p>
                  </a:txBody>
                  <a:tcPr marL="113525" marR="113525" marT="113525" marB="113525" anchor="ctr">
                    <a:lnL w="12700" cmpd="sng">
                      <a:noFill/>
                      <a:prstDash val="solid"/>
                    </a:lnL>
                    <a:lnR w="12700" cmpd="sng">
                      <a:noFill/>
                      <a:prstDash val="solid"/>
                    </a:lnR>
                    <a:lnT w="38100" cmpd="sng">
                      <a:noFill/>
                    </a:lnT>
                    <a:lnB w="12700" cmpd="sng">
                      <a:noFill/>
                      <a:prstDash val="solid"/>
                    </a:lnB>
                    <a:noFill/>
                  </a:tcPr>
                </a:tc>
                <a:tc>
                  <a:txBody>
                    <a:bodyPr/>
                    <a:lstStyle/>
                    <a:p>
                      <a:pPr>
                        <a:buNone/>
                      </a:pPr>
                      <a:r>
                        <a:rPr lang="en-PH" sz="1600" b="0" cap="none" spc="0">
                          <a:solidFill>
                            <a:schemeClr val="bg1"/>
                          </a:solidFill>
                        </a:rPr>
                        <a:t>0.9983</a:t>
                      </a:r>
                    </a:p>
                  </a:txBody>
                  <a:tcPr marL="113525" marR="113525" marT="113525" marB="113525" anchor="ctr">
                    <a:lnL w="12700" cmpd="sng">
                      <a:noFill/>
                      <a:prstDash val="solid"/>
                    </a:lnL>
                    <a:lnR w="12700" cmpd="sng">
                      <a:noFill/>
                      <a:prstDash val="solid"/>
                    </a:lnR>
                    <a:lnT w="38100" cmpd="sng">
                      <a:noFill/>
                    </a:lnT>
                    <a:lnB w="12700" cmpd="sng">
                      <a:noFill/>
                      <a:prstDash val="solid"/>
                    </a:lnB>
                    <a:noFill/>
                  </a:tcPr>
                </a:tc>
                <a:tc>
                  <a:txBody>
                    <a:bodyPr/>
                    <a:lstStyle/>
                    <a:p>
                      <a:pPr>
                        <a:buNone/>
                      </a:pPr>
                      <a:r>
                        <a:rPr lang="en-PH" sz="1600" cap="none" spc="0">
                          <a:solidFill>
                            <a:schemeClr val="bg1"/>
                          </a:solidFill>
                        </a:rPr>
                        <a:t>0.33s</a:t>
                      </a:r>
                    </a:p>
                  </a:txBody>
                  <a:tcPr marL="113525" marR="113525" marT="113525" marB="113525" anchor="ctr">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2719090187"/>
                  </a:ext>
                </a:extLst>
              </a:tr>
              <a:tr h="585285">
                <a:tc>
                  <a:txBody>
                    <a:bodyPr/>
                    <a:lstStyle/>
                    <a:p>
                      <a:pPr>
                        <a:buNone/>
                      </a:pPr>
                      <a:r>
                        <a:rPr lang="en-PH" sz="1600" cap="none" spc="0">
                          <a:solidFill>
                            <a:schemeClr val="bg1"/>
                          </a:solidFill>
                        </a:rPr>
                        <a:t>Decision Tree</a:t>
                      </a:r>
                    </a:p>
                  </a:txBody>
                  <a:tcPr marL="113525" marR="113525" marT="113525" marB="113525"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a:buNone/>
                      </a:pPr>
                      <a:r>
                        <a:rPr lang="en-PH" sz="1600" cap="none" spc="0" dirty="0">
                          <a:solidFill>
                            <a:schemeClr val="bg1"/>
                          </a:solidFill>
                        </a:rPr>
                        <a:t>73.93</a:t>
                      </a:r>
                    </a:p>
                  </a:txBody>
                  <a:tcPr marL="113525" marR="113525" marT="113525" marB="113525"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a:buNone/>
                      </a:pPr>
                      <a:r>
                        <a:rPr lang="en-PH" sz="1600" cap="none" spc="0">
                          <a:solidFill>
                            <a:schemeClr val="bg1"/>
                          </a:solidFill>
                        </a:rPr>
                        <a:t>31.39</a:t>
                      </a:r>
                    </a:p>
                  </a:txBody>
                  <a:tcPr marL="113525" marR="113525" marT="113525" marB="113525"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a:buNone/>
                      </a:pPr>
                      <a:r>
                        <a:rPr lang="en-PH" sz="1600" cap="none" spc="0">
                          <a:solidFill>
                            <a:schemeClr val="bg1"/>
                          </a:solidFill>
                        </a:rPr>
                        <a:t>0.9978</a:t>
                      </a:r>
                    </a:p>
                  </a:txBody>
                  <a:tcPr marL="113525" marR="113525" marT="113525" marB="113525"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a:buNone/>
                      </a:pPr>
                      <a:r>
                        <a:rPr lang="en-PH" sz="1600" cap="none" spc="0">
                          <a:solidFill>
                            <a:schemeClr val="bg1"/>
                          </a:solidFill>
                        </a:rPr>
                        <a:t>0.01s</a:t>
                      </a:r>
                    </a:p>
                  </a:txBody>
                  <a:tcPr marL="113525" marR="113525" marT="113525" marB="113525"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3747529916"/>
                  </a:ext>
                </a:extLst>
              </a:tr>
              <a:tr h="421304">
                <a:tc>
                  <a:txBody>
                    <a:bodyPr/>
                    <a:lstStyle/>
                    <a:p>
                      <a:pPr>
                        <a:buNone/>
                      </a:pPr>
                      <a:r>
                        <a:rPr lang="en-PH" sz="1600" cap="none" spc="0">
                          <a:solidFill>
                            <a:schemeClr val="bg1"/>
                          </a:solidFill>
                        </a:rPr>
                        <a:t>XGBoost</a:t>
                      </a:r>
                    </a:p>
                  </a:txBody>
                  <a:tcPr marL="113525" marR="113525" marT="113525" marB="11352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PH" sz="1600" cap="none" spc="0">
                          <a:solidFill>
                            <a:schemeClr val="bg1"/>
                          </a:solidFill>
                        </a:rPr>
                        <a:t>96.30</a:t>
                      </a:r>
                    </a:p>
                  </a:txBody>
                  <a:tcPr marL="113525" marR="113525" marT="113525" marB="11352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PH" sz="1600" cap="none" spc="0">
                          <a:solidFill>
                            <a:schemeClr val="bg1"/>
                          </a:solidFill>
                        </a:rPr>
                        <a:t>49.56</a:t>
                      </a:r>
                    </a:p>
                  </a:txBody>
                  <a:tcPr marL="113525" marR="113525" marT="113525" marB="11352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PH" sz="1600" cap="none" spc="0">
                          <a:solidFill>
                            <a:schemeClr val="bg1"/>
                          </a:solidFill>
                        </a:rPr>
                        <a:t>0.9963</a:t>
                      </a:r>
                    </a:p>
                  </a:txBody>
                  <a:tcPr marL="113525" marR="113525" marT="113525" marB="113525"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PH" sz="1600" cap="none" spc="0">
                          <a:solidFill>
                            <a:schemeClr val="bg1"/>
                          </a:solidFill>
                        </a:rPr>
                        <a:t>0.12s</a:t>
                      </a:r>
                    </a:p>
                  </a:txBody>
                  <a:tcPr marL="113525" marR="113525" marT="113525" marB="113525"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752614373"/>
                  </a:ext>
                </a:extLst>
              </a:tr>
              <a:tr h="585285">
                <a:tc>
                  <a:txBody>
                    <a:bodyPr/>
                    <a:lstStyle/>
                    <a:p>
                      <a:pPr>
                        <a:buNone/>
                      </a:pPr>
                      <a:r>
                        <a:rPr lang="en-PH" sz="1600" cap="none" spc="0">
                          <a:solidFill>
                            <a:schemeClr val="bg1"/>
                          </a:solidFill>
                        </a:rPr>
                        <a:t>Linear Regression</a:t>
                      </a:r>
                    </a:p>
                  </a:txBody>
                  <a:tcPr marL="113525" marR="113525" marT="113525" marB="113525"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a:buNone/>
                      </a:pPr>
                      <a:r>
                        <a:rPr lang="en-PH" sz="1600" cap="none" spc="0">
                          <a:solidFill>
                            <a:schemeClr val="bg1"/>
                          </a:solidFill>
                        </a:rPr>
                        <a:t>156.05</a:t>
                      </a:r>
                    </a:p>
                  </a:txBody>
                  <a:tcPr marL="113525" marR="113525" marT="113525" marB="113525"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a:buNone/>
                      </a:pPr>
                      <a:r>
                        <a:rPr lang="en-PH" sz="1600" cap="none" spc="0">
                          <a:solidFill>
                            <a:schemeClr val="bg1"/>
                          </a:solidFill>
                        </a:rPr>
                        <a:t>121.03</a:t>
                      </a:r>
                    </a:p>
                  </a:txBody>
                  <a:tcPr marL="113525" marR="113525" marT="113525" marB="113525"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a:buNone/>
                      </a:pPr>
                      <a:r>
                        <a:rPr lang="en-PH" sz="1600" cap="none" spc="0">
                          <a:solidFill>
                            <a:schemeClr val="bg1"/>
                          </a:solidFill>
                        </a:rPr>
                        <a:t>0.9903</a:t>
                      </a:r>
                    </a:p>
                  </a:txBody>
                  <a:tcPr marL="113525" marR="113525" marT="113525" marB="113525"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a:buNone/>
                      </a:pPr>
                      <a:r>
                        <a:rPr lang="en-PH" sz="1600" cap="none" spc="0" dirty="0">
                          <a:solidFill>
                            <a:schemeClr val="bg1"/>
                          </a:solidFill>
                        </a:rPr>
                        <a:t>0.01s</a:t>
                      </a:r>
                    </a:p>
                  </a:txBody>
                  <a:tcPr marL="113525" marR="113525" marT="113525" marB="113525"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575697866"/>
                  </a:ext>
                </a:extLst>
              </a:tr>
            </a:tbl>
          </a:graphicData>
        </a:graphic>
      </p:graphicFrame>
    </p:spTree>
    <p:extLst>
      <p:ext uri="{BB962C8B-B14F-4D97-AF65-F5344CB8AC3E}">
        <p14:creationId xmlns:p14="http://schemas.microsoft.com/office/powerpoint/2010/main" val="1196754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421104-7FC0-E6BA-5656-4662ECB464E7}"/>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934EE8C6-5B2B-57D1-E314-C6B3125EED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6B3C086D-1141-4FAC-7C42-938E4AA10CE2}"/>
              </a:ext>
            </a:extLst>
          </p:cNvPr>
          <p:cNvSpPr>
            <a:spLocks noGrp="1"/>
          </p:cNvSpPr>
          <p:nvPr>
            <p:ph type="title"/>
          </p:nvPr>
        </p:nvSpPr>
        <p:spPr>
          <a:xfrm>
            <a:off x="6096000" y="152562"/>
            <a:ext cx="5193577" cy="1716255"/>
          </a:xfrm>
        </p:spPr>
        <p:txBody>
          <a:bodyPr anchor="b">
            <a:normAutofit fontScale="90000"/>
          </a:bodyPr>
          <a:lstStyle/>
          <a:p>
            <a:r>
              <a:rPr lang="en-US" sz="4000" b="1" dirty="0"/>
              <a:t>What Drives Workforce Demand (Global SHAP Insights)</a:t>
            </a:r>
            <a:endParaRPr lang="en-PH" sz="3900" dirty="0"/>
          </a:p>
        </p:txBody>
      </p:sp>
      <p:sp>
        <p:nvSpPr>
          <p:cNvPr id="14" name="Rectangle 13">
            <a:extLst>
              <a:ext uri="{FF2B5EF4-FFF2-40B4-BE49-F238E27FC236}">
                <a16:creationId xmlns:a16="http://schemas.microsoft.com/office/drawing/2014/main" id="{1C3A0247-477C-1A16-718D-25B61D642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008" y="252743"/>
            <a:ext cx="4739619" cy="304261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Rectangle 15">
            <a:extLst>
              <a:ext uri="{FF2B5EF4-FFF2-40B4-BE49-F238E27FC236}">
                <a16:creationId xmlns:a16="http://schemas.microsoft.com/office/drawing/2014/main" id="{2865C61C-B53A-4EDF-3E0E-6218BBD16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449" y="3548095"/>
            <a:ext cx="4739619" cy="304261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Content Placeholder 2">
            <a:extLst>
              <a:ext uri="{FF2B5EF4-FFF2-40B4-BE49-F238E27FC236}">
                <a16:creationId xmlns:a16="http://schemas.microsoft.com/office/drawing/2014/main" id="{CF5DA7C8-6E28-D628-D71B-9E2CC215C599}"/>
              </a:ext>
            </a:extLst>
          </p:cNvPr>
          <p:cNvSpPr>
            <a:spLocks noGrp="1"/>
          </p:cNvSpPr>
          <p:nvPr>
            <p:ph idx="1"/>
          </p:nvPr>
        </p:nvSpPr>
        <p:spPr>
          <a:xfrm>
            <a:off x="5956862" y="1979900"/>
            <a:ext cx="5443343" cy="3710427"/>
          </a:xfrm>
        </p:spPr>
        <p:txBody>
          <a:bodyPr anchor="t">
            <a:noAutofit/>
          </a:bodyPr>
          <a:lstStyle/>
          <a:p>
            <a:pPr marL="0" indent="0">
              <a:buNone/>
            </a:pPr>
            <a:r>
              <a:rPr lang="en-US" sz="1600" b="1" dirty="0"/>
              <a:t>Top Predictors (Explained Simply)</a:t>
            </a:r>
          </a:p>
          <a:p>
            <a:pPr marL="514350" indent="-514350">
              <a:buFont typeface="+mj-lt"/>
              <a:buAutoNum type="arabicPeriod"/>
            </a:pPr>
            <a:r>
              <a:rPr lang="en-US" sz="1600" b="1" dirty="0">
                <a:effectLst/>
              </a:rPr>
              <a:t>Station Mean Ridership</a:t>
            </a:r>
            <a:r>
              <a:rPr lang="en-US" sz="1600" b="1" dirty="0"/>
              <a:t> - </a:t>
            </a:r>
            <a:r>
              <a:rPr lang="en-US" sz="1600" dirty="0">
                <a:effectLst/>
              </a:rPr>
              <a:t>Stations with consistently high volume require more staff.</a:t>
            </a:r>
            <a:endParaRPr lang="en-US" sz="1600" dirty="0"/>
          </a:p>
          <a:p>
            <a:pPr marL="514350" indent="-514350">
              <a:buFont typeface="+mj-lt"/>
              <a:buAutoNum type="arabicPeriod"/>
            </a:pPr>
            <a:r>
              <a:rPr lang="en-US" sz="1600" b="1" dirty="0">
                <a:effectLst/>
              </a:rPr>
              <a:t>Station ID STN05</a:t>
            </a:r>
            <a:r>
              <a:rPr lang="en-US" sz="1600" b="1" dirty="0"/>
              <a:t> - </a:t>
            </a:r>
            <a:r>
              <a:rPr lang="en-US" sz="1600" dirty="0">
                <a:effectLst/>
              </a:rPr>
              <a:t>This station is a major demand driver and needs priority staffing.</a:t>
            </a:r>
            <a:endParaRPr lang="en-US" sz="1600" dirty="0"/>
          </a:p>
          <a:p>
            <a:pPr marL="514350" indent="-514350">
              <a:buFont typeface="+mj-lt"/>
              <a:buAutoNum type="arabicPeriod"/>
            </a:pPr>
            <a:r>
              <a:rPr lang="en-US" sz="1600" b="1" dirty="0">
                <a:effectLst/>
              </a:rPr>
              <a:t>Weather (Rain, Storm)</a:t>
            </a:r>
            <a:r>
              <a:rPr lang="en-US" sz="1600" b="1" dirty="0"/>
              <a:t> - </a:t>
            </a:r>
            <a:r>
              <a:rPr lang="en-US" sz="1600" dirty="0">
                <a:effectLst/>
              </a:rPr>
              <a:t>Bad weather increases passenger volume and operational complexity.</a:t>
            </a:r>
            <a:endParaRPr lang="en-US" sz="1600" dirty="0"/>
          </a:p>
          <a:p>
            <a:pPr marL="514350" indent="-514350">
              <a:buFont typeface="+mj-lt"/>
              <a:buAutoNum type="arabicPeriod"/>
            </a:pPr>
            <a:r>
              <a:rPr lang="en-US" sz="1600" b="1" dirty="0">
                <a:effectLst/>
              </a:rPr>
              <a:t>Shift Type (Morning) - </a:t>
            </a:r>
            <a:r>
              <a:rPr lang="en-US" sz="1600" dirty="0">
                <a:effectLst/>
              </a:rPr>
              <a:t>Morning shifts consistently show higher demand.</a:t>
            </a:r>
            <a:endParaRPr lang="en-US" sz="1600" dirty="0"/>
          </a:p>
          <a:p>
            <a:pPr marL="514350" indent="-514350">
              <a:buFont typeface="+mj-lt"/>
              <a:buAutoNum type="arabicPeriod"/>
            </a:pPr>
            <a:r>
              <a:rPr lang="en-US" sz="1600" b="1" dirty="0">
                <a:effectLst/>
              </a:rPr>
              <a:t>Month &amp; Seasonality</a:t>
            </a:r>
            <a:r>
              <a:rPr lang="en-US" sz="1600" b="1" dirty="0"/>
              <a:t> - </a:t>
            </a:r>
            <a:r>
              <a:rPr lang="en-US" sz="1600" dirty="0">
                <a:effectLst/>
              </a:rPr>
              <a:t>Certain months show predictable increases in ridership.</a:t>
            </a:r>
            <a:endParaRPr lang="en-US" sz="1600" dirty="0"/>
          </a:p>
          <a:p>
            <a:pPr marL="514350" indent="-514350">
              <a:buFont typeface="+mj-lt"/>
              <a:buAutoNum type="arabicPeriod"/>
            </a:pPr>
            <a:r>
              <a:rPr lang="en-US" sz="1600" b="1" dirty="0">
                <a:effectLst/>
              </a:rPr>
              <a:t>Day of Week</a:t>
            </a:r>
            <a:r>
              <a:rPr lang="en-US" sz="1600" b="1" dirty="0"/>
              <a:t> - </a:t>
            </a:r>
            <a:r>
              <a:rPr lang="en-US" sz="1600" dirty="0">
                <a:effectLst/>
              </a:rPr>
              <a:t>Weekdays vs. weekends show clear differences.</a:t>
            </a:r>
            <a:endParaRPr lang="en-US" sz="1600" dirty="0"/>
          </a:p>
          <a:p>
            <a:pPr marL="0" indent="0">
              <a:buNone/>
            </a:pPr>
            <a:r>
              <a:rPr lang="en-US" sz="1600" b="1" dirty="0"/>
              <a:t>Executive Takeaway</a:t>
            </a:r>
          </a:p>
          <a:p>
            <a:pPr marL="0" indent="0">
              <a:buNone/>
            </a:pPr>
            <a:r>
              <a:rPr lang="en-US" sz="1600" dirty="0">
                <a:effectLst/>
              </a:rPr>
              <a:t>Demand is not random — it is predictable and driven by measurable, stable factors.</a:t>
            </a:r>
            <a:endParaRPr lang="en-US" sz="1600" dirty="0"/>
          </a:p>
          <a:p>
            <a:pPr marL="0" indent="0">
              <a:buNone/>
            </a:pPr>
            <a:endParaRPr lang="en-PH" sz="1600" dirty="0"/>
          </a:p>
        </p:txBody>
      </p:sp>
      <p:cxnSp>
        <p:nvCxnSpPr>
          <p:cNvPr id="18" name="Straight Connector 17">
            <a:extLst>
              <a:ext uri="{FF2B5EF4-FFF2-40B4-BE49-F238E27FC236}">
                <a16:creationId xmlns:a16="http://schemas.microsoft.com/office/drawing/2014/main" id="{4000E089-AE81-53C4-E330-199BD9A955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A986838E-64BB-0873-4E6E-D83DB52BD326}"/>
              </a:ext>
            </a:extLst>
          </p:cNvPr>
          <p:cNvPicPr>
            <a:picLocks noChangeAspect="1"/>
          </p:cNvPicPr>
          <p:nvPr/>
        </p:nvPicPr>
        <p:blipFill>
          <a:blip r:embed="rId3"/>
          <a:stretch>
            <a:fillRect/>
          </a:stretch>
        </p:blipFill>
        <p:spPr>
          <a:xfrm>
            <a:off x="1573370" y="348503"/>
            <a:ext cx="3704686" cy="2934328"/>
          </a:xfrm>
          <a:prstGeom prst="rect">
            <a:avLst/>
          </a:prstGeom>
        </p:spPr>
      </p:pic>
      <p:pic>
        <p:nvPicPr>
          <p:cNvPr id="6" name="Picture 5">
            <a:extLst>
              <a:ext uri="{FF2B5EF4-FFF2-40B4-BE49-F238E27FC236}">
                <a16:creationId xmlns:a16="http://schemas.microsoft.com/office/drawing/2014/main" id="{97403862-B6B3-AEC1-E53B-3EA761E1505C}"/>
              </a:ext>
            </a:extLst>
          </p:cNvPr>
          <p:cNvPicPr>
            <a:picLocks noChangeAspect="1"/>
          </p:cNvPicPr>
          <p:nvPr/>
        </p:nvPicPr>
        <p:blipFill>
          <a:blip r:embed="rId4"/>
          <a:stretch>
            <a:fillRect/>
          </a:stretch>
        </p:blipFill>
        <p:spPr>
          <a:xfrm>
            <a:off x="1010179" y="3676801"/>
            <a:ext cx="3266377" cy="2799751"/>
          </a:xfrm>
          <a:prstGeom prst="rect">
            <a:avLst/>
          </a:prstGeom>
        </p:spPr>
      </p:pic>
    </p:spTree>
    <p:extLst>
      <p:ext uri="{BB962C8B-B14F-4D97-AF65-F5344CB8AC3E}">
        <p14:creationId xmlns:p14="http://schemas.microsoft.com/office/powerpoint/2010/main" val="1617899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Rectangle 11">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Rectangle 13">
            <a:extLst>
              <a:ext uri="{FF2B5EF4-FFF2-40B4-BE49-F238E27FC236}">
                <a16:creationId xmlns:a16="http://schemas.microsoft.com/office/drawing/2014/main" id="{99B60357-232D-4489-8786-BF4E4F74BA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0"/>
            <a:ext cx="471569" cy="2274927"/>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sp>
        <p:nvSpPr>
          <p:cNvPr id="16" name="Rectangle 15">
            <a:extLst>
              <a:ext uri="{FF2B5EF4-FFF2-40B4-BE49-F238E27FC236}">
                <a16:creationId xmlns:a16="http://schemas.microsoft.com/office/drawing/2014/main" id="{28928A89-D0B3-42AC-80FB-CA7D445693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72706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E68468-3F9A-C780-48E9-29EA0ED1740C}"/>
              </a:ext>
            </a:extLst>
          </p:cNvPr>
          <p:cNvSpPr>
            <a:spLocks noGrp="1"/>
          </p:cNvSpPr>
          <p:nvPr>
            <p:ph type="title"/>
          </p:nvPr>
        </p:nvSpPr>
        <p:spPr>
          <a:xfrm>
            <a:off x="422144" y="2774907"/>
            <a:ext cx="5294293" cy="3263582"/>
          </a:xfrm>
        </p:spPr>
        <p:txBody>
          <a:bodyPr anchor="t">
            <a:normAutofit/>
          </a:bodyPr>
          <a:lstStyle/>
          <a:p>
            <a:r>
              <a:rPr lang="en-US" sz="4800" b="1" dirty="0"/>
              <a:t>Local Explanation (SHAP Force Plot)</a:t>
            </a:r>
            <a:endParaRPr lang="en-PH" sz="4800" b="1" dirty="0"/>
          </a:p>
        </p:txBody>
      </p:sp>
      <p:sp>
        <p:nvSpPr>
          <p:cNvPr id="3" name="Content Placeholder 2">
            <a:extLst>
              <a:ext uri="{FF2B5EF4-FFF2-40B4-BE49-F238E27FC236}">
                <a16:creationId xmlns:a16="http://schemas.microsoft.com/office/drawing/2014/main" id="{7EC87B89-1BBC-B057-2184-AB38103D5156}"/>
              </a:ext>
            </a:extLst>
          </p:cNvPr>
          <p:cNvSpPr>
            <a:spLocks noGrp="1"/>
          </p:cNvSpPr>
          <p:nvPr>
            <p:ph idx="1"/>
          </p:nvPr>
        </p:nvSpPr>
        <p:spPr>
          <a:xfrm>
            <a:off x="5918780" y="2637605"/>
            <a:ext cx="4956417" cy="3168763"/>
          </a:xfrm>
        </p:spPr>
        <p:txBody>
          <a:bodyPr anchor="t">
            <a:normAutofit lnSpcReduction="10000"/>
          </a:bodyPr>
          <a:lstStyle/>
          <a:p>
            <a:pPr marL="0" indent="0">
              <a:buNone/>
            </a:pPr>
            <a:r>
              <a:rPr lang="en-US" sz="1800" b="1" dirty="0"/>
              <a:t>Interpretation for Executives</a:t>
            </a:r>
          </a:p>
          <a:p>
            <a:pPr marL="0" indent="0">
              <a:buNone/>
            </a:pPr>
            <a:r>
              <a:rPr lang="en-US" sz="1800" dirty="0">
                <a:effectLst/>
              </a:rPr>
              <a:t>This plot explains </a:t>
            </a:r>
            <a:r>
              <a:rPr lang="en-US" sz="1800" b="1" dirty="0">
                <a:effectLst/>
              </a:rPr>
              <a:t>why the model predicted a specific staffing level</a:t>
            </a:r>
            <a:r>
              <a:rPr lang="en-US" sz="1800" dirty="0">
                <a:effectLst/>
              </a:rPr>
              <a:t> for a given day. For example:</a:t>
            </a:r>
            <a:endParaRPr lang="en-US" sz="1800" dirty="0"/>
          </a:p>
          <a:p>
            <a:r>
              <a:rPr lang="en-US" sz="1800" dirty="0">
                <a:effectLst/>
              </a:rPr>
              <a:t>High ridership at STN05 → pushes demand </a:t>
            </a:r>
            <a:r>
              <a:rPr lang="en-US" sz="1800" b="1" dirty="0">
                <a:effectLst/>
              </a:rPr>
              <a:t>up</a:t>
            </a:r>
            <a:endParaRPr lang="en-US" sz="1800" dirty="0"/>
          </a:p>
          <a:p>
            <a:r>
              <a:rPr lang="en-US" sz="1800" dirty="0">
                <a:effectLst/>
              </a:rPr>
              <a:t>Rainy weather → pushes demand </a:t>
            </a:r>
            <a:r>
              <a:rPr lang="en-US" sz="1800" b="1" dirty="0">
                <a:effectLst/>
              </a:rPr>
              <a:t>up</a:t>
            </a:r>
            <a:endParaRPr lang="en-US" sz="1800" dirty="0"/>
          </a:p>
          <a:p>
            <a:r>
              <a:rPr lang="en-US" sz="1800" dirty="0">
                <a:effectLst/>
              </a:rPr>
              <a:t>Night shift → pushes demand </a:t>
            </a:r>
            <a:r>
              <a:rPr lang="en-US" sz="1800" b="1" dirty="0">
                <a:effectLst/>
              </a:rPr>
              <a:t>down</a:t>
            </a:r>
            <a:endParaRPr lang="en-US" sz="1800" dirty="0"/>
          </a:p>
          <a:p>
            <a:r>
              <a:rPr lang="en-US" sz="1800" dirty="0">
                <a:effectLst/>
              </a:rPr>
              <a:t>Weekend → pushes demand </a:t>
            </a:r>
            <a:r>
              <a:rPr lang="en-US" sz="1800" b="1" dirty="0">
                <a:effectLst/>
              </a:rPr>
              <a:t>down</a:t>
            </a:r>
            <a:endParaRPr lang="en-US" sz="1800" dirty="0"/>
          </a:p>
          <a:p>
            <a:pPr marL="0" indent="0">
              <a:buNone/>
            </a:pPr>
            <a:r>
              <a:rPr lang="en-US" sz="1800" dirty="0">
                <a:effectLst/>
              </a:rPr>
              <a:t>This transparency builds trust and supports operational decision‑making.</a:t>
            </a:r>
            <a:endParaRPr lang="en-US" sz="1800" dirty="0"/>
          </a:p>
          <a:p>
            <a:endParaRPr lang="en-PH" sz="1700" dirty="0"/>
          </a:p>
        </p:txBody>
      </p:sp>
      <p:cxnSp>
        <p:nvCxnSpPr>
          <p:cNvPr id="21" name="Straight Connector 20">
            <a:extLst>
              <a:ext uri="{FF2B5EF4-FFF2-40B4-BE49-F238E27FC236}">
                <a16:creationId xmlns:a16="http://schemas.microsoft.com/office/drawing/2014/main" id="{F085D7B9-E066-4923-8CB7-294BF306296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365990"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5443840-A796-4C43-8DC1-1B738EFEC5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51930"/>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D7310C1A-1D2D-7B0F-F9CC-5F2F18EF8ABD}"/>
              </a:ext>
            </a:extLst>
          </p:cNvPr>
          <p:cNvPicPr>
            <a:picLocks noChangeAspect="1"/>
          </p:cNvPicPr>
          <p:nvPr/>
        </p:nvPicPr>
        <p:blipFill>
          <a:blip r:embed="rId3"/>
          <a:stretch>
            <a:fillRect/>
          </a:stretch>
        </p:blipFill>
        <p:spPr>
          <a:xfrm>
            <a:off x="467949" y="514026"/>
            <a:ext cx="10901662" cy="1760902"/>
          </a:xfrm>
          <a:prstGeom prst="rect">
            <a:avLst/>
          </a:prstGeom>
        </p:spPr>
      </p:pic>
    </p:spTree>
    <p:extLst>
      <p:ext uri="{BB962C8B-B14F-4D97-AF65-F5344CB8AC3E}">
        <p14:creationId xmlns:p14="http://schemas.microsoft.com/office/powerpoint/2010/main" val="1595771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6EBAF07-F8BF-1D0D-B7FE-0D8704C486F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89AAEBC-8A1C-CA28-9C30-9ABB9172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D745F28-155D-E8CE-1524-A6E3B4A1FB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F535269B-2950-8249-E690-2391E214BB67}"/>
              </a:ext>
            </a:extLst>
          </p:cNvPr>
          <p:cNvSpPr>
            <a:spLocks noGrp="1"/>
          </p:cNvSpPr>
          <p:nvPr>
            <p:ph type="title"/>
          </p:nvPr>
        </p:nvSpPr>
        <p:spPr>
          <a:xfrm>
            <a:off x="633061" y="381935"/>
            <a:ext cx="4945936" cy="5974414"/>
          </a:xfrm>
        </p:spPr>
        <p:txBody>
          <a:bodyPr anchor="ctr">
            <a:normAutofit/>
          </a:bodyPr>
          <a:lstStyle/>
          <a:p>
            <a:r>
              <a:rPr lang="en-PH" sz="4800" dirty="0">
                <a:solidFill>
                  <a:srgbClr val="FFFFFF"/>
                </a:solidFill>
              </a:rPr>
              <a:t>Recommendations</a:t>
            </a:r>
          </a:p>
        </p:txBody>
      </p:sp>
      <p:grpSp>
        <p:nvGrpSpPr>
          <p:cNvPr id="12" name="Group 11">
            <a:extLst>
              <a:ext uri="{FF2B5EF4-FFF2-40B4-BE49-F238E27FC236}">
                <a16:creationId xmlns:a16="http://schemas.microsoft.com/office/drawing/2014/main" id="{B12ADFA4-9C18-AF1B-8B31-D2716C1AD4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0E0789B3-6A58-6ADF-0C3B-5A60431E34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B273D072-48E3-A3AA-14B2-20DE5F0354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46A40FD8-5AB4-5B2E-14B0-58B0B069DC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13CF33E6-528B-1CCF-1601-B0CC899EA1EC}"/>
              </a:ext>
            </a:extLst>
          </p:cNvPr>
          <p:cNvSpPr>
            <a:spLocks noGrp="1"/>
          </p:cNvSpPr>
          <p:nvPr>
            <p:ph idx="1"/>
          </p:nvPr>
        </p:nvSpPr>
        <p:spPr>
          <a:xfrm>
            <a:off x="6297233" y="518400"/>
            <a:ext cx="5069106" cy="5837949"/>
          </a:xfrm>
        </p:spPr>
        <p:txBody>
          <a:bodyPr anchor="ctr">
            <a:normAutofit fontScale="85000" lnSpcReduction="20000"/>
          </a:bodyPr>
          <a:lstStyle/>
          <a:p>
            <a:pPr marL="0" indent="0">
              <a:spcBef>
                <a:spcPts val="0"/>
              </a:spcBef>
              <a:buNone/>
            </a:pPr>
            <a:r>
              <a:rPr lang="en-US" sz="2200" b="1" dirty="0"/>
              <a:t>1. Cluster‑Based Scheduling </a:t>
            </a:r>
            <a:br>
              <a:rPr lang="en-US" sz="2200" b="1" dirty="0"/>
            </a:br>
            <a:r>
              <a:rPr lang="en-US" sz="2200" dirty="0">
                <a:effectLst/>
              </a:rPr>
              <a:t>Assign staffing templates per cluster type:</a:t>
            </a:r>
            <a:endParaRPr lang="en-US" sz="2200" dirty="0"/>
          </a:p>
          <a:p>
            <a:pPr>
              <a:spcBef>
                <a:spcPts val="0"/>
              </a:spcBef>
            </a:pPr>
            <a:r>
              <a:rPr lang="en-US" sz="2200" dirty="0">
                <a:effectLst/>
              </a:rPr>
              <a:t>High‑demand</a:t>
            </a:r>
            <a:endParaRPr lang="en-US" sz="2200" dirty="0"/>
          </a:p>
          <a:p>
            <a:pPr>
              <a:spcBef>
                <a:spcPts val="0"/>
              </a:spcBef>
            </a:pPr>
            <a:r>
              <a:rPr lang="en-US" sz="2200" dirty="0">
                <a:effectLst/>
              </a:rPr>
              <a:t>Moderate‑demand</a:t>
            </a:r>
            <a:endParaRPr lang="en-US" sz="2200" dirty="0"/>
          </a:p>
          <a:p>
            <a:pPr>
              <a:spcBef>
                <a:spcPts val="0"/>
              </a:spcBef>
            </a:pPr>
            <a:r>
              <a:rPr lang="en-US" sz="2200" dirty="0">
                <a:effectLst/>
              </a:rPr>
              <a:t>Low‑demand</a:t>
            </a:r>
          </a:p>
          <a:p>
            <a:pPr marL="0" indent="0">
              <a:spcBef>
                <a:spcPts val="0"/>
              </a:spcBef>
              <a:buNone/>
            </a:pPr>
            <a:endParaRPr lang="en-US" sz="2200" dirty="0"/>
          </a:p>
          <a:p>
            <a:pPr marL="0" indent="0">
              <a:spcBef>
                <a:spcPts val="0"/>
              </a:spcBef>
              <a:buNone/>
            </a:pPr>
            <a:r>
              <a:rPr lang="en-US" sz="2200" b="1" dirty="0"/>
              <a:t>2. Weather‑Responsive Staffing </a:t>
            </a:r>
            <a:r>
              <a:rPr lang="en-US" sz="2200" dirty="0">
                <a:effectLst/>
              </a:rPr>
              <a:t>Automatically increase staffing during rain or storm forecasts.</a:t>
            </a:r>
          </a:p>
          <a:p>
            <a:pPr marL="0" indent="0">
              <a:spcBef>
                <a:spcPts val="0"/>
              </a:spcBef>
              <a:buNone/>
            </a:pPr>
            <a:endParaRPr lang="en-US" sz="2200" dirty="0"/>
          </a:p>
          <a:p>
            <a:pPr marL="0" indent="0">
              <a:spcBef>
                <a:spcPts val="0"/>
              </a:spcBef>
              <a:buNone/>
            </a:pPr>
            <a:r>
              <a:rPr lang="en-US" sz="2200" b="1" dirty="0"/>
              <a:t>3. Station‑Specific Staffing Rules</a:t>
            </a:r>
          </a:p>
          <a:p>
            <a:pPr marL="0" indent="0">
              <a:spcBef>
                <a:spcPts val="0"/>
              </a:spcBef>
              <a:buNone/>
            </a:pPr>
            <a:r>
              <a:rPr lang="en-US" sz="2200" dirty="0">
                <a:effectLst/>
              </a:rPr>
              <a:t>STN05 and other high‑volume stations should have minimum staffing thresholds.</a:t>
            </a:r>
          </a:p>
          <a:p>
            <a:pPr marL="0" indent="0">
              <a:spcBef>
                <a:spcPts val="0"/>
              </a:spcBef>
              <a:buNone/>
            </a:pPr>
            <a:endParaRPr lang="en-US" sz="2200" dirty="0"/>
          </a:p>
          <a:p>
            <a:pPr marL="0" indent="0">
              <a:spcBef>
                <a:spcPts val="0"/>
              </a:spcBef>
              <a:buNone/>
            </a:pPr>
            <a:r>
              <a:rPr lang="en-US" sz="2200" b="1" dirty="0"/>
              <a:t>4. Shift Optimization</a:t>
            </a:r>
          </a:p>
          <a:p>
            <a:pPr marL="0" indent="0">
              <a:spcBef>
                <a:spcPts val="0"/>
              </a:spcBef>
              <a:buNone/>
            </a:pPr>
            <a:r>
              <a:rPr lang="en-US" sz="2200" dirty="0">
                <a:effectLst/>
              </a:rPr>
              <a:t>Morning shifts require more staff; night shifts can be leaner.</a:t>
            </a:r>
          </a:p>
          <a:p>
            <a:pPr marL="0" indent="0">
              <a:spcBef>
                <a:spcPts val="0"/>
              </a:spcBef>
              <a:buNone/>
            </a:pPr>
            <a:endParaRPr lang="en-US" sz="2200" dirty="0"/>
          </a:p>
          <a:p>
            <a:pPr marL="0" indent="0">
              <a:spcBef>
                <a:spcPts val="0"/>
              </a:spcBef>
              <a:buNone/>
            </a:pPr>
            <a:r>
              <a:rPr lang="en-US" sz="2200" b="1" dirty="0"/>
              <a:t>5. Predictive Scheduling Dashboard </a:t>
            </a:r>
            <a:r>
              <a:rPr lang="en-US" sz="2200" dirty="0">
                <a:effectLst/>
              </a:rPr>
              <a:t>Provide managers with:</a:t>
            </a:r>
            <a:endParaRPr lang="en-US" sz="2200" dirty="0"/>
          </a:p>
          <a:p>
            <a:pPr>
              <a:spcBef>
                <a:spcPts val="0"/>
              </a:spcBef>
            </a:pPr>
            <a:r>
              <a:rPr lang="en-US" sz="2200" dirty="0">
                <a:effectLst/>
              </a:rPr>
              <a:t>Daily demand forecast</a:t>
            </a:r>
            <a:endParaRPr lang="en-US" sz="2200" dirty="0"/>
          </a:p>
          <a:p>
            <a:pPr>
              <a:spcBef>
                <a:spcPts val="0"/>
              </a:spcBef>
            </a:pPr>
            <a:r>
              <a:rPr lang="en-US" sz="2200" dirty="0">
                <a:effectLst/>
              </a:rPr>
              <a:t>Cluster type</a:t>
            </a:r>
            <a:endParaRPr lang="en-US" sz="2200" dirty="0"/>
          </a:p>
          <a:p>
            <a:pPr>
              <a:spcBef>
                <a:spcPts val="0"/>
              </a:spcBef>
            </a:pPr>
            <a:r>
              <a:rPr lang="en-US" sz="2200" dirty="0">
                <a:effectLst/>
              </a:rPr>
              <a:t>SHAP explanation</a:t>
            </a:r>
            <a:endParaRPr lang="en-US" sz="2200" dirty="0"/>
          </a:p>
          <a:p>
            <a:pPr>
              <a:spcBef>
                <a:spcPts val="0"/>
              </a:spcBef>
            </a:pPr>
            <a:r>
              <a:rPr lang="en-US" sz="2200" dirty="0">
                <a:effectLst/>
              </a:rPr>
              <a:t>Recommended staffing level</a:t>
            </a:r>
          </a:p>
          <a:p>
            <a:pPr>
              <a:spcBef>
                <a:spcPts val="0"/>
              </a:spcBef>
            </a:pPr>
            <a:endParaRPr lang="en-US" sz="2200" dirty="0"/>
          </a:p>
          <a:p>
            <a:pPr marL="0" indent="0">
              <a:spcBef>
                <a:spcPts val="0"/>
              </a:spcBef>
              <a:buNone/>
            </a:pPr>
            <a:r>
              <a:rPr lang="en-US" sz="2200" b="1" dirty="0"/>
              <a:t>6. Continuous Model Monitoring</a:t>
            </a:r>
          </a:p>
          <a:p>
            <a:pPr marL="0" indent="0">
              <a:spcBef>
                <a:spcPts val="0"/>
              </a:spcBef>
              <a:buNone/>
            </a:pPr>
            <a:r>
              <a:rPr lang="en-US" sz="2200" dirty="0">
                <a:effectLst/>
              </a:rPr>
              <a:t>Retrain monthly to incorporate new patterns.</a:t>
            </a:r>
            <a:endParaRPr lang="en-US" sz="2200" dirty="0"/>
          </a:p>
          <a:p>
            <a:endParaRPr lang="en-PH" sz="2000" dirty="0">
              <a:solidFill>
                <a:schemeClr val="tx1">
                  <a:alpha val="80000"/>
                </a:schemeClr>
              </a:solidFill>
            </a:endParaRPr>
          </a:p>
        </p:txBody>
      </p:sp>
      <p:cxnSp>
        <p:nvCxnSpPr>
          <p:cNvPr id="17" name="Straight Connector 16">
            <a:extLst>
              <a:ext uri="{FF2B5EF4-FFF2-40B4-BE49-F238E27FC236}">
                <a16:creationId xmlns:a16="http://schemas.microsoft.com/office/drawing/2014/main" id="{01794E3F-3970-F252-A5BE-7C10A78DEDC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6554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A66E17-6384-C5FF-5200-E3204039F8E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E725B32-17FD-08F0-CBC9-D689C3BAA3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67C14D8-2A4F-363C-8D95-053A8361DA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5679C6DD-E6F3-95C8-33EB-2F5F5ADE7BD1}"/>
              </a:ext>
            </a:extLst>
          </p:cNvPr>
          <p:cNvSpPr>
            <a:spLocks noGrp="1"/>
          </p:cNvSpPr>
          <p:nvPr>
            <p:ph type="title"/>
          </p:nvPr>
        </p:nvSpPr>
        <p:spPr>
          <a:xfrm>
            <a:off x="633061" y="381935"/>
            <a:ext cx="4563591" cy="5974414"/>
          </a:xfrm>
        </p:spPr>
        <p:txBody>
          <a:bodyPr anchor="ctr">
            <a:normAutofit/>
          </a:bodyPr>
          <a:lstStyle/>
          <a:p>
            <a:r>
              <a:rPr lang="en-PH" sz="5400" dirty="0">
                <a:solidFill>
                  <a:srgbClr val="FFFFFF"/>
                </a:solidFill>
              </a:rPr>
              <a:t>Risks &amp; Considerations</a:t>
            </a:r>
          </a:p>
        </p:txBody>
      </p:sp>
      <p:grpSp>
        <p:nvGrpSpPr>
          <p:cNvPr id="12" name="Group 11">
            <a:extLst>
              <a:ext uri="{FF2B5EF4-FFF2-40B4-BE49-F238E27FC236}">
                <a16:creationId xmlns:a16="http://schemas.microsoft.com/office/drawing/2014/main" id="{AEF4ED0C-45F8-8AFB-8093-14D60977CB3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3AE36EA9-837D-6B6B-3F21-78BEA659EB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CDA5EF4-5A94-1EB3-27A6-EF95039212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CD41D458-4075-7150-793B-62A984B697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19AFDC78-C92F-FE38-A811-84AA4DF35783}"/>
              </a:ext>
            </a:extLst>
          </p:cNvPr>
          <p:cNvSpPr>
            <a:spLocks noGrp="1"/>
          </p:cNvSpPr>
          <p:nvPr>
            <p:ph idx="1"/>
          </p:nvPr>
        </p:nvSpPr>
        <p:spPr>
          <a:xfrm>
            <a:off x="6297233" y="518400"/>
            <a:ext cx="5069106" cy="5837949"/>
          </a:xfrm>
        </p:spPr>
        <p:txBody>
          <a:bodyPr anchor="ctr">
            <a:normAutofit fontScale="92500" lnSpcReduction="20000"/>
          </a:bodyPr>
          <a:lstStyle/>
          <a:p>
            <a:pPr marL="0" indent="0">
              <a:buNone/>
            </a:pPr>
            <a:r>
              <a:rPr lang="en-PH" sz="2400" b="1" dirty="0"/>
              <a:t>1. Representation Imbalance</a:t>
            </a:r>
          </a:p>
          <a:p>
            <a:pPr marL="0" indent="0">
              <a:buNone/>
            </a:pPr>
            <a:r>
              <a:rPr lang="en-PH" sz="2400" dirty="0">
                <a:effectLst/>
              </a:rPr>
              <a:t>Some conditions (storms, night shifts) have fewer samples.</a:t>
            </a:r>
            <a:endParaRPr lang="en-PH" sz="2400" dirty="0"/>
          </a:p>
          <a:p>
            <a:pPr marL="0" indent="0">
              <a:buNone/>
            </a:pPr>
            <a:r>
              <a:rPr lang="en-PH" sz="2400" b="1" dirty="0"/>
              <a:t>2. Potential Data Leakage</a:t>
            </a:r>
          </a:p>
          <a:p>
            <a:pPr marL="0" indent="0">
              <a:buNone/>
            </a:pPr>
            <a:r>
              <a:rPr lang="en-PH" sz="2400" dirty="0">
                <a:effectLst/>
              </a:rPr>
              <a:t>Mitigated by chronological train/test split.</a:t>
            </a:r>
            <a:endParaRPr lang="en-PH" sz="2400" dirty="0"/>
          </a:p>
          <a:p>
            <a:pPr marL="0" indent="0">
              <a:buNone/>
            </a:pPr>
            <a:r>
              <a:rPr lang="en-PH" sz="2400" b="1" dirty="0"/>
              <a:t>3. Overfitting Risk</a:t>
            </a:r>
          </a:p>
          <a:p>
            <a:pPr marL="0" indent="0">
              <a:buNone/>
            </a:pPr>
            <a:r>
              <a:rPr lang="en-PH" sz="2400" dirty="0">
                <a:effectLst/>
              </a:rPr>
              <a:t>High R² mitigated by:</a:t>
            </a:r>
            <a:endParaRPr lang="en-PH" sz="2400" dirty="0"/>
          </a:p>
          <a:p>
            <a:r>
              <a:rPr lang="en-PH" sz="2400" dirty="0">
                <a:effectLst/>
              </a:rPr>
              <a:t>Cross‑validation</a:t>
            </a:r>
            <a:endParaRPr lang="en-PH" sz="2400" dirty="0"/>
          </a:p>
          <a:p>
            <a:r>
              <a:rPr lang="en-PH" sz="2400" dirty="0">
                <a:effectLst/>
              </a:rPr>
              <a:t>Hyperparameter tuning</a:t>
            </a:r>
            <a:endParaRPr lang="en-PH" sz="2400" dirty="0"/>
          </a:p>
          <a:p>
            <a:r>
              <a:rPr lang="en-PH" sz="2400" dirty="0">
                <a:effectLst/>
              </a:rPr>
              <a:t>SHAP stability checks</a:t>
            </a:r>
            <a:endParaRPr lang="en-PH" sz="2400" dirty="0"/>
          </a:p>
          <a:p>
            <a:pPr marL="0" indent="0">
              <a:buNone/>
            </a:pPr>
            <a:r>
              <a:rPr lang="en-PH" sz="2400" b="1" dirty="0"/>
              <a:t>4. External Factors Not Modeled</a:t>
            </a:r>
          </a:p>
          <a:p>
            <a:pPr marL="0" indent="0">
              <a:buNone/>
            </a:pPr>
            <a:r>
              <a:rPr lang="en-PH" sz="2400" dirty="0">
                <a:effectLst/>
              </a:rPr>
              <a:t>Events, disruptions, holidays may affect accuracy.</a:t>
            </a:r>
            <a:endParaRPr lang="en-PH" sz="2400" dirty="0"/>
          </a:p>
          <a:p>
            <a:pPr marL="0" indent="0">
              <a:buNone/>
            </a:pPr>
            <a:r>
              <a:rPr lang="en-PH" sz="2400" b="1" dirty="0"/>
              <a:t>5. Operational Adoption</a:t>
            </a:r>
          </a:p>
          <a:p>
            <a:pPr marL="0" indent="0">
              <a:buNone/>
            </a:pPr>
            <a:r>
              <a:rPr lang="en-PH" sz="2400" dirty="0">
                <a:effectLst/>
              </a:rPr>
              <a:t>Managers need training to interpret model outputs.</a:t>
            </a:r>
            <a:endParaRPr lang="en-PH" sz="2400" dirty="0"/>
          </a:p>
          <a:p>
            <a:endParaRPr lang="en-PH" sz="2000" dirty="0">
              <a:solidFill>
                <a:schemeClr val="tx1">
                  <a:alpha val="80000"/>
                </a:schemeClr>
              </a:solidFill>
            </a:endParaRPr>
          </a:p>
        </p:txBody>
      </p:sp>
      <p:cxnSp>
        <p:nvCxnSpPr>
          <p:cNvPr id="17" name="Straight Connector 16">
            <a:extLst>
              <a:ext uri="{FF2B5EF4-FFF2-40B4-BE49-F238E27FC236}">
                <a16:creationId xmlns:a16="http://schemas.microsoft.com/office/drawing/2014/main" id="{522A7B8D-1379-43D4-9664-65174B48D89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560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EBBA8B3-ABC5-409A-5423-2C40A65AFCC7}"/>
              </a:ext>
            </a:extLst>
          </p:cNvPr>
          <p:cNvSpPr>
            <a:spLocks noGrp="1"/>
          </p:cNvSpPr>
          <p:nvPr>
            <p:ph type="title"/>
          </p:nvPr>
        </p:nvSpPr>
        <p:spPr>
          <a:xfrm>
            <a:off x="925975" y="381935"/>
            <a:ext cx="4270677" cy="5974414"/>
          </a:xfrm>
        </p:spPr>
        <p:txBody>
          <a:bodyPr anchor="ctr">
            <a:normAutofit/>
          </a:bodyPr>
          <a:lstStyle/>
          <a:p>
            <a:r>
              <a:rPr lang="en-PH" sz="6200" dirty="0">
                <a:solidFill>
                  <a:srgbClr val="FFFFFF"/>
                </a:solidFill>
              </a:rPr>
              <a:t>Next Steps </a:t>
            </a:r>
            <a:br>
              <a:rPr lang="en-PH" sz="6200" dirty="0">
                <a:solidFill>
                  <a:srgbClr val="FFFFFF"/>
                </a:solidFill>
              </a:rPr>
            </a:br>
            <a:r>
              <a:rPr lang="en-PH" sz="6200" dirty="0">
                <a:solidFill>
                  <a:srgbClr val="FFFFFF"/>
                </a:solidFill>
              </a:rPr>
              <a:t>(Operational Roadmap)</a:t>
            </a:r>
          </a:p>
        </p:txBody>
      </p:sp>
      <p:grpSp>
        <p:nvGrpSpPr>
          <p:cNvPr id="19" name="Group 18">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FDE234B6-DBA2-6A0D-98C6-69A9F175FEDA}"/>
              </a:ext>
            </a:extLst>
          </p:cNvPr>
          <p:cNvSpPr>
            <a:spLocks noGrp="1"/>
          </p:cNvSpPr>
          <p:nvPr>
            <p:ph idx="1"/>
          </p:nvPr>
        </p:nvSpPr>
        <p:spPr>
          <a:xfrm>
            <a:off x="6297233" y="518400"/>
            <a:ext cx="4771607" cy="5837949"/>
          </a:xfrm>
        </p:spPr>
        <p:txBody>
          <a:bodyPr anchor="ctr">
            <a:normAutofit/>
          </a:bodyPr>
          <a:lstStyle/>
          <a:p>
            <a:pPr marL="0" indent="0">
              <a:buNone/>
            </a:pPr>
            <a:r>
              <a:rPr lang="en-US" sz="1900" b="1" dirty="0">
                <a:solidFill>
                  <a:schemeClr val="tx1">
                    <a:alpha val="80000"/>
                  </a:schemeClr>
                </a:solidFill>
              </a:rPr>
              <a:t>Phase 1 — Pilot</a:t>
            </a:r>
          </a:p>
          <a:p>
            <a:pPr marL="0" indent="0">
              <a:buNone/>
            </a:pPr>
            <a:r>
              <a:rPr lang="en-US" sz="1900" dirty="0">
                <a:solidFill>
                  <a:schemeClr val="tx1">
                    <a:alpha val="80000"/>
                  </a:schemeClr>
                </a:solidFill>
                <a:effectLst/>
              </a:rPr>
              <a:t>Deploy model for one station or one shift group.</a:t>
            </a:r>
            <a:endParaRPr lang="en-US" sz="1900" dirty="0">
              <a:solidFill>
                <a:schemeClr val="tx1">
                  <a:alpha val="80000"/>
                </a:schemeClr>
              </a:solidFill>
            </a:endParaRPr>
          </a:p>
          <a:p>
            <a:pPr marL="0" indent="0">
              <a:buNone/>
            </a:pPr>
            <a:r>
              <a:rPr lang="en-US" sz="1900" b="1" dirty="0">
                <a:solidFill>
                  <a:schemeClr val="tx1">
                    <a:alpha val="80000"/>
                  </a:schemeClr>
                </a:solidFill>
              </a:rPr>
              <a:t>Phase 2 — Integration</a:t>
            </a:r>
          </a:p>
          <a:p>
            <a:pPr marL="0" indent="0">
              <a:buNone/>
            </a:pPr>
            <a:r>
              <a:rPr lang="en-US" sz="1900" dirty="0">
                <a:solidFill>
                  <a:schemeClr val="tx1">
                    <a:alpha val="80000"/>
                  </a:schemeClr>
                </a:solidFill>
                <a:effectLst/>
              </a:rPr>
              <a:t>Connect model to scheduling system.</a:t>
            </a:r>
            <a:endParaRPr lang="en-US" sz="1900" dirty="0">
              <a:solidFill>
                <a:schemeClr val="tx1">
                  <a:alpha val="80000"/>
                </a:schemeClr>
              </a:solidFill>
            </a:endParaRPr>
          </a:p>
          <a:p>
            <a:pPr marL="0" indent="0">
              <a:buNone/>
            </a:pPr>
            <a:r>
              <a:rPr lang="en-US" sz="1900" b="1" dirty="0">
                <a:solidFill>
                  <a:schemeClr val="tx1">
                    <a:alpha val="80000"/>
                  </a:schemeClr>
                </a:solidFill>
              </a:rPr>
              <a:t>Phase 3 — Dashboard</a:t>
            </a:r>
          </a:p>
          <a:p>
            <a:pPr marL="0" indent="0">
              <a:buNone/>
            </a:pPr>
            <a:r>
              <a:rPr lang="en-US" sz="1900" dirty="0">
                <a:solidFill>
                  <a:schemeClr val="tx1">
                    <a:alpha val="80000"/>
                  </a:schemeClr>
                </a:solidFill>
                <a:effectLst/>
              </a:rPr>
              <a:t>Provide real‑time demand forecasts and explanations.</a:t>
            </a:r>
            <a:endParaRPr lang="en-US" sz="1900" dirty="0">
              <a:solidFill>
                <a:schemeClr val="tx1">
                  <a:alpha val="80000"/>
                </a:schemeClr>
              </a:solidFill>
            </a:endParaRPr>
          </a:p>
          <a:p>
            <a:pPr marL="0" indent="0">
              <a:buNone/>
            </a:pPr>
            <a:r>
              <a:rPr lang="en-US" sz="1900" b="1" dirty="0">
                <a:solidFill>
                  <a:schemeClr val="tx1">
                    <a:alpha val="80000"/>
                  </a:schemeClr>
                </a:solidFill>
              </a:rPr>
              <a:t>Phase 4 — Expansion</a:t>
            </a:r>
          </a:p>
          <a:p>
            <a:pPr marL="0" indent="0">
              <a:buNone/>
            </a:pPr>
            <a:r>
              <a:rPr lang="en-US" sz="1900" dirty="0">
                <a:solidFill>
                  <a:schemeClr val="tx1">
                    <a:alpha val="80000"/>
                  </a:schemeClr>
                </a:solidFill>
                <a:effectLst/>
              </a:rPr>
              <a:t>Add:</a:t>
            </a:r>
            <a:endParaRPr lang="en-US" sz="1900" dirty="0">
              <a:solidFill>
                <a:schemeClr val="tx1">
                  <a:alpha val="80000"/>
                </a:schemeClr>
              </a:solidFill>
            </a:endParaRPr>
          </a:p>
          <a:p>
            <a:r>
              <a:rPr lang="en-US" sz="1900" dirty="0">
                <a:solidFill>
                  <a:schemeClr val="tx1">
                    <a:alpha val="80000"/>
                  </a:schemeClr>
                </a:solidFill>
                <a:effectLst/>
              </a:rPr>
              <a:t>Event data</a:t>
            </a:r>
            <a:endParaRPr lang="en-US" sz="1900" dirty="0">
              <a:solidFill>
                <a:schemeClr val="tx1">
                  <a:alpha val="80000"/>
                </a:schemeClr>
              </a:solidFill>
            </a:endParaRPr>
          </a:p>
          <a:p>
            <a:r>
              <a:rPr lang="en-US" sz="1900" dirty="0">
                <a:solidFill>
                  <a:schemeClr val="tx1">
                    <a:alpha val="80000"/>
                  </a:schemeClr>
                </a:solidFill>
                <a:effectLst/>
              </a:rPr>
              <a:t>Holiday effects</a:t>
            </a:r>
            <a:endParaRPr lang="en-US" sz="1900" dirty="0">
              <a:solidFill>
                <a:schemeClr val="tx1">
                  <a:alpha val="80000"/>
                </a:schemeClr>
              </a:solidFill>
            </a:endParaRPr>
          </a:p>
          <a:p>
            <a:r>
              <a:rPr lang="en-US" sz="1900" dirty="0">
                <a:solidFill>
                  <a:schemeClr val="tx1">
                    <a:alpha val="80000"/>
                  </a:schemeClr>
                </a:solidFill>
                <a:effectLst/>
              </a:rPr>
              <a:t>Traffic and disruption feeds</a:t>
            </a:r>
            <a:endParaRPr lang="en-US" sz="1900" dirty="0">
              <a:solidFill>
                <a:schemeClr val="tx1">
                  <a:alpha val="80000"/>
                </a:schemeClr>
              </a:solidFill>
            </a:endParaRPr>
          </a:p>
          <a:p>
            <a:pPr marL="0" indent="0">
              <a:buNone/>
            </a:pPr>
            <a:r>
              <a:rPr lang="en-US" sz="1900" b="1" dirty="0">
                <a:solidFill>
                  <a:schemeClr val="tx1">
                    <a:alpha val="80000"/>
                  </a:schemeClr>
                </a:solidFill>
              </a:rPr>
              <a:t>Phase 5 — Continuous Improvement</a:t>
            </a:r>
          </a:p>
          <a:p>
            <a:pPr marL="0" indent="0">
              <a:buNone/>
            </a:pPr>
            <a:r>
              <a:rPr lang="en-US" sz="1900" dirty="0">
                <a:solidFill>
                  <a:schemeClr val="tx1">
                    <a:alpha val="80000"/>
                  </a:schemeClr>
                </a:solidFill>
                <a:effectLst/>
              </a:rPr>
              <a:t>Monthly retraining and quarterly performance review.</a:t>
            </a:r>
            <a:endParaRPr lang="en-US" sz="1900" dirty="0">
              <a:solidFill>
                <a:schemeClr val="tx1">
                  <a:alpha val="80000"/>
                </a:schemeClr>
              </a:solidFill>
            </a:endParaRPr>
          </a:p>
          <a:p>
            <a:pPr marL="0" indent="0">
              <a:buNone/>
            </a:pPr>
            <a:endParaRPr lang="en-PH" sz="1900" dirty="0">
              <a:solidFill>
                <a:schemeClr val="tx1">
                  <a:alpha val="80000"/>
                </a:schemeClr>
              </a:solidFill>
            </a:endParaRP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0707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5B82308D-C192-7816-EC75-73F1B70D7B2F}"/>
              </a:ext>
            </a:extLst>
          </p:cNvPr>
          <p:cNvSpPr>
            <a:spLocks noGrp="1"/>
          </p:cNvSpPr>
          <p:nvPr>
            <p:ph type="title"/>
          </p:nvPr>
        </p:nvSpPr>
        <p:spPr>
          <a:xfrm>
            <a:off x="1188069" y="381935"/>
            <a:ext cx="4008583" cy="5974414"/>
          </a:xfrm>
        </p:spPr>
        <p:txBody>
          <a:bodyPr anchor="ctr">
            <a:normAutofit/>
          </a:bodyPr>
          <a:lstStyle/>
          <a:p>
            <a:r>
              <a:rPr lang="en-PH" sz="6800">
                <a:solidFill>
                  <a:srgbClr val="FFFFFF"/>
                </a:solidFill>
              </a:rPr>
              <a:t>ROI Projection</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1A7D5313-3DBF-1CAF-1A0C-0A948752C448}"/>
              </a:ext>
            </a:extLst>
          </p:cNvPr>
          <p:cNvSpPr>
            <a:spLocks noGrp="1"/>
          </p:cNvSpPr>
          <p:nvPr>
            <p:ph idx="1"/>
          </p:nvPr>
        </p:nvSpPr>
        <p:spPr>
          <a:xfrm>
            <a:off x="6297233" y="518400"/>
            <a:ext cx="4771607" cy="5837949"/>
          </a:xfrm>
        </p:spPr>
        <p:txBody>
          <a:bodyPr anchor="ctr">
            <a:normAutofit/>
          </a:bodyPr>
          <a:lstStyle/>
          <a:p>
            <a:pPr marL="0" indent="0">
              <a:buNone/>
            </a:pPr>
            <a:r>
              <a:rPr lang="en-US" sz="1900">
                <a:solidFill>
                  <a:schemeClr val="tx1">
                    <a:alpha val="80000"/>
                  </a:schemeClr>
                </a:solidFill>
                <a:effectLst/>
              </a:rPr>
              <a:t>Based on industry benchmarks and your model’s accuracy:</a:t>
            </a:r>
            <a:endParaRPr lang="en-US" sz="1900">
              <a:solidFill>
                <a:schemeClr val="tx1">
                  <a:alpha val="80000"/>
                </a:schemeClr>
              </a:solidFill>
            </a:endParaRPr>
          </a:p>
          <a:p>
            <a:pPr marL="0" indent="0">
              <a:buNone/>
            </a:pPr>
            <a:r>
              <a:rPr lang="en-US" sz="1900" b="1">
                <a:solidFill>
                  <a:schemeClr val="tx1">
                    <a:alpha val="80000"/>
                  </a:schemeClr>
                </a:solidFill>
              </a:rPr>
              <a:t>Expected Benefits</a:t>
            </a:r>
          </a:p>
          <a:p>
            <a:r>
              <a:rPr lang="en-US" sz="1900" b="1">
                <a:solidFill>
                  <a:schemeClr val="tx1">
                    <a:alpha val="80000"/>
                  </a:schemeClr>
                </a:solidFill>
                <a:effectLst/>
              </a:rPr>
              <a:t>5–10% reduction in overtime costs</a:t>
            </a:r>
            <a:endParaRPr lang="en-US" sz="1900">
              <a:solidFill>
                <a:schemeClr val="tx1">
                  <a:alpha val="80000"/>
                </a:schemeClr>
              </a:solidFill>
            </a:endParaRPr>
          </a:p>
          <a:p>
            <a:r>
              <a:rPr lang="en-US" sz="1900" b="1">
                <a:solidFill>
                  <a:schemeClr val="tx1">
                    <a:alpha val="80000"/>
                  </a:schemeClr>
                </a:solidFill>
                <a:effectLst/>
              </a:rPr>
              <a:t>Fewer last‑minute schedule changes</a:t>
            </a:r>
            <a:endParaRPr lang="en-US" sz="1900">
              <a:solidFill>
                <a:schemeClr val="tx1">
                  <a:alpha val="80000"/>
                </a:schemeClr>
              </a:solidFill>
            </a:endParaRPr>
          </a:p>
          <a:p>
            <a:r>
              <a:rPr lang="en-US" sz="1900" b="1">
                <a:solidFill>
                  <a:schemeClr val="tx1">
                    <a:alpha val="80000"/>
                  </a:schemeClr>
                </a:solidFill>
                <a:effectLst/>
              </a:rPr>
              <a:t>Improved service reliability</a:t>
            </a:r>
            <a:endParaRPr lang="en-US" sz="1900">
              <a:solidFill>
                <a:schemeClr val="tx1">
                  <a:alpha val="80000"/>
                </a:schemeClr>
              </a:solidFill>
            </a:endParaRPr>
          </a:p>
          <a:p>
            <a:r>
              <a:rPr lang="en-US" sz="1900" b="1">
                <a:solidFill>
                  <a:schemeClr val="tx1">
                    <a:alpha val="80000"/>
                  </a:schemeClr>
                </a:solidFill>
                <a:effectLst/>
              </a:rPr>
              <a:t>Better staff allocation across stations</a:t>
            </a:r>
            <a:endParaRPr lang="en-US" sz="1900">
              <a:solidFill>
                <a:schemeClr val="tx1">
                  <a:alpha val="80000"/>
                </a:schemeClr>
              </a:solidFill>
            </a:endParaRPr>
          </a:p>
          <a:p>
            <a:r>
              <a:rPr lang="en-US" sz="1900" b="1">
                <a:solidFill>
                  <a:schemeClr val="tx1">
                    <a:alpha val="80000"/>
                  </a:schemeClr>
                </a:solidFill>
                <a:effectLst/>
              </a:rPr>
              <a:t>Higher customer satisfaction</a:t>
            </a:r>
            <a:endParaRPr lang="en-US" sz="1900">
              <a:solidFill>
                <a:schemeClr val="tx1">
                  <a:alpha val="80000"/>
                </a:schemeClr>
              </a:solidFill>
            </a:endParaRPr>
          </a:p>
          <a:p>
            <a:pPr marL="0" indent="0">
              <a:buNone/>
            </a:pPr>
            <a:r>
              <a:rPr lang="en-US" sz="1900" b="1">
                <a:solidFill>
                  <a:schemeClr val="tx1">
                    <a:alpha val="80000"/>
                  </a:schemeClr>
                </a:solidFill>
              </a:rPr>
              <a:t>Financial Impact</a:t>
            </a:r>
          </a:p>
          <a:p>
            <a:r>
              <a:rPr lang="en-US" sz="1900">
                <a:solidFill>
                  <a:schemeClr val="tx1">
                    <a:alpha val="80000"/>
                  </a:schemeClr>
                </a:solidFill>
                <a:effectLst/>
              </a:rPr>
              <a:t>Even a </a:t>
            </a:r>
            <a:r>
              <a:rPr lang="en-US" sz="1900" b="1">
                <a:solidFill>
                  <a:schemeClr val="tx1">
                    <a:alpha val="80000"/>
                  </a:schemeClr>
                </a:solidFill>
                <a:effectLst/>
              </a:rPr>
              <a:t>5% improvement</a:t>
            </a:r>
            <a:r>
              <a:rPr lang="en-US" sz="1900">
                <a:solidFill>
                  <a:schemeClr val="tx1">
                    <a:alpha val="80000"/>
                  </a:schemeClr>
                </a:solidFill>
                <a:effectLst/>
              </a:rPr>
              <a:t> in scheduling accuracy can translate to:</a:t>
            </a:r>
            <a:endParaRPr lang="en-US" sz="1900">
              <a:solidFill>
                <a:schemeClr val="tx1">
                  <a:alpha val="80000"/>
                </a:schemeClr>
              </a:solidFill>
            </a:endParaRPr>
          </a:p>
          <a:p>
            <a:r>
              <a:rPr lang="en-US" sz="1900">
                <a:solidFill>
                  <a:schemeClr val="tx1">
                    <a:alpha val="80000"/>
                  </a:schemeClr>
                </a:solidFill>
                <a:effectLst/>
              </a:rPr>
              <a:t>Lower labor cost</a:t>
            </a:r>
            <a:endParaRPr lang="en-US" sz="1900">
              <a:solidFill>
                <a:schemeClr val="tx1">
                  <a:alpha val="80000"/>
                </a:schemeClr>
              </a:solidFill>
            </a:endParaRPr>
          </a:p>
          <a:p>
            <a:r>
              <a:rPr lang="en-US" sz="1900">
                <a:solidFill>
                  <a:schemeClr val="tx1">
                    <a:alpha val="80000"/>
                  </a:schemeClr>
                </a:solidFill>
                <a:effectLst/>
              </a:rPr>
              <a:t>Reduced operational disruptions</a:t>
            </a:r>
            <a:endParaRPr lang="en-US" sz="1900">
              <a:solidFill>
                <a:schemeClr val="tx1">
                  <a:alpha val="80000"/>
                </a:schemeClr>
              </a:solidFill>
            </a:endParaRPr>
          </a:p>
          <a:p>
            <a:r>
              <a:rPr lang="en-US" sz="1900">
                <a:solidFill>
                  <a:schemeClr val="tx1">
                    <a:alpha val="80000"/>
                  </a:schemeClr>
                </a:solidFill>
                <a:effectLst/>
              </a:rPr>
              <a:t>More efficient resource allocation</a:t>
            </a:r>
            <a:endParaRPr lang="en-US" sz="1900">
              <a:solidFill>
                <a:schemeClr val="tx1">
                  <a:alpha val="80000"/>
                </a:schemeClr>
              </a:solidFill>
            </a:endParaRPr>
          </a:p>
          <a:p>
            <a:r>
              <a:rPr lang="en-US" sz="1900">
                <a:solidFill>
                  <a:schemeClr val="tx1">
                    <a:alpha val="80000"/>
                  </a:schemeClr>
                </a:solidFill>
                <a:effectLst/>
              </a:rPr>
              <a:t>This forecasting system becomes a </a:t>
            </a:r>
            <a:r>
              <a:rPr lang="en-US" sz="1900" b="1">
                <a:solidFill>
                  <a:schemeClr val="tx1">
                    <a:alpha val="80000"/>
                  </a:schemeClr>
                </a:solidFill>
                <a:effectLst/>
              </a:rPr>
              <a:t>strategic asset</a:t>
            </a:r>
            <a:r>
              <a:rPr lang="en-US" sz="1900">
                <a:solidFill>
                  <a:schemeClr val="tx1">
                    <a:alpha val="80000"/>
                  </a:schemeClr>
                </a:solidFill>
                <a:effectLst/>
              </a:rPr>
              <a:t>, not just a model.</a:t>
            </a:r>
            <a:endParaRPr lang="en-US" sz="1900">
              <a:solidFill>
                <a:schemeClr val="tx1">
                  <a:alpha val="80000"/>
                </a:schemeClr>
              </a:solidFill>
            </a:endParaRPr>
          </a:p>
          <a:p>
            <a:pPr marL="0" indent="0">
              <a:buNone/>
            </a:pPr>
            <a:endParaRPr lang="en-PH" sz="1900">
              <a:solidFill>
                <a:schemeClr val="tx1">
                  <a:alpha val="80000"/>
                </a:schemeClr>
              </a:solidFill>
            </a:endParaRP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77751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214</TotalTime>
  <Words>1369</Words>
  <Application>Microsoft Office PowerPoint</Application>
  <PresentationFormat>Widescreen</PresentationFormat>
  <Paragraphs>198</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Helvetica Neue Medium</vt:lpstr>
      <vt:lpstr>Office Theme</vt:lpstr>
      <vt:lpstr>Workforce Demand Forecasting for Transportation Operations</vt:lpstr>
      <vt:lpstr>The Business Problem</vt:lpstr>
      <vt:lpstr>Why This Matters (Cost &amp; Impact)</vt:lpstr>
      <vt:lpstr>Our Approach</vt:lpstr>
      <vt:lpstr>PCA Summary — Data Structure &amp; Readiness</vt:lpstr>
      <vt:lpstr>Model Results (Forecasting Accuracy)</vt:lpstr>
      <vt:lpstr>What Drives Workforce Demand (Global SHAP Insights)</vt:lpstr>
      <vt:lpstr>Local Explanation (SHAP Force Plot)</vt:lpstr>
      <vt:lpstr>Recommendations</vt:lpstr>
      <vt:lpstr>Risks &amp; Considerations</vt:lpstr>
      <vt:lpstr>Next Steps  (Operational Roadmap)</vt:lpstr>
      <vt:lpstr>ROI Projection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raymond tacason</dc:creator>
  <cp:lastModifiedBy>raymond tacason</cp:lastModifiedBy>
  <cp:revision>1</cp:revision>
  <dcterms:created xsi:type="dcterms:W3CDTF">2026-04-28T12:13:05Z</dcterms:created>
  <dcterms:modified xsi:type="dcterms:W3CDTF">2026-04-28T15:47:10Z</dcterms:modified>
</cp:coreProperties>
</file>